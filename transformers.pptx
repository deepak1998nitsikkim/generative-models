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slides/slide8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3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80" r:id="rId23"/>
    <p:sldId id="276" r:id="rId24"/>
    <p:sldId id="278" r:id="rId25"/>
    <p:sldId id="277" r:id="rId26"/>
    <p:sldId id="279"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15-Feb-17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15-Feb-17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15-Feb-17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15-Feb-17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15-Feb-17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15-Feb-17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15-Feb-17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15-Feb-17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electricaleasy.com/2014/02/faradays-law-and-lenzs-law-of.html" TargetMode="External"/><Relationship Id="rId2" Type="http://schemas.openxmlformats.org/officeDocument/2006/relationships/hyperlink" Target="http://www.electricaleasy.com/2014/03/electrical-transformer-basic.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electricaleasy.com/2014/03/ideal-transformer-characteristics.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9200" y="2362200"/>
            <a:ext cx="6477000" cy="1107996"/>
          </a:xfrm>
          <a:prstGeom prst="rect">
            <a:avLst/>
          </a:prstGeom>
          <a:noFill/>
        </p:spPr>
        <p:txBody>
          <a:bodyPr wrap="square" rtlCol="0">
            <a:spAutoFit/>
          </a:bodyPr>
          <a:lstStyle/>
          <a:p>
            <a:pPr algn="ctr"/>
            <a:r>
              <a:rPr lang="en-US" sz="6600" b="1" dirty="0" smtClean="0">
                <a:latin typeface="Times New Roman" pitchFamily="18" charset="0"/>
                <a:cs typeface="Times New Roman" pitchFamily="18" charset="0"/>
              </a:rPr>
              <a:t>Transformer</a:t>
            </a:r>
            <a:endParaRPr lang="en-US" sz="6600"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Introduction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dirty="0" smtClean="0">
                <a:latin typeface="Times New Roman" pitchFamily="18" charset="0"/>
                <a:cs typeface="Times New Roman" pitchFamily="18" charset="0"/>
              </a:rPr>
              <a:t>The transformer is a static device (i.e. the one which does not contain any rotating or moving parts) which is used to transfer electrical energy from one ac circuit to another ac circuit, with increase or decrease in voltage/current but without any change in frequency.</a:t>
            </a:r>
          </a:p>
          <a:p>
            <a:pPr algn="just">
              <a:buNone/>
            </a:pPr>
            <a:endParaRPr lang="en-US" dirty="0">
              <a:latin typeface="Times New Roman" pitchFamily="18" charset="0"/>
              <a:cs typeface="Times New Roman" pitchFamily="18" charset="0"/>
            </a:endParaRPr>
          </a:p>
        </p:txBody>
      </p:sp>
      <p:pic>
        <p:nvPicPr>
          <p:cNvPr id="4" name="Picture 3" descr="transformer.gif"/>
          <p:cNvPicPr>
            <a:picLocks noChangeAspect="1"/>
          </p:cNvPicPr>
          <p:nvPr/>
        </p:nvPicPr>
        <p:blipFill>
          <a:blip r:embed="rId2" cstate="print"/>
          <a:stretch>
            <a:fillRect/>
          </a:stretch>
        </p:blipFill>
        <p:spPr>
          <a:xfrm>
            <a:off x="2667000" y="4876800"/>
            <a:ext cx="3333750" cy="152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Course outcome</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US" dirty="0" smtClean="0"/>
              <a:t>C403.3: </a:t>
            </a:r>
            <a:r>
              <a:rPr lang="en-US" dirty="0" smtClean="0"/>
              <a:t>Evaluate efficiency and regulation of </a:t>
            </a:r>
            <a:r>
              <a:rPr lang="en-US" smtClean="0"/>
              <a:t>a </a:t>
            </a:r>
            <a:r>
              <a:rPr lang="en-US" smtClean="0"/>
              <a:t>	given </a:t>
            </a:r>
            <a:r>
              <a:rPr lang="en-US" dirty="0" smtClean="0"/>
              <a:t>transformer by conducting load test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latin typeface="Times New Roman" pitchFamily="18" charset="0"/>
                <a:cs typeface="Times New Roman" pitchFamily="18" charset="0"/>
              </a:rPr>
              <a:t>Function of transformer:</a:t>
            </a:r>
          </a:p>
          <a:p>
            <a:r>
              <a:rPr lang="en-US" dirty="0" smtClean="0">
                <a:latin typeface="Times New Roman" pitchFamily="18" charset="0"/>
                <a:cs typeface="Times New Roman" pitchFamily="18" charset="0"/>
              </a:rPr>
              <a:t>The electrical energy is generated and transmitted at extremely high voltages. The voltage is to be then reduced to a lower value for its domestic and industrial use.</a:t>
            </a:r>
          </a:p>
          <a:p>
            <a:r>
              <a:rPr lang="en-US" dirty="0" smtClean="0">
                <a:latin typeface="Times New Roman" pitchFamily="18" charset="0"/>
                <a:cs typeface="Times New Roman" pitchFamily="18" charset="0"/>
              </a:rPr>
              <a:t>This is done by using a transformer. Thus it is possible to reduced the voltage level using a transformer called step down transformer.</a:t>
            </a:r>
          </a:p>
          <a:p>
            <a:r>
              <a:rPr lang="en-US" dirty="0" smtClean="0">
                <a:latin typeface="Times New Roman" pitchFamily="18" charset="0"/>
                <a:cs typeface="Times New Roman" pitchFamily="18" charset="0"/>
              </a:rPr>
              <a:t>On the other hand, the transformer used to increase the voltage level is called step up transformer.</a:t>
            </a:r>
          </a:p>
          <a:p>
            <a:r>
              <a:rPr lang="en-US" dirty="0" smtClean="0">
                <a:latin typeface="Times New Roman" pitchFamily="18" charset="0"/>
                <a:cs typeface="Times New Roman" pitchFamily="18" charset="0"/>
              </a:rPr>
              <a:t>When the transformer changes the voltage level, it changes the current level also.</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Types of Transformer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There are two types of transformer depends on supply system:</a:t>
            </a:r>
          </a:p>
          <a:p>
            <a:pPr marL="514350" indent="-514350">
              <a:buFont typeface="+mj-lt"/>
              <a:buAutoNum type="arabicPeriod"/>
            </a:pPr>
            <a:r>
              <a:rPr lang="en-US" dirty="0" smtClean="0">
                <a:latin typeface="Times New Roman" pitchFamily="18" charset="0"/>
                <a:cs typeface="Times New Roman" pitchFamily="18" charset="0"/>
              </a:rPr>
              <a:t>Single phase transformer</a:t>
            </a:r>
          </a:p>
          <a:p>
            <a:pPr marL="514350" indent="-514350">
              <a:buFont typeface="+mj-lt"/>
              <a:buAutoNum type="arabicPeriod"/>
            </a:pPr>
            <a:r>
              <a:rPr lang="en-US" dirty="0" smtClean="0">
                <a:latin typeface="Times New Roman" pitchFamily="18" charset="0"/>
                <a:cs typeface="Times New Roman" pitchFamily="18" charset="0"/>
              </a:rPr>
              <a:t>Three phase transformer</a:t>
            </a:r>
          </a:p>
          <a:p>
            <a:pPr marL="514350" indent="-514350"/>
            <a:r>
              <a:rPr lang="en-US" dirty="0" smtClean="0">
                <a:latin typeface="Times New Roman" pitchFamily="18" charset="0"/>
                <a:cs typeface="Times New Roman" pitchFamily="18" charset="0"/>
              </a:rPr>
              <a:t>However the principle of operation </a:t>
            </a:r>
            <a:r>
              <a:rPr lang="en-US" smtClean="0">
                <a:latin typeface="Times New Roman" pitchFamily="18" charset="0"/>
                <a:cs typeface="Times New Roman" pitchFamily="18" charset="0"/>
              </a:rPr>
              <a:t>for both </a:t>
            </a:r>
            <a:r>
              <a:rPr lang="en-US" dirty="0" smtClean="0">
                <a:latin typeface="Times New Roman" pitchFamily="18" charset="0"/>
                <a:cs typeface="Times New Roman" pitchFamily="18" charset="0"/>
              </a:rPr>
              <a:t>the types is same.</a:t>
            </a:r>
            <a:endParaRPr lang="en-US"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Principle of Operation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r>
              <a:rPr lang="en-US" dirty="0" smtClean="0">
                <a:latin typeface="Times New Roman" pitchFamily="18" charset="0"/>
                <a:cs typeface="Times New Roman" pitchFamily="18" charset="0"/>
              </a:rPr>
              <a:t>The construction of single phase transformer is as shown in fig.(1a). It consists of two highly inductive coils (windings) wound on an iron or steel core.</a:t>
            </a:r>
          </a:p>
          <a:p>
            <a:r>
              <a:rPr lang="en-US" dirty="0" smtClean="0">
                <a:latin typeface="Times New Roman" pitchFamily="18" charset="0"/>
                <a:cs typeface="Times New Roman" pitchFamily="18" charset="0"/>
              </a:rPr>
              <a:t>The winding connected to ac supply is called as primary winding whereas the other one is called as the secondary winding.</a:t>
            </a:r>
          </a:p>
          <a:p>
            <a:pPr>
              <a:buNone/>
            </a:pPr>
            <a:r>
              <a:rPr lang="en-US" dirty="0" smtClean="0">
                <a:latin typeface="Times New Roman" pitchFamily="18" charset="0"/>
                <a:cs typeface="Times New Roman" pitchFamily="18" charset="0"/>
              </a:rPr>
              <a:t>Operating principle of a transformer:</a:t>
            </a:r>
          </a:p>
          <a:p>
            <a:pPr marL="514350" indent="-514350">
              <a:buAutoNum type="arabicPeriod"/>
            </a:pPr>
            <a:r>
              <a:rPr lang="en-US" dirty="0" smtClean="0">
                <a:latin typeface="Times New Roman" pitchFamily="18" charset="0"/>
                <a:cs typeface="Times New Roman" pitchFamily="18" charset="0"/>
              </a:rPr>
              <a:t>As soon as the primary winding is connected to the single phase ac supply, an ac current starts flowing through it.</a:t>
            </a:r>
          </a:p>
          <a:p>
            <a:pPr marL="514350" indent="-514350">
              <a:buNone/>
            </a:pPr>
            <a:endParaRPr lang="en-US"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2. </a:t>
            </a:r>
            <a:r>
              <a:rPr lang="en-US" dirty="0" smtClean="0">
                <a:latin typeface="Times New Roman" pitchFamily="18" charset="0"/>
                <a:cs typeface="Times New Roman" pitchFamily="18" charset="0"/>
              </a:rPr>
              <a:t>The ac primary current produces an alternating flux ø in the core.</a:t>
            </a:r>
          </a:p>
          <a:p>
            <a:pPr>
              <a:buNone/>
            </a:pPr>
            <a:r>
              <a:rPr lang="en-US" dirty="0" smtClean="0">
                <a:latin typeface="Times New Roman" pitchFamily="18" charset="0"/>
                <a:cs typeface="Times New Roman" pitchFamily="18" charset="0"/>
              </a:rPr>
              <a:t>3. Most of this changing flux gets linked with the secondary winding through the core.</a:t>
            </a:r>
          </a:p>
          <a:p>
            <a:pPr>
              <a:buNone/>
            </a:pPr>
            <a:r>
              <a:rPr lang="en-US" dirty="0" smtClean="0">
                <a:latin typeface="Times New Roman" pitchFamily="18" charset="0"/>
                <a:cs typeface="Times New Roman" pitchFamily="18" charset="0"/>
              </a:rPr>
              <a:t>4. The varying flux will induce voltage into the secondary winding according to the Faraday’s law of electromagnetic induction.</a:t>
            </a:r>
          </a:p>
          <a:p>
            <a:r>
              <a:rPr lang="en-US" dirty="0" smtClean="0">
                <a:latin typeface="Times New Roman" pitchFamily="18" charset="0"/>
                <a:cs typeface="Times New Roman" pitchFamily="18" charset="0"/>
              </a:rPr>
              <a:t>Thus due to primary current, there is an induced voltage in the secondary winding due to mutual induction.</a:t>
            </a:r>
          </a:p>
          <a:p>
            <a:r>
              <a:rPr lang="en-US" dirty="0" smtClean="0">
                <a:latin typeface="Times New Roman" pitchFamily="18" charset="0"/>
                <a:cs typeface="Times New Roman" pitchFamily="18" charset="0"/>
              </a:rPr>
              <a:t>Hence the induced </a:t>
            </a:r>
            <a:r>
              <a:rPr lang="en-US" dirty="0" err="1" smtClean="0">
                <a:latin typeface="Times New Roman" pitchFamily="18" charset="0"/>
                <a:cs typeface="Times New Roman" pitchFamily="18" charset="0"/>
              </a:rPr>
              <a:t>emf</a:t>
            </a:r>
            <a:r>
              <a:rPr lang="en-US" dirty="0" smtClean="0">
                <a:latin typeface="Times New Roman" pitchFamily="18" charset="0"/>
                <a:cs typeface="Times New Roman" pitchFamily="18" charset="0"/>
              </a:rPr>
              <a:t> in secondary is called as the mutually induced </a:t>
            </a:r>
            <a:r>
              <a:rPr lang="en-US" dirty="0" err="1" smtClean="0">
                <a:latin typeface="Times New Roman" pitchFamily="18" charset="0"/>
                <a:cs typeface="Times New Roman" pitchFamily="18" charset="0"/>
              </a:rPr>
              <a:t>emf</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pPr>
              <a:buNone/>
            </a:pPr>
            <a:r>
              <a:rPr lang="en-US" b="1" dirty="0" smtClean="0">
                <a:latin typeface="Times New Roman" pitchFamily="18" charset="0"/>
                <a:cs typeface="Times New Roman" pitchFamily="18" charset="0"/>
              </a:rPr>
              <a:t>Can the transformer operate on DC?</a:t>
            </a:r>
          </a:p>
          <a:p>
            <a:r>
              <a:rPr lang="en-US" dirty="0" smtClean="0">
                <a:latin typeface="Times New Roman" pitchFamily="18" charset="0"/>
                <a:cs typeface="Times New Roman" pitchFamily="18" charset="0"/>
              </a:rPr>
              <a:t>Answer is NO. Because with a DC primary current, the flux produced in the core will not alternate, it is of constant value.</a:t>
            </a:r>
          </a:p>
          <a:p>
            <a:r>
              <a:rPr lang="en-US" dirty="0" smtClean="0">
                <a:latin typeface="Times New Roman" pitchFamily="18" charset="0"/>
                <a:cs typeface="Times New Roman" pitchFamily="18" charset="0"/>
              </a:rPr>
              <a:t>As there is no change in flux linkage, the induced </a:t>
            </a:r>
            <a:r>
              <a:rPr lang="en-US" dirty="0" err="1" smtClean="0">
                <a:latin typeface="Times New Roman" pitchFamily="18" charset="0"/>
                <a:cs typeface="Times New Roman" pitchFamily="18" charset="0"/>
              </a:rPr>
              <a:t>emf</a:t>
            </a:r>
            <a:r>
              <a:rPr lang="en-US" dirty="0" smtClean="0">
                <a:latin typeface="Times New Roman" pitchFamily="18" charset="0"/>
                <a:cs typeface="Times New Roman" pitchFamily="18" charset="0"/>
              </a:rPr>
              <a:t> in secondary winding is zero. </a:t>
            </a:r>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Construction of Transformer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dirty="0" smtClean="0">
                <a:latin typeface="Times New Roman" pitchFamily="18" charset="0"/>
                <a:cs typeface="Times New Roman" pitchFamily="18" charset="0"/>
              </a:rPr>
              <a:t>As shown in fig.(1) Basically a transformer consists of two inductive windings and a laminated steel core. </a:t>
            </a:r>
          </a:p>
          <a:p>
            <a:r>
              <a:rPr lang="en-US" dirty="0" smtClean="0">
                <a:latin typeface="Times New Roman" pitchFamily="18" charset="0"/>
                <a:cs typeface="Times New Roman" pitchFamily="18" charset="0"/>
              </a:rPr>
              <a:t>The coils are insulated from each other as well as from the steel core.</a:t>
            </a:r>
          </a:p>
          <a:p>
            <a:r>
              <a:rPr lang="en-US" dirty="0" smtClean="0">
                <a:latin typeface="Times New Roman" pitchFamily="18" charset="0"/>
                <a:cs typeface="Times New Roman" pitchFamily="18" charset="0"/>
              </a:rPr>
              <a:t> A transformer may also consist of a container for winding and core assembly (called as tank), suitable bushings to take our the terminals, oil conservator to provide oil in the transformer tank for cooling purposes etc.</a:t>
            </a:r>
            <a:endParaRPr lang="en-US"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pic>
        <p:nvPicPr>
          <p:cNvPr id="4" name="Content Placeholder 3" descr="transformer construction.png"/>
          <p:cNvPicPr>
            <a:picLocks noGrp="1" noChangeAspect="1"/>
          </p:cNvPicPr>
          <p:nvPr>
            <p:ph idx="1"/>
          </p:nvPr>
        </p:nvPicPr>
        <p:blipFill>
          <a:blip r:embed="rId2" cstate="print"/>
          <a:stretch>
            <a:fillRect/>
          </a:stretch>
        </p:blipFill>
        <p:spPr>
          <a:xfrm>
            <a:off x="838200" y="1600201"/>
            <a:ext cx="7772400" cy="3962400"/>
          </a:xfrm>
        </p:spPr>
      </p:pic>
      <p:sp>
        <p:nvSpPr>
          <p:cNvPr id="5" name="TextBox 4"/>
          <p:cNvSpPr txBox="1"/>
          <p:nvPr/>
        </p:nvSpPr>
        <p:spPr>
          <a:xfrm>
            <a:off x="1295400" y="5562600"/>
            <a:ext cx="6858000" cy="369332"/>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Fig.(1): construction of transformer</a:t>
            </a:r>
            <a:endParaRPr lang="en-US" b="1"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latin typeface="Times New Roman" pitchFamily="18" charset="0"/>
                <a:cs typeface="Times New Roman" pitchFamily="18" charset="0"/>
              </a:rPr>
              <a:t>In all types of transformers, core is constructed by assembling (stacking) laminated sheets of steel, with minimum air-gap between them (to achieve continuous magnetic path). </a:t>
            </a:r>
          </a:p>
          <a:p>
            <a:r>
              <a:rPr lang="en-US" dirty="0" smtClean="0">
                <a:latin typeface="Times New Roman" pitchFamily="18" charset="0"/>
                <a:cs typeface="Times New Roman" pitchFamily="18" charset="0"/>
              </a:rPr>
              <a:t>The steel used is having high silicon content and sometimes heat treated, to provide high permeability and low hysteresis loss. Laminated sheets of steel are used to reduce eddy current loss.</a:t>
            </a:r>
          </a:p>
          <a:p>
            <a:r>
              <a:rPr lang="en-US" dirty="0" smtClean="0">
                <a:latin typeface="Times New Roman" pitchFamily="18" charset="0"/>
                <a:cs typeface="Times New Roman" pitchFamily="18" charset="0"/>
              </a:rPr>
              <a:t> The sheets are cut in the shape as E,I and L. To avoid high reluctance at joints, laminations are stacked by alternating the sides of joint. That is, if joints of first sheet assembly are at front face, the joints of following assemble are kept at back face.</a:t>
            </a:r>
            <a:endParaRPr lang="en-US"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533400" y="1981200"/>
            <a:ext cx="8153400" cy="2514600"/>
          </a:xfrm>
          <a:prstGeom prst="rect">
            <a:avLst/>
          </a:prstGeom>
          <a:noFill/>
          <a:ln w="9525">
            <a:noFill/>
            <a:miter lim="800000"/>
            <a:headEnd/>
            <a:tailEnd/>
          </a:ln>
        </p:spPr>
      </p:pic>
      <p:sp>
        <p:nvSpPr>
          <p:cNvPr id="5" name="TextBox 4"/>
          <p:cNvSpPr txBox="1"/>
          <p:nvPr/>
        </p:nvSpPr>
        <p:spPr>
          <a:xfrm>
            <a:off x="762000" y="4724400"/>
            <a:ext cx="7924800" cy="381000"/>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Fig.(2): Different cross-sections for transformer limbs</a:t>
            </a:r>
            <a:endParaRPr lang="en-US" b="1"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lnSpcReduction="10000"/>
          </a:bodyPr>
          <a:lstStyle/>
          <a:p>
            <a:r>
              <a:rPr lang="en-US" b="1" dirty="0" smtClean="0">
                <a:latin typeface="Times New Roman" pitchFamily="18" charset="0"/>
                <a:cs typeface="Times New Roman" pitchFamily="18" charset="0"/>
              </a:rPr>
              <a:t>Transformer tank:</a:t>
            </a:r>
          </a:p>
          <a:p>
            <a:pPr>
              <a:buFont typeface="Wingdings" pitchFamily="2" charset="2"/>
              <a:buChar char="Ø"/>
            </a:pPr>
            <a:r>
              <a:rPr lang="en-US" dirty="0" smtClean="0">
                <a:latin typeface="Times New Roman" pitchFamily="18" charset="0"/>
                <a:cs typeface="Times New Roman" pitchFamily="18" charset="0"/>
              </a:rPr>
              <a:t>The whole assembly of large size transformer is placed in a sheet metal tank. Inside the tank the assembly of the transformer is immersed in oil which acts as an insulator as well as coolant.</a:t>
            </a:r>
          </a:p>
          <a:p>
            <a:pPr>
              <a:buFont typeface="Wingdings" pitchFamily="2" charset="2"/>
              <a:buChar char="Ø"/>
            </a:pPr>
            <a:r>
              <a:rPr lang="en-US" dirty="0" smtClean="0">
                <a:latin typeface="Times New Roman" pitchFamily="18" charset="0"/>
                <a:cs typeface="Times New Roman" pitchFamily="18" charset="0"/>
              </a:rPr>
              <a:t>The oil will take out the heat produced by the transformer windings and core and transfer it to the surface of the transformer tank.</a:t>
            </a:r>
            <a:endParaRPr lang="en-US"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Types of transformer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The transformers are of different types depending on the arrangement of the core and windings as follows:</a:t>
            </a:r>
          </a:p>
          <a:p>
            <a:pPr marL="514350" indent="-514350">
              <a:buFont typeface="+mj-lt"/>
              <a:buAutoNum type="arabicPeriod"/>
            </a:pPr>
            <a:r>
              <a:rPr lang="en-US" dirty="0" smtClean="0">
                <a:latin typeface="Times New Roman" pitchFamily="18" charset="0"/>
                <a:cs typeface="Times New Roman" pitchFamily="18" charset="0"/>
              </a:rPr>
              <a:t>Core type</a:t>
            </a:r>
          </a:p>
          <a:p>
            <a:pPr marL="514350" indent="-514350">
              <a:buFont typeface="+mj-lt"/>
              <a:buAutoNum type="arabicPeriod"/>
            </a:pPr>
            <a:r>
              <a:rPr lang="en-US" dirty="0" smtClean="0">
                <a:latin typeface="Times New Roman" pitchFamily="18" charset="0"/>
                <a:cs typeface="Times New Roman" pitchFamily="18" charset="0"/>
              </a:rPr>
              <a:t>Shell type</a:t>
            </a:r>
          </a:p>
          <a:p>
            <a:pPr marL="514350" indent="-514350">
              <a:buFont typeface="+mj-lt"/>
              <a:buAutoNum type="arabicPeriod"/>
            </a:pPr>
            <a:r>
              <a:rPr lang="en-US" dirty="0" smtClean="0">
                <a:latin typeface="Times New Roman" pitchFamily="18" charset="0"/>
                <a:cs typeface="Times New Roman" pitchFamily="18" charset="0"/>
              </a:rPr>
              <a:t>Berry type</a:t>
            </a:r>
            <a:endParaRPr lang="en-US"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pPr marL="514350" indent="-514350">
              <a:buAutoNum type="arabicPeriod"/>
            </a:pPr>
            <a:r>
              <a:rPr lang="en-US" dirty="0" smtClean="0"/>
              <a:t>Core type transformer:</a:t>
            </a:r>
          </a:p>
          <a:p>
            <a:pPr marL="514350" indent="-514350">
              <a:buFont typeface="Wingdings" pitchFamily="2" charset="2"/>
              <a:buChar char="Ø"/>
            </a:pPr>
            <a:r>
              <a:rPr lang="en-US" dirty="0" smtClean="0"/>
              <a:t>The construction of core type transformer is as shown in fig.(1).</a:t>
            </a:r>
          </a:p>
          <a:p>
            <a:pPr marL="514350" indent="-514350">
              <a:buNone/>
            </a:pPr>
            <a:endParaRPr lang="en-US" dirty="0"/>
          </a:p>
        </p:txBody>
      </p:sp>
      <p:pic>
        <p:nvPicPr>
          <p:cNvPr id="4" name="Picture 3" descr="core.jpeg"/>
          <p:cNvPicPr>
            <a:picLocks noChangeAspect="1"/>
          </p:cNvPicPr>
          <p:nvPr/>
        </p:nvPicPr>
        <p:blipFill>
          <a:blip r:embed="rId2" cstate="print"/>
          <a:stretch>
            <a:fillRect/>
          </a:stretch>
        </p:blipFill>
        <p:spPr>
          <a:xfrm>
            <a:off x="990600" y="3352800"/>
            <a:ext cx="7162800" cy="2438400"/>
          </a:xfrm>
          <a:prstGeom prst="rect">
            <a:avLst/>
          </a:prstGeom>
        </p:spPr>
      </p:pic>
      <p:sp>
        <p:nvSpPr>
          <p:cNvPr id="5" name="TextBox 4"/>
          <p:cNvSpPr txBox="1"/>
          <p:nvPr/>
        </p:nvSpPr>
        <p:spPr>
          <a:xfrm>
            <a:off x="1066800" y="5943600"/>
            <a:ext cx="6629400" cy="381000"/>
          </a:xfrm>
          <a:prstGeom prst="rect">
            <a:avLst/>
          </a:prstGeom>
          <a:noFill/>
        </p:spPr>
        <p:txBody>
          <a:bodyPr wrap="square" rtlCol="0">
            <a:spAutoFit/>
          </a:bodyPr>
          <a:lstStyle/>
          <a:p>
            <a:pPr algn="ctr"/>
            <a:r>
              <a:rPr lang="en-US" b="1" dirty="0" smtClean="0"/>
              <a:t>Fig.(1): core type  transformer</a:t>
            </a:r>
            <a:endParaRPr 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latin typeface="Times New Roman" pitchFamily="18" charset="0"/>
                <a:cs typeface="Times New Roman" pitchFamily="18" charset="0"/>
              </a:rPr>
              <a:t>It has a single magnetic circuit. The core rectangular having two limbs. The winding encircles the core. The coils used are of cylindrical type. </a:t>
            </a:r>
          </a:p>
          <a:p>
            <a:r>
              <a:rPr lang="en-US" dirty="0" smtClean="0">
                <a:latin typeface="Times New Roman" pitchFamily="18" charset="0"/>
                <a:cs typeface="Times New Roman" pitchFamily="18" charset="0"/>
              </a:rPr>
              <a:t>The coils are wound in helical layers with different layers insulated from each other by paper or mica. Both the coils are placed on both the limbs. </a:t>
            </a:r>
          </a:p>
          <a:p>
            <a:r>
              <a:rPr lang="en-US" dirty="0" smtClean="0">
                <a:latin typeface="Times New Roman" pitchFamily="18" charset="0"/>
                <a:cs typeface="Times New Roman" pitchFamily="18" charset="0"/>
              </a:rPr>
              <a:t>The low voltage coil is placed inside near the core while high voltage coil surrounds the low voltage coil. Core is made up of large number of thin laminations.</a:t>
            </a:r>
          </a:p>
          <a:p>
            <a:r>
              <a:rPr lang="en-US" dirty="0" smtClean="0">
                <a:latin typeface="Times New Roman" pitchFamily="18" charset="0"/>
                <a:cs typeface="Times New Roman" pitchFamily="18" charset="0"/>
              </a:rPr>
              <a:t> As The windings are uniformly  distributed over the two limbs, the natural cooling is more effective. The coils can be easily removed by removing the laminations of the top yoke, for maintenance.</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pPr>
              <a:buNone/>
            </a:pPr>
            <a:r>
              <a:rPr lang="en-US" dirty="0" smtClean="0"/>
              <a:t>2. Shell type transformer:</a:t>
            </a:r>
          </a:p>
          <a:p>
            <a:pPr>
              <a:buFont typeface="Wingdings" pitchFamily="2" charset="2"/>
              <a:buChar char="Ø"/>
            </a:pPr>
            <a:r>
              <a:rPr lang="en-US" dirty="0" smtClean="0"/>
              <a:t>The construction of shell type transformer is as shown in fig.(1).</a:t>
            </a:r>
          </a:p>
          <a:p>
            <a:pPr>
              <a:buNone/>
            </a:pPr>
            <a:endParaRPr lang="en-US" dirty="0" smtClean="0"/>
          </a:p>
          <a:p>
            <a:pPr>
              <a:buNone/>
            </a:pPr>
            <a:endParaRPr lang="en-US" dirty="0" smtClean="0"/>
          </a:p>
          <a:p>
            <a:pPr>
              <a:buNone/>
            </a:pPr>
            <a:endParaRPr lang="en-US" dirty="0"/>
          </a:p>
        </p:txBody>
      </p:sp>
      <p:pic>
        <p:nvPicPr>
          <p:cNvPr id="4" name="Picture 3" descr="shell.jpeg"/>
          <p:cNvPicPr>
            <a:picLocks noChangeAspect="1"/>
          </p:cNvPicPr>
          <p:nvPr/>
        </p:nvPicPr>
        <p:blipFill>
          <a:blip r:embed="rId2" cstate="print"/>
          <a:stretch>
            <a:fillRect/>
          </a:stretch>
        </p:blipFill>
        <p:spPr>
          <a:xfrm>
            <a:off x="990600" y="3352800"/>
            <a:ext cx="7315200" cy="2362200"/>
          </a:xfrm>
          <a:prstGeom prst="rect">
            <a:avLst/>
          </a:prstGeom>
        </p:spPr>
      </p:pic>
      <p:sp>
        <p:nvSpPr>
          <p:cNvPr id="5" name="TextBox 4"/>
          <p:cNvSpPr txBox="1"/>
          <p:nvPr/>
        </p:nvSpPr>
        <p:spPr>
          <a:xfrm>
            <a:off x="990600" y="5943600"/>
            <a:ext cx="7315200" cy="369332"/>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Fig.(2): shell type transformer</a:t>
            </a:r>
            <a:endParaRPr lang="en-US" b="1"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latin typeface="Times New Roman" pitchFamily="18" charset="0"/>
                <a:cs typeface="Times New Roman" pitchFamily="18" charset="0"/>
              </a:rPr>
              <a:t>It has a double magnetic circuit. The core has three limbs. Both the windings are placed on the central limb. The core encircles most part of the windings. </a:t>
            </a:r>
          </a:p>
          <a:p>
            <a:r>
              <a:rPr lang="en-US" dirty="0" smtClean="0">
                <a:latin typeface="Times New Roman" pitchFamily="18" charset="0"/>
                <a:cs typeface="Times New Roman" pitchFamily="18" charset="0"/>
              </a:rPr>
              <a:t>The coils used are generally multilayer disc type or sandwich coils.  Each high voltage coil is in between two low voltage coils and low voltage coils are nearest to top and bottom of the yokes.</a:t>
            </a:r>
          </a:p>
          <a:p>
            <a:r>
              <a:rPr lang="en-US" dirty="0" smtClean="0">
                <a:latin typeface="Times New Roman" pitchFamily="18" charset="0"/>
                <a:cs typeface="Times New Roman" pitchFamily="18" charset="0"/>
              </a:rPr>
              <a:t> The core is laminated.  Generally for very high voltage transformers, the shell type construction is preferred. As the windings are surrounded by the core, the natural cooling does not exist. </a:t>
            </a:r>
          </a:p>
          <a:p>
            <a:r>
              <a:rPr lang="en-US" dirty="0" smtClean="0">
                <a:latin typeface="Times New Roman" pitchFamily="18" charset="0"/>
                <a:cs typeface="Times New Roman" pitchFamily="18" charset="0"/>
              </a:rPr>
              <a:t>For removing any winding for maintenance, large number of laminations are required to be removed.</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pic>
        <p:nvPicPr>
          <p:cNvPr id="4" name="Content Placeholder 3" descr="core &amp; shell.jpeg"/>
          <p:cNvPicPr>
            <a:picLocks noGrp="1" noChangeAspect="1"/>
          </p:cNvPicPr>
          <p:nvPr>
            <p:ph idx="1"/>
          </p:nvPr>
        </p:nvPicPr>
        <p:blipFill>
          <a:blip r:embed="rId2" cstate="print"/>
          <a:stretch>
            <a:fillRect/>
          </a:stretch>
        </p:blipFill>
        <p:spPr>
          <a:xfrm>
            <a:off x="457200" y="1371600"/>
            <a:ext cx="8153400" cy="4648200"/>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EMF equation of a transformer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10000"/>
          </a:bodyPr>
          <a:lstStyle/>
          <a:p>
            <a:r>
              <a:rPr lang="en-US" dirty="0" smtClean="0">
                <a:latin typeface="Times New Roman" pitchFamily="18" charset="0"/>
                <a:cs typeface="Times New Roman" pitchFamily="18" charset="0"/>
              </a:rPr>
              <a:t>In a </a:t>
            </a:r>
            <a:r>
              <a:rPr lang="en-US" dirty="0" smtClean="0">
                <a:latin typeface="Times New Roman" pitchFamily="18" charset="0"/>
                <a:cs typeface="Times New Roman" pitchFamily="18" charset="0"/>
                <a:hlinkClick r:id="rId2"/>
              </a:rPr>
              <a:t>transformer</a:t>
            </a:r>
            <a:r>
              <a:rPr lang="en-US" dirty="0" smtClean="0">
                <a:latin typeface="Times New Roman" pitchFamily="18" charset="0"/>
                <a:cs typeface="Times New Roman" pitchFamily="18" charset="0"/>
              </a:rPr>
              <a:t>, source of alternating current is applied to the primary winding. </a:t>
            </a:r>
          </a:p>
          <a:p>
            <a:r>
              <a:rPr lang="en-US" dirty="0" smtClean="0">
                <a:latin typeface="Times New Roman" pitchFamily="18" charset="0"/>
                <a:cs typeface="Times New Roman" pitchFamily="18" charset="0"/>
              </a:rPr>
              <a:t>Due to this, the current in the primary winding (called as magnetizing current) produces alternating flux in the core of transformer.</a:t>
            </a:r>
          </a:p>
          <a:p>
            <a:r>
              <a:rPr lang="en-US" dirty="0" smtClean="0">
                <a:latin typeface="Times New Roman" pitchFamily="18" charset="0"/>
                <a:cs typeface="Times New Roman" pitchFamily="18" charset="0"/>
              </a:rPr>
              <a:t> This alternating flux gets linked with the secondary winding, and because of the phenomenon of </a:t>
            </a:r>
            <a:r>
              <a:rPr lang="en-US" dirty="0" smtClean="0">
                <a:latin typeface="Times New Roman" pitchFamily="18" charset="0"/>
                <a:cs typeface="Times New Roman" pitchFamily="18" charset="0"/>
                <a:hlinkClick r:id="rId3"/>
              </a:rPr>
              <a:t>mutual induction</a:t>
            </a:r>
            <a:r>
              <a:rPr lang="en-US" dirty="0" smtClean="0">
                <a:latin typeface="Times New Roman" pitchFamily="18" charset="0"/>
                <a:cs typeface="Times New Roman" pitchFamily="18" charset="0"/>
              </a:rPr>
              <a:t> an </a:t>
            </a:r>
            <a:r>
              <a:rPr lang="en-US" dirty="0" err="1" smtClean="0">
                <a:latin typeface="Times New Roman" pitchFamily="18" charset="0"/>
                <a:cs typeface="Times New Roman" pitchFamily="18" charset="0"/>
              </a:rPr>
              <a:t>emf</a:t>
            </a:r>
            <a:r>
              <a:rPr lang="en-US" dirty="0" smtClean="0">
                <a:latin typeface="Times New Roman" pitchFamily="18" charset="0"/>
                <a:cs typeface="Times New Roman" pitchFamily="18" charset="0"/>
              </a:rPr>
              <a:t> gets induced in the secondary winding. </a:t>
            </a:r>
          </a:p>
          <a:p>
            <a:r>
              <a:rPr lang="en-US" dirty="0" smtClean="0">
                <a:latin typeface="Times New Roman" pitchFamily="18" charset="0"/>
                <a:cs typeface="Times New Roman" pitchFamily="18" charset="0"/>
              </a:rPr>
              <a:t>Magnitude of this induced </a:t>
            </a:r>
            <a:r>
              <a:rPr lang="en-US" dirty="0" err="1" smtClean="0">
                <a:latin typeface="Times New Roman" pitchFamily="18" charset="0"/>
                <a:cs typeface="Times New Roman" pitchFamily="18" charset="0"/>
              </a:rPr>
              <a:t>emf</a:t>
            </a:r>
            <a:r>
              <a:rPr lang="en-US" dirty="0" smtClean="0">
                <a:latin typeface="Times New Roman" pitchFamily="18" charset="0"/>
                <a:cs typeface="Times New Roman" pitchFamily="18" charset="0"/>
              </a:rPr>
              <a:t> can be found by using the following </a:t>
            </a:r>
            <a:r>
              <a:rPr lang="en-US" b="1" dirty="0" smtClean="0">
                <a:latin typeface="Times New Roman" pitchFamily="18" charset="0"/>
                <a:cs typeface="Times New Roman" pitchFamily="18" charset="0"/>
              </a:rPr>
              <a:t>EMF equation of the transformer</a:t>
            </a:r>
            <a:r>
              <a:rPr lang="en-US" dirty="0" smtClean="0"/>
              <a: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Autofit/>
          </a:bodyPr>
          <a:lstStyle/>
          <a:p>
            <a:r>
              <a:rPr lang="en-US" sz="2200" dirty="0" smtClean="0">
                <a:latin typeface="Times New Roman" pitchFamily="18" charset="0"/>
                <a:cs typeface="Times New Roman" pitchFamily="18" charset="0"/>
              </a:rPr>
              <a:t>Let,</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N</a:t>
            </a:r>
            <a:r>
              <a:rPr lang="en-US" sz="2200" baseline="-25000" dirty="0" smtClean="0">
                <a:latin typeface="Times New Roman" pitchFamily="18" charset="0"/>
                <a:cs typeface="Times New Roman" pitchFamily="18" charset="0"/>
              </a:rPr>
              <a:t>1</a:t>
            </a:r>
            <a:r>
              <a:rPr lang="en-US" sz="2200" dirty="0" smtClean="0">
                <a:latin typeface="Times New Roman" pitchFamily="18" charset="0"/>
                <a:cs typeface="Times New Roman" pitchFamily="18" charset="0"/>
              </a:rPr>
              <a:t> = Number of turns in primary winding</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N</a:t>
            </a:r>
            <a:r>
              <a:rPr lang="en-US" sz="2200" baseline="-250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 Number of turns in secondary winding</a:t>
            </a:r>
            <a:br>
              <a:rPr lang="en-US" sz="2200" dirty="0" smtClean="0">
                <a:latin typeface="Times New Roman" pitchFamily="18" charset="0"/>
                <a:cs typeface="Times New Roman" pitchFamily="18" charset="0"/>
              </a:rPr>
            </a:br>
            <a:r>
              <a:rPr lang="en-US" sz="2200" dirty="0" err="1" smtClean="0">
                <a:latin typeface="Times New Roman" pitchFamily="18" charset="0"/>
                <a:cs typeface="Times New Roman" pitchFamily="18" charset="0"/>
              </a:rPr>
              <a:t>Φ</a:t>
            </a:r>
            <a:r>
              <a:rPr lang="en-US" sz="2200" baseline="-25000" dirty="0" err="1" smtClean="0">
                <a:latin typeface="Times New Roman" pitchFamily="18" charset="0"/>
                <a:cs typeface="Times New Roman" pitchFamily="18" charset="0"/>
              </a:rPr>
              <a:t>m</a:t>
            </a:r>
            <a:r>
              <a:rPr lang="en-US" sz="2200" dirty="0" smtClean="0">
                <a:latin typeface="Times New Roman" pitchFamily="18" charset="0"/>
                <a:cs typeface="Times New Roman" pitchFamily="18" charset="0"/>
              </a:rPr>
              <a:t> = Maximum flux in the core (in </a:t>
            </a:r>
            <a:r>
              <a:rPr lang="en-US" sz="2200" dirty="0" err="1" smtClean="0">
                <a:latin typeface="Times New Roman" pitchFamily="18" charset="0"/>
                <a:cs typeface="Times New Roman" pitchFamily="18" charset="0"/>
              </a:rPr>
              <a:t>Wb</a:t>
            </a: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B</a:t>
            </a:r>
            <a:r>
              <a:rPr lang="en-US" sz="2200" baseline="-25000" dirty="0" err="1" smtClean="0">
                <a:latin typeface="Times New Roman" pitchFamily="18" charset="0"/>
                <a:cs typeface="Times New Roman" pitchFamily="18" charset="0"/>
              </a:rPr>
              <a:t>m</a:t>
            </a:r>
            <a:r>
              <a:rPr lang="en-US" sz="2200" dirty="0" smtClean="0">
                <a:latin typeface="Times New Roman" pitchFamily="18" charset="0"/>
                <a:cs typeface="Times New Roman" pitchFamily="18" charset="0"/>
              </a:rPr>
              <a:t> x A)</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f = frequency of the AC supply (in Hz)</a:t>
            </a:r>
            <a:br>
              <a:rPr lang="en-US" sz="2200" dirty="0" smtClean="0">
                <a:latin typeface="Times New Roman" pitchFamily="18" charset="0"/>
                <a:cs typeface="Times New Roman" pitchFamily="18" charset="0"/>
              </a:rPr>
            </a:br>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As, shown in the fig., the flux rises </a:t>
            </a:r>
            <a:r>
              <a:rPr lang="en-US" sz="2200" dirty="0" err="1" smtClean="0">
                <a:latin typeface="Times New Roman" pitchFamily="18" charset="0"/>
                <a:cs typeface="Times New Roman" pitchFamily="18" charset="0"/>
              </a:rPr>
              <a:t>sinusoidally</a:t>
            </a:r>
            <a:r>
              <a:rPr lang="en-US" sz="2200" dirty="0" smtClean="0">
                <a:latin typeface="Times New Roman" pitchFamily="18" charset="0"/>
                <a:cs typeface="Times New Roman" pitchFamily="18" charset="0"/>
              </a:rPr>
              <a:t> to its maximum value </a:t>
            </a:r>
            <a:r>
              <a:rPr lang="en-US" sz="2200" dirty="0" err="1" smtClean="0">
                <a:latin typeface="Times New Roman" pitchFamily="18" charset="0"/>
                <a:cs typeface="Times New Roman" pitchFamily="18" charset="0"/>
              </a:rPr>
              <a:t>Φ</a:t>
            </a:r>
            <a:r>
              <a:rPr lang="en-US" sz="2200" baseline="-25000" dirty="0" err="1" smtClean="0">
                <a:latin typeface="Times New Roman" pitchFamily="18" charset="0"/>
                <a:cs typeface="Times New Roman" pitchFamily="18" charset="0"/>
              </a:rPr>
              <a:t>m</a:t>
            </a:r>
            <a:r>
              <a:rPr lang="en-US" sz="2200" dirty="0" smtClean="0">
                <a:latin typeface="Times New Roman" pitchFamily="18" charset="0"/>
                <a:cs typeface="Times New Roman" pitchFamily="18" charset="0"/>
              </a:rPr>
              <a:t> from 0. It reaches to the maximum value in one quarter of the cycle </a:t>
            </a:r>
            <a:r>
              <a:rPr lang="en-US" sz="2200" dirty="0" err="1" smtClean="0">
                <a:latin typeface="Times New Roman" pitchFamily="18" charset="0"/>
                <a:cs typeface="Times New Roman" pitchFamily="18" charset="0"/>
              </a:rPr>
              <a:t>i.e</a:t>
            </a:r>
            <a:r>
              <a:rPr lang="en-US" sz="2200" dirty="0" smtClean="0">
                <a:latin typeface="Times New Roman" pitchFamily="18" charset="0"/>
                <a:cs typeface="Times New Roman" pitchFamily="18" charset="0"/>
              </a:rPr>
              <a:t> in T/4 sec (where, T is time period of the sin wave of the supply = 1/f).</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Therefore,</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average rate of change of flux = </a:t>
            </a:r>
            <a:r>
              <a:rPr lang="en-US" sz="2200" baseline="30000" dirty="0" err="1" smtClean="0">
                <a:latin typeface="Times New Roman" pitchFamily="18" charset="0"/>
                <a:cs typeface="Times New Roman" pitchFamily="18" charset="0"/>
              </a:rPr>
              <a:t>Φ</a:t>
            </a:r>
            <a:r>
              <a:rPr lang="en-US" sz="2200" baseline="-25000" dirty="0" err="1" smtClean="0">
                <a:latin typeface="Times New Roman" pitchFamily="18" charset="0"/>
                <a:cs typeface="Times New Roman" pitchFamily="18" charset="0"/>
              </a:rPr>
              <a:t>m</a:t>
            </a:r>
            <a:r>
              <a:rPr lang="en-US" sz="2200" dirty="0" smtClean="0">
                <a:latin typeface="Times New Roman" pitchFamily="18" charset="0"/>
                <a:cs typeface="Times New Roman" pitchFamily="18" charset="0"/>
              </a:rPr>
              <a:t> /</a:t>
            </a:r>
            <a:r>
              <a:rPr lang="en-US" sz="2200" baseline="-25000" dirty="0" smtClean="0">
                <a:latin typeface="Times New Roman" pitchFamily="18" charset="0"/>
                <a:cs typeface="Times New Roman" pitchFamily="18" charset="0"/>
              </a:rPr>
              <a:t>(T/4)</a:t>
            </a:r>
            <a:r>
              <a:rPr lang="en-US" sz="2200" dirty="0" smtClean="0">
                <a:latin typeface="Times New Roman" pitchFamily="18" charset="0"/>
                <a:cs typeface="Times New Roman" pitchFamily="18" charset="0"/>
              </a:rPr>
              <a:t>    = </a:t>
            </a:r>
            <a:r>
              <a:rPr lang="en-US" sz="2200" baseline="30000" dirty="0" err="1" smtClean="0">
                <a:latin typeface="Times New Roman" pitchFamily="18" charset="0"/>
                <a:cs typeface="Times New Roman" pitchFamily="18" charset="0"/>
              </a:rPr>
              <a:t>Φ</a:t>
            </a:r>
            <a:r>
              <a:rPr lang="en-US" sz="2200" baseline="-25000" dirty="0" err="1" smtClean="0">
                <a:latin typeface="Times New Roman" pitchFamily="18" charset="0"/>
                <a:cs typeface="Times New Roman" pitchFamily="18" charset="0"/>
              </a:rPr>
              <a:t>m</a:t>
            </a:r>
            <a:r>
              <a:rPr lang="en-US" sz="2200" dirty="0" smtClean="0">
                <a:latin typeface="Times New Roman" pitchFamily="18" charset="0"/>
                <a:cs typeface="Times New Roman" pitchFamily="18" charset="0"/>
              </a:rPr>
              <a:t> /</a:t>
            </a:r>
            <a:r>
              <a:rPr lang="en-US" sz="2200" baseline="-25000" dirty="0" smtClean="0">
                <a:latin typeface="Times New Roman" pitchFamily="18" charset="0"/>
                <a:cs typeface="Times New Roman" pitchFamily="18" charset="0"/>
              </a:rPr>
              <a:t>(1/4f)</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Therefore,</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average rate of change of flux = 4f </a:t>
            </a:r>
            <a:r>
              <a:rPr lang="en-US" sz="2200" dirty="0" err="1" smtClean="0">
                <a:latin typeface="Times New Roman" pitchFamily="18" charset="0"/>
                <a:cs typeface="Times New Roman" pitchFamily="18" charset="0"/>
              </a:rPr>
              <a:t>Φ</a:t>
            </a:r>
            <a:r>
              <a:rPr lang="en-US" sz="2200" baseline="-25000" dirty="0" err="1" smtClean="0">
                <a:latin typeface="Times New Roman" pitchFamily="18" charset="0"/>
                <a:cs typeface="Times New Roman" pitchFamily="18" charset="0"/>
              </a:rPr>
              <a:t>m</a:t>
            </a: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Wb</a:t>
            </a:r>
            <a:r>
              <a:rPr lang="en-US" sz="2200" dirty="0" smtClean="0">
                <a:latin typeface="Times New Roman" pitchFamily="18" charset="0"/>
                <a:cs typeface="Times New Roman" pitchFamily="18" charset="0"/>
              </a:rPr>
              <a:t>/s).</a:t>
            </a:r>
            <a:br>
              <a:rPr lang="en-US" sz="2200" dirty="0" smtClean="0">
                <a:latin typeface="Times New Roman" pitchFamily="18" charset="0"/>
                <a:cs typeface="Times New Roman" pitchFamily="18" charset="0"/>
              </a:rPr>
            </a:br>
            <a:endParaRPr lang="en-US" sz="22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pic>
        <p:nvPicPr>
          <p:cNvPr id="4" name="Content Placeholder 3" descr="emf equation of transformer.png"/>
          <p:cNvPicPr>
            <a:picLocks noGrp="1" noChangeAspect="1"/>
          </p:cNvPicPr>
          <p:nvPr>
            <p:ph idx="1"/>
          </p:nvPr>
        </p:nvPicPr>
        <p:blipFill>
          <a:blip r:embed="rId2" cstate="print"/>
          <a:stretch>
            <a:fillRect/>
          </a:stretch>
        </p:blipFill>
        <p:spPr>
          <a:xfrm>
            <a:off x="1905000" y="2209800"/>
            <a:ext cx="5334000" cy="3047999"/>
          </a:xfrm>
        </p:spPr>
      </p:pic>
      <p:sp>
        <p:nvSpPr>
          <p:cNvPr id="5" name="TextBox 4"/>
          <p:cNvSpPr txBox="1"/>
          <p:nvPr/>
        </p:nvSpPr>
        <p:spPr>
          <a:xfrm>
            <a:off x="2438400" y="5257800"/>
            <a:ext cx="4343400" cy="369332"/>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Fig.(1)</a:t>
            </a:r>
            <a:endParaRPr lang="en-US" b="1"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25000" lnSpcReduction="20000"/>
          </a:bodyPr>
          <a:lstStyle/>
          <a:p>
            <a:r>
              <a:rPr lang="en-US" sz="8800" dirty="0" smtClean="0">
                <a:latin typeface="Times New Roman" pitchFamily="18" charset="0"/>
                <a:cs typeface="Times New Roman" pitchFamily="18" charset="0"/>
              </a:rPr>
              <a:t>Now,</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Induced </a:t>
            </a:r>
            <a:r>
              <a:rPr lang="en-US" sz="8800" dirty="0" err="1" smtClean="0">
                <a:latin typeface="Times New Roman" pitchFamily="18" charset="0"/>
                <a:cs typeface="Times New Roman" pitchFamily="18" charset="0"/>
              </a:rPr>
              <a:t>emf</a:t>
            </a:r>
            <a:r>
              <a:rPr lang="en-US" sz="8800" dirty="0" smtClean="0">
                <a:latin typeface="Times New Roman" pitchFamily="18" charset="0"/>
                <a:cs typeface="Times New Roman" pitchFamily="18" charset="0"/>
              </a:rPr>
              <a:t> per turn = rate of change of flux per turn</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Therefore, average </a:t>
            </a:r>
            <a:r>
              <a:rPr lang="en-US" sz="8800" dirty="0" err="1" smtClean="0">
                <a:latin typeface="Times New Roman" pitchFamily="18" charset="0"/>
                <a:cs typeface="Times New Roman" pitchFamily="18" charset="0"/>
              </a:rPr>
              <a:t>emf</a:t>
            </a:r>
            <a:r>
              <a:rPr lang="en-US" sz="8800" dirty="0" smtClean="0">
                <a:latin typeface="Times New Roman" pitchFamily="18" charset="0"/>
                <a:cs typeface="Times New Roman" pitchFamily="18" charset="0"/>
              </a:rPr>
              <a:t> per turn = 4f </a:t>
            </a:r>
            <a:r>
              <a:rPr lang="en-US" sz="8800" dirty="0" err="1" smtClean="0">
                <a:latin typeface="Times New Roman" pitchFamily="18" charset="0"/>
                <a:cs typeface="Times New Roman" pitchFamily="18" charset="0"/>
              </a:rPr>
              <a:t>Φ</a:t>
            </a:r>
            <a:r>
              <a:rPr lang="en-US" sz="8800" baseline="-25000" dirty="0" err="1" smtClean="0">
                <a:latin typeface="Times New Roman" pitchFamily="18" charset="0"/>
                <a:cs typeface="Times New Roman" pitchFamily="18" charset="0"/>
              </a:rPr>
              <a:t>m</a:t>
            </a:r>
            <a:r>
              <a:rPr lang="en-US" sz="8800" dirty="0" smtClean="0">
                <a:latin typeface="Times New Roman" pitchFamily="18" charset="0"/>
                <a:cs typeface="Times New Roman" pitchFamily="18" charset="0"/>
              </a:rPr>
              <a:t>   ..........(Volts).</a:t>
            </a:r>
          </a:p>
          <a:p>
            <a:r>
              <a:rPr lang="en-US" sz="8800" dirty="0" smtClean="0">
                <a:latin typeface="Times New Roman" pitchFamily="18" charset="0"/>
                <a:cs typeface="Times New Roman" pitchFamily="18" charset="0"/>
              </a:rPr>
              <a:t>Now, we know,  Form factor = RMS value / average value</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Therefore, RMS value of </a:t>
            </a:r>
            <a:r>
              <a:rPr lang="en-US" sz="8800" dirty="0" err="1" smtClean="0">
                <a:latin typeface="Times New Roman" pitchFamily="18" charset="0"/>
                <a:cs typeface="Times New Roman" pitchFamily="18" charset="0"/>
              </a:rPr>
              <a:t>emf</a:t>
            </a:r>
            <a:r>
              <a:rPr lang="en-US" sz="8800" dirty="0" smtClean="0">
                <a:latin typeface="Times New Roman" pitchFamily="18" charset="0"/>
                <a:cs typeface="Times New Roman" pitchFamily="18" charset="0"/>
              </a:rPr>
              <a:t> per turn = Form factor X average </a:t>
            </a:r>
            <a:r>
              <a:rPr lang="en-US" sz="8800" dirty="0" err="1" smtClean="0">
                <a:latin typeface="Times New Roman" pitchFamily="18" charset="0"/>
                <a:cs typeface="Times New Roman" pitchFamily="18" charset="0"/>
              </a:rPr>
              <a:t>emf</a:t>
            </a:r>
            <a:r>
              <a:rPr lang="en-US" sz="8800" dirty="0" smtClean="0">
                <a:latin typeface="Times New Roman" pitchFamily="18" charset="0"/>
                <a:cs typeface="Times New Roman" pitchFamily="18" charset="0"/>
              </a:rPr>
              <a:t> per turn.</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As, the flux Φ varies </a:t>
            </a:r>
            <a:r>
              <a:rPr lang="en-US" sz="8800" dirty="0" err="1" smtClean="0">
                <a:latin typeface="Times New Roman" pitchFamily="18" charset="0"/>
                <a:cs typeface="Times New Roman" pitchFamily="18" charset="0"/>
              </a:rPr>
              <a:t>sinusoidally</a:t>
            </a:r>
            <a:r>
              <a:rPr lang="en-US" sz="8800" dirty="0" smtClean="0">
                <a:latin typeface="Times New Roman" pitchFamily="18" charset="0"/>
                <a:cs typeface="Times New Roman" pitchFamily="18" charset="0"/>
              </a:rPr>
              <a:t>, form factor of a sine wave is 1.11</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Therefore, RMS value of </a:t>
            </a:r>
            <a:r>
              <a:rPr lang="en-US" sz="8800" dirty="0" err="1" smtClean="0">
                <a:latin typeface="Times New Roman" pitchFamily="18" charset="0"/>
                <a:cs typeface="Times New Roman" pitchFamily="18" charset="0"/>
              </a:rPr>
              <a:t>emf</a:t>
            </a:r>
            <a:r>
              <a:rPr lang="en-US" sz="8800" dirty="0" smtClean="0">
                <a:latin typeface="Times New Roman" pitchFamily="18" charset="0"/>
                <a:cs typeface="Times New Roman" pitchFamily="18" charset="0"/>
              </a:rPr>
              <a:t> per turn =  1.11 x 4f </a:t>
            </a:r>
            <a:r>
              <a:rPr lang="en-US" sz="8800" dirty="0" err="1" smtClean="0">
                <a:latin typeface="Times New Roman" pitchFamily="18" charset="0"/>
                <a:cs typeface="Times New Roman" pitchFamily="18" charset="0"/>
              </a:rPr>
              <a:t>Φ</a:t>
            </a:r>
            <a:r>
              <a:rPr lang="en-US" sz="8800" baseline="-25000" dirty="0" err="1" smtClean="0">
                <a:latin typeface="Times New Roman" pitchFamily="18" charset="0"/>
                <a:cs typeface="Times New Roman" pitchFamily="18" charset="0"/>
              </a:rPr>
              <a:t>m</a:t>
            </a:r>
            <a:r>
              <a:rPr lang="en-US" sz="8800" dirty="0" smtClean="0">
                <a:latin typeface="Times New Roman" pitchFamily="18" charset="0"/>
                <a:cs typeface="Times New Roman" pitchFamily="18" charset="0"/>
              </a:rPr>
              <a:t> = 4.44f </a:t>
            </a:r>
            <a:r>
              <a:rPr lang="en-US" sz="8800" dirty="0" err="1" smtClean="0">
                <a:latin typeface="Times New Roman" pitchFamily="18" charset="0"/>
                <a:cs typeface="Times New Roman" pitchFamily="18" charset="0"/>
              </a:rPr>
              <a:t>Φ</a:t>
            </a:r>
            <a:r>
              <a:rPr lang="en-US" sz="8800" baseline="-25000" dirty="0" err="1" smtClean="0">
                <a:latin typeface="Times New Roman" pitchFamily="18" charset="0"/>
                <a:cs typeface="Times New Roman" pitchFamily="18" charset="0"/>
              </a:rPr>
              <a:t>m</a:t>
            </a:r>
            <a:r>
              <a:rPr lang="en-US" sz="8800" dirty="0" smtClean="0">
                <a:latin typeface="Times New Roman" pitchFamily="18" charset="0"/>
                <a:cs typeface="Times New Roman" pitchFamily="18" charset="0"/>
              </a:rPr>
              <a:t>.</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RMS value of induced </a:t>
            </a:r>
            <a:r>
              <a:rPr lang="en-US" sz="8800" dirty="0" err="1" smtClean="0">
                <a:latin typeface="Times New Roman" pitchFamily="18" charset="0"/>
                <a:cs typeface="Times New Roman" pitchFamily="18" charset="0"/>
              </a:rPr>
              <a:t>emf</a:t>
            </a:r>
            <a:r>
              <a:rPr lang="en-US" sz="8800" dirty="0" smtClean="0">
                <a:latin typeface="Times New Roman" pitchFamily="18" charset="0"/>
                <a:cs typeface="Times New Roman" pitchFamily="18" charset="0"/>
              </a:rPr>
              <a:t> in whole primary winding (E</a:t>
            </a:r>
            <a:r>
              <a:rPr lang="en-US" sz="8800" baseline="-25000" dirty="0" smtClean="0">
                <a:latin typeface="Times New Roman" pitchFamily="18" charset="0"/>
                <a:cs typeface="Times New Roman" pitchFamily="18" charset="0"/>
              </a:rPr>
              <a:t>1</a:t>
            </a:r>
            <a:r>
              <a:rPr lang="en-US" sz="8800" dirty="0" smtClean="0">
                <a:latin typeface="Times New Roman" pitchFamily="18" charset="0"/>
                <a:cs typeface="Times New Roman" pitchFamily="18" charset="0"/>
              </a:rPr>
              <a:t>) = RMS value of </a:t>
            </a:r>
            <a:r>
              <a:rPr lang="en-US" sz="8800" dirty="0" err="1" smtClean="0">
                <a:latin typeface="Times New Roman" pitchFamily="18" charset="0"/>
                <a:cs typeface="Times New Roman" pitchFamily="18" charset="0"/>
              </a:rPr>
              <a:t>emf</a:t>
            </a:r>
            <a:r>
              <a:rPr lang="en-US" sz="8800" dirty="0" smtClean="0">
                <a:latin typeface="Times New Roman" pitchFamily="18" charset="0"/>
                <a:cs typeface="Times New Roman" pitchFamily="18" charset="0"/>
              </a:rPr>
              <a:t> per turn X Number of turns in primary winding</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          E</a:t>
            </a:r>
            <a:r>
              <a:rPr lang="en-US" sz="8800" baseline="-25000" dirty="0" smtClean="0">
                <a:latin typeface="Times New Roman" pitchFamily="18" charset="0"/>
                <a:cs typeface="Times New Roman" pitchFamily="18" charset="0"/>
              </a:rPr>
              <a:t>1</a:t>
            </a:r>
            <a:r>
              <a:rPr lang="en-US" sz="8800" dirty="0" smtClean="0">
                <a:latin typeface="Times New Roman" pitchFamily="18" charset="0"/>
                <a:cs typeface="Times New Roman" pitchFamily="18" charset="0"/>
              </a:rPr>
              <a:t> = 4.44f N</a:t>
            </a:r>
            <a:r>
              <a:rPr lang="en-US" sz="8800" baseline="-25000" dirty="0" smtClean="0">
                <a:latin typeface="Times New Roman" pitchFamily="18" charset="0"/>
                <a:cs typeface="Times New Roman" pitchFamily="18" charset="0"/>
              </a:rPr>
              <a:t>1</a:t>
            </a:r>
            <a:r>
              <a:rPr lang="en-US" sz="8800" dirty="0" smtClean="0">
                <a:latin typeface="Times New Roman" pitchFamily="18" charset="0"/>
                <a:cs typeface="Times New Roman" pitchFamily="18" charset="0"/>
              </a:rPr>
              <a:t> </a:t>
            </a:r>
            <a:r>
              <a:rPr lang="en-US" sz="8800" dirty="0" err="1" smtClean="0">
                <a:latin typeface="Times New Roman" pitchFamily="18" charset="0"/>
                <a:cs typeface="Times New Roman" pitchFamily="18" charset="0"/>
              </a:rPr>
              <a:t>Φ</a:t>
            </a:r>
            <a:r>
              <a:rPr lang="en-US" sz="8800" baseline="-25000" dirty="0" err="1" smtClean="0">
                <a:latin typeface="Times New Roman" pitchFamily="18" charset="0"/>
                <a:cs typeface="Times New Roman" pitchFamily="18" charset="0"/>
              </a:rPr>
              <a:t>m</a:t>
            </a:r>
            <a:r>
              <a:rPr lang="en-US" sz="8800" dirty="0" smtClean="0">
                <a:latin typeface="Times New Roman" pitchFamily="18" charset="0"/>
                <a:cs typeface="Times New Roman" pitchFamily="18" charset="0"/>
              </a:rPr>
              <a:t>          ............................. </a:t>
            </a:r>
            <a:r>
              <a:rPr lang="en-US" sz="8800" dirty="0" err="1" smtClean="0">
                <a:latin typeface="Times New Roman" pitchFamily="18" charset="0"/>
                <a:cs typeface="Times New Roman" pitchFamily="18" charset="0"/>
              </a:rPr>
              <a:t>eq</a:t>
            </a:r>
            <a:r>
              <a:rPr lang="en-US" sz="8800" dirty="0" smtClean="0">
                <a:latin typeface="Times New Roman" pitchFamily="18" charset="0"/>
                <a:cs typeface="Times New Roman" pitchFamily="18" charset="0"/>
              </a:rPr>
              <a:t> (1)</a:t>
            </a:r>
            <a:br>
              <a:rPr lang="en-US" sz="8800" dirty="0" smtClean="0">
                <a:latin typeface="Times New Roman" pitchFamily="18" charset="0"/>
                <a:cs typeface="Times New Roman" pitchFamily="18" charset="0"/>
              </a:rPr>
            </a:br>
            <a:r>
              <a:rPr lang="en-US" sz="8800" dirty="0" smtClean="0">
                <a:latin typeface="Times New Roman" pitchFamily="18" charset="0"/>
                <a:cs typeface="Times New Roman" pitchFamily="18" charset="0"/>
              </a:rPr>
              <a:t/>
            </a:r>
            <a:br>
              <a:rPr lang="en-US" sz="8800" dirty="0" smtClean="0">
                <a:latin typeface="Times New Roman" pitchFamily="18" charset="0"/>
                <a:cs typeface="Times New Roman" pitchFamily="18" charset="0"/>
              </a:rPr>
            </a:br>
            <a:endParaRPr lang="en-US" sz="8800" dirty="0" smtClean="0">
              <a:latin typeface="Times New Roman" pitchFamily="18" charset="0"/>
              <a:cs typeface="Times New Roman" pitchFamily="18" charset="0"/>
            </a:endParaRP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5" name="Content Placeholder 4"/>
          <p:cNvSpPr>
            <a:spLocks noGrp="1"/>
          </p:cNvSpPr>
          <p:nvPr>
            <p:ph idx="1"/>
          </p:nvPr>
        </p:nvSpPr>
        <p:spPr/>
        <p:txBody>
          <a:bodyPr>
            <a:normAutofit/>
          </a:bodyPr>
          <a:lstStyle/>
          <a:p>
            <a:r>
              <a:rPr lang="en-US" sz="2200" dirty="0" smtClean="0">
                <a:latin typeface="Times New Roman" pitchFamily="18" charset="0"/>
                <a:cs typeface="Times New Roman" pitchFamily="18" charset="0"/>
              </a:rPr>
              <a:t>Similarly, RMS induced </a:t>
            </a:r>
            <a:r>
              <a:rPr lang="en-US" sz="2200" dirty="0" err="1" smtClean="0">
                <a:latin typeface="Times New Roman" pitchFamily="18" charset="0"/>
                <a:cs typeface="Times New Roman" pitchFamily="18" charset="0"/>
              </a:rPr>
              <a:t>emf</a:t>
            </a:r>
            <a:r>
              <a:rPr lang="en-US" sz="2200" dirty="0" smtClean="0">
                <a:latin typeface="Times New Roman" pitchFamily="18" charset="0"/>
                <a:cs typeface="Times New Roman" pitchFamily="18" charset="0"/>
              </a:rPr>
              <a:t> in secondary winding (E</a:t>
            </a:r>
            <a:r>
              <a:rPr lang="en-US" sz="2200" baseline="-250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can be given as</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          E</a:t>
            </a:r>
            <a:r>
              <a:rPr lang="en-US" sz="2200" baseline="-250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 4.44f N</a:t>
            </a:r>
            <a:r>
              <a:rPr lang="en-US" sz="2200" baseline="-250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Φ</a:t>
            </a:r>
            <a:r>
              <a:rPr lang="en-US" sz="2200" baseline="-25000" dirty="0" err="1" smtClean="0">
                <a:latin typeface="Times New Roman" pitchFamily="18" charset="0"/>
                <a:cs typeface="Times New Roman" pitchFamily="18" charset="0"/>
              </a:rPr>
              <a:t>m</a:t>
            </a: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eq</a:t>
            </a:r>
            <a:r>
              <a:rPr lang="en-US" sz="2200" dirty="0" smtClean="0">
                <a:latin typeface="Times New Roman" pitchFamily="18" charset="0"/>
                <a:cs typeface="Times New Roman" pitchFamily="18" charset="0"/>
              </a:rPr>
              <a:t> 2)</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rom</a:t>
            </a:r>
            <a:r>
              <a:rPr lang="en-US" sz="2200" dirty="0" smtClean="0">
                <a:latin typeface="Times New Roman" pitchFamily="18" charset="0"/>
                <a:cs typeface="Times New Roman" pitchFamily="18" charset="0"/>
              </a:rPr>
              <a:t> the above equations 1 and 2,</a:t>
            </a:r>
          </a:p>
          <a:p>
            <a:pPr>
              <a:buNone/>
            </a:pPr>
            <a:r>
              <a:rPr lang="en-US" dirty="0" smtClean="0"/>
              <a:t/>
            </a:r>
            <a:br>
              <a:rPr lang="en-US" dirty="0" smtClean="0"/>
            </a:br>
            <a:endParaRPr lang="en-US" dirty="0"/>
          </a:p>
        </p:txBody>
      </p:sp>
      <p:pic>
        <p:nvPicPr>
          <p:cNvPr id="6" name="Picture 5" descr="eq.png"/>
          <p:cNvPicPr>
            <a:picLocks noChangeAspect="1"/>
          </p:cNvPicPr>
          <p:nvPr/>
        </p:nvPicPr>
        <p:blipFill>
          <a:blip r:embed="rId2" cstate="print"/>
          <a:stretch>
            <a:fillRect/>
          </a:stretch>
        </p:blipFill>
        <p:spPr>
          <a:xfrm>
            <a:off x="2590800" y="3733800"/>
            <a:ext cx="3326984" cy="102857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a:bodyPr>
          <a:lstStyle/>
          <a:p>
            <a:r>
              <a:rPr lang="en-US" sz="2200" dirty="0" smtClean="0">
                <a:latin typeface="Times New Roman" pitchFamily="18" charset="0"/>
                <a:cs typeface="Times New Roman" pitchFamily="18" charset="0"/>
              </a:rPr>
              <a:t>This is called the </a:t>
            </a:r>
            <a:r>
              <a:rPr lang="en-US" sz="2200" b="1" dirty="0" err="1" smtClean="0">
                <a:latin typeface="Times New Roman" pitchFamily="18" charset="0"/>
                <a:cs typeface="Times New Roman" pitchFamily="18" charset="0"/>
              </a:rPr>
              <a:t>emf</a:t>
            </a:r>
            <a:r>
              <a:rPr lang="en-US" sz="2200" b="1" dirty="0" smtClean="0">
                <a:latin typeface="Times New Roman" pitchFamily="18" charset="0"/>
                <a:cs typeface="Times New Roman" pitchFamily="18" charset="0"/>
              </a:rPr>
              <a:t> equation of transformer</a:t>
            </a:r>
            <a:r>
              <a:rPr lang="en-US" sz="2200" dirty="0" smtClean="0">
                <a:latin typeface="Times New Roman" pitchFamily="18" charset="0"/>
                <a:cs typeface="Times New Roman" pitchFamily="18" charset="0"/>
              </a:rPr>
              <a:t>, which shows, </a:t>
            </a:r>
            <a:r>
              <a:rPr lang="en-US" sz="2200" dirty="0" err="1" smtClean="0">
                <a:latin typeface="Times New Roman" pitchFamily="18" charset="0"/>
                <a:cs typeface="Times New Roman" pitchFamily="18" charset="0"/>
              </a:rPr>
              <a:t>emf</a:t>
            </a:r>
            <a:r>
              <a:rPr lang="en-US" sz="2200" dirty="0" smtClean="0">
                <a:latin typeface="Times New Roman" pitchFamily="18" charset="0"/>
                <a:cs typeface="Times New Roman" pitchFamily="18" charset="0"/>
              </a:rPr>
              <a:t> / number of turns is same for both primary and secondary winding.</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For an </a:t>
            </a:r>
            <a:r>
              <a:rPr lang="en-US" sz="2200" dirty="0" smtClean="0">
                <a:latin typeface="Times New Roman" pitchFamily="18" charset="0"/>
                <a:cs typeface="Times New Roman" pitchFamily="18" charset="0"/>
                <a:hlinkClick r:id="rId2"/>
              </a:rPr>
              <a:t>ideal transformer</a:t>
            </a:r>
            <a:r>
              <a:rPr lang="en-US" sz="2200" dirty="0" smtClean="0">
                <a:latin typeface="Times New Roman" pitchFamily="18" charset="0"/>
                <a:cs typeface="Times New Roman" pitchFamily="18" charset="0"/>
              </a:rPr>
              <a:t> on no load, E</a:t>
            </a:r>
            <a:r>
              <a:rPr lang="en-US" sz="2200" baseline="-25000" dirty="0" smtClean="0">
                <a:latin typeface="Times New Roman" pitchFamily="18" charset="0"/>
                <a:cs typeface="Times New Roman" pitchFamily="18" charset="0"/>
              </a:rPr>
              <a:t>1</a:t>
            </a:r>
            <a:r>
              <a:rPr lang="en-US" sz="2200" dirty="0" smtClean="0">
                <a:latin typeface="Times New Roman" pitchFamily="18" charset="0"/>
                <a:cs typeface="Times New Roman" pitchFamily="18" charset="0"/>
              </a:rPr>
              <a:t> = V</a:t>
            </a:r>
            <a:r>
              <a:rPr lang="en-US" sz="2200" baseline="-25000" dirty="0" smtClean="0">
                <a:latin typeface="Times New Roman" pitchFamily="18" charset="0"/>
                <a:cs typeface="Times New Roman" pitchFamily="18" charset="0"/>
              </a:rPr>
              <a:t>1</a:t>
            </a:r>
            <a:r>
              <a:rPr lang="en-US" sz="2200" dirty="0" smtClean="0">
                <a:latin typeface="Times New Roman" pitchFamily="18" charset="0"/>
                <a:cs typeface="Times New Roman" pitchFamily="18" charset="0"/>
              </a:rPr>
              <a:t> and E</a:t>
            </a:r>
            <a:r>
              <a:rPr lang="en-US" sz="2200" baseline="-250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 V</a:t>
            </a:r>
            <a:r>
              <a:rPr lang="en-US" sz="2200" baseline="-250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where, V</a:t>
            </a:r>
            <a:r>
              <a:rPr lang="en-US" sz="2200" baseline="-25000" dirty="0" smtClean="0">
                <a:latin typeface="Times New Roman" pitchFamily="18" charset="0"/>
                <a:cs typeface="Times New Roman" pitchFamily="18" charset="0"/>
              </a:rPr>
              <a:t>1</a:t>
            </a:r>
            <a:r>
              <a:rPr lang="en-US" sz="2200" dirty="0" smtClean="0">
                <a:latin typeface="Times New Roman" pitchFamily="18" charset="0"/>
                <a:cs typeface="Times New Roman" pitchFamily="18" charset="0"/>
              </a:rPr>
              <a:t> = supply voltage of primary winding</a:t>
            </a:r>
            <a:br>
              <a:rPr lang="en-US" sz="2200" dirty="0" smtClean="0">
                <a:latin typeface="Times New Roman" pitchFamily="18" charset="0"/>
                <a:cs typeface="Times New Roman" pitchFamily="18" charset="0"/>
              </a:rPr>
            </a:br>
            <a:r>
              <a:rPr lang="en-US" sz="2200" dirty="0" smtClean="0">
                <a:latin typeface="Times New Roman" pitchFamily="18" charset="0"/>
                <a:cs typeface="Times New Roman" pitchFamily="18" charset="0"/>
              </a:rPr>
              <a:t>            V</a:t>
            </a:r>
            <a:r>
              <a:rPr lang="en-US" sz="2200" baseline="-250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 terminal voltage of secondary winding</a:t>
            </a:r>
          </a:p>
          <a:p>
            <a:r>
              <a:rPr lang="en-US" sz="2200" dirty="0" smtClean="0">
                <a:latin typeface="Times New Roman" pitchFamily="18" charset="0"/>
                <a:cs typeface="Times New Roman" pitchFamily="18" charset="0"/>
              </a:rPr>
              <a:t>Factors affecting the induced </a:t>
            </a:r>
            <a:r>
              <a:rPr lang="en-US" sz="2200" dirty="0" err="1" smtClean="0">
                <a:latin typeface="Times New Roman" pitchFamily="18" charset="0"/>
                <a:cs typeface="Times New Roman" pitchFamily="18" charset="0"/>
              </a:rPr>
              <a:t>emf</a:t>
            </a:r>
            <a:r>
              <a:rPr lang="en-US" sz="2200" dirty="0" smtClean="0">
                <a:latin typeface="Times New Roman" pitchFamily="18" charset="0"/>
                <a:cs typeface="Times New Roman" pitchFamily="18" charset="0"/>
              </a:rPr>
              <a:t>  are:</a:t>
            </a:r>
          </a:p>
          <a:p>
            <a:pPr marL="457200" indent="-457200">
              <a:buAutoNum type="arabicPeriod"/>
            </a:pPr>
            <a:r>
              <a:rPr lang="en-US" sz="2200" dirty="0" smtClean="0">
                <a:latin typeface="Times New Roman" pitchFamily="18" charset="0"/>
                <a:cs typeface="Times New Roman" pitchFamily="18" charset="0"/>
              </a:rPr>
              <a:t>Flux </a:t>
            </a:r>
            <a:r>
              <a:rPr lang="en-US" sz="2200" dirty="0" err="1" smtClean="0">
                <a:latin typeface="Times New Roman" pitchFamily="18" charset="0"/>
                <a:cs typeface="Times New Roman" pitchFamily="18" charset="0"/>
              </a:rPr>
              <a:t>Φ</a:t>
            </a:r>
            <a:r>
              <a:rPr lang="en-US" sz="2200" baseline="-25000" dirty="0" err="1" smtClean="0">
                <a:latin typeface="Times New Roman" pitchFamily="18" charset="0"/>
                <a:cs typeface="Times New Roman" pitchFamily="18" charset="0"/>
              </a:rPr>
              <a:t>m</a:t>
            </a:r>
            <a:endParaRPr lang="en-US" sz="2200" baseline="-25000" dirty="0" smtClean="0">
              <a:latin typeface="Times New Roman" pitchFamily="18" charset="0"/>
              <a:cs typeface="Times New Roman" pitchFamily="18" charset="0"/>
            </a:endParaRPr>
          </a:p>
          <a:p>
            <a:pPr marL="457200" indent="-457200">
              <a:buAutoNum type="arabicPeriod"/>
            </a:pPr>
            <a:r>
              <a:rPr lang="en-US" sz="2200" dirty="0" smtClean="0">
                <a:latin typeface="Times New Roman" pitchFamily="18" charset="0"/>
                <a:cs typeface="Times New Roman" pitchFamily="18" charset="0"/>
              </a:rPr>
              <a:t>Frequency of applied voltage</a:t>
            </a:r>
          </a:p>
          <a:p>
            <a:pPr marL="457200" indent="-457200">
              <a:buAutoNum type="arabicPeriod"/>
            </a:pPr>
            <a:r>
              <a:rPr lang="en-US" sz="2200" dirty="0" smtClean="0">
                <a:latin typeface="Times New Roman" pitchFamily="18" charset="0"/>
                <a:cs typeface="Times New Roman" pitchFamily="18" charset="0"/>
              </a:rPr>
              <a:t>Number of turns N.</a:t>
            </a:r>
            <a:endParaRPr lang="en-US" sz="22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Voltage &amp; Current ratios of a transformer</a:t>
            </a:r>
            <a:endParaRPr lang="en-US" b="1" dirty="0">
              <a:latin typeface="Times New Roman" pitchFamily="18" charset="0"/>
              <a:cs typeface="Times New Roman" pitchFamily="18" charset="0"/>
            </a:endParaRPr>
          </a:p>
        </p:txBody>
      </p:sp>
      <p:pic>
        <p:nvPicPr>
          <p:cNvPr id="4" name="Content Placeholder 3" descr="trans ele.gif"/>
          <p:cNvPicPr>
            <a:picLocks noGrp="1" noChangeAspect="1"/>
          </p:cNvPicPr>
          <p:nvPr>
            <p:ph idx="1"/>
          </p:nvPr>
        </p:nvPicPr>
        <p:blipFill>
          <a:blip r:embed="rId2" cstate="print"/>
          <a:stretch>
            <a:fillRect/>
          </a:stretch>
        </p:blipFill>
        <p:spPr>
          <a:xfrm>
            <a:off x="457200" y="1828800"/>
            <a:ext cx="8229600" cy="2929731"/>
          </a:xfrm>
        </p:spPr>
      </p:pic>
      <p:sp>
        <p:nvSpPr>
          <p:cNvPr id="5" name="TextBox 4"/>
          <p:cNvSpPr txBox="1"/>
          <p:nvPr/>
        </p:nvSpPr>
        <p:spPr>
          <a:xfrm>
            <a:off x="1066800" y="4953000"/>
            <a:ext cx="7467600" cy="369332"/>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Fig.(1): Elementary single phase transformer</a:t>
            </a:r>
            <a:endParaRPr lang="en-US" b="1"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latin typeface="Times New Roman" pitchFamily="18" charset="0"/>
                <a:cs typeface="Times New Roman" pitchFamily="18" charset="0"/>
              </a:rPr>
              <a:t>Voltage ratios of the transformer with load:</a:t>
            </a:r>
          </a:p>
          <a:p>
            <a:pPr>
              <a:buFont typeface="Wingdings" pitchFamily="2" charset="2"/>
              <a:buChar char="Ø"/>
            </a:pPr>
            <a:r>
              <a:rPr lang="en-US" dirty="0" smtClean="0">
                <a:latin typeface="Times New Roman" pitchFamily="18" charset="0"/>
                <a:cs typeface="Times New Roman" pitchFamily="18" charset="0"/>
              </a:rPr>
              <a:t>As shown in fig.(1),  let</a:t>
            </a:r>
          </a:p>
          <a:p>
            <a:pPr>
              <a:buNone/>
            </a:pPr>
            <a:r>
              <a:rPr lang="en-US" dirty="0" smtClean="0">
                <a:latin typeface="Times New Roman" pitchFamily="18" charset="0"/>
                <a:cs typeface="Times New Roman" pitchFamily="18" charset="0"/>
              </a:rPr>
              <a:t>    N</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Number of turns in primary winding</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N</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Number of turns in secondary winding</a:t>
            </a:r>
          </a:p>
          <a:p>
            <a:pPr>
              <a:buNone/>
            </a:pPr>
            <a:r>
              <a:rPr lang="en-US" dirty="0" smtClean="0">
                <a:latin typeface="Times New Roman" pitchFamily="18" charset="0"/>
                <a:cs typeface="Times New Roman" pitchFamily="18" charset="0"/>
              </a:rPr>
              <a:t>   E</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rms</a:t>
            </a:r>
            <a:r>
              <a:rPr lang="en-US" dirty="0" smtClean="0">
                <a:latin typeface="Times New Roman" pitchFamily="18" charset="0"/>
                <a:cs typeface="Times New Roman" pitchFamily="18" charset="0"/>
              </a:rPr>
              <a:t> induced voltage in primary winding</a:t>
            </a:r>
          </a:p>
          <a:p>
            <a:pPr>
              <a:buNone/>
            </a:pPr>
            <a:r>
              <a:rPr lang="en-US" dirty="0" smtClean="0">
                <a:latin typeface="Times New Roman" pitchFamily="18" charset="0"/>
                <a:cs typeface="Times New Roman" pitchFamily="18" charset="0"/>
              </a:rPr>
              <a:t>   E</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rms</a:t>
            </a:r>
            <a:r>
              <a:rPr lang="en-US" dirty="0" smtClean="0">
                <a:latin typeface="Times New Roman" pitchFamily="18" charset="0"/>
                <a:cs typeface="Times New Roman" pitchFamily="18" charset="0"/>
              </a:rPr>
              <a:t> induced voltage in secondary       winding</a:t>
            </a:r>
          </a:p>
          <a:p>
            <a:pPr>
              <a:buNone/>
            </a:pPr>
            <a:r>
              <a:rPr lang="en-US" dirty="0" smtClean="0">
                <a:latin typeface="Times New Roman" pitchFamily="18" charset="0"/>
                <a:cs typeface="Times New Roman" pitchFamily="18" charset="0"/>
              </a:rPr>
              <a:t>      E</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4.44f N</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Φ</a:t>
            </a:r>
            <a:r>
              <a:rPr lang="en-US" baseline="-25000" dirty="0" err="1" smtClean="0">
                <a:latin typeface="Times New Roman" pitchFamily="18" charset="0"/>
                <a:cs typeface="Times New Roman" pitchFamily="18" charset="0"/>
              </a:rPr>
              <a:t>m</a:t>
            </a:r>
            <a:r>
              <a:rPr lang="en-US" baseline="-25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volts</a:t>
            </a:r>
          </a:p>
          <a:p>
            <a:pPr>
              <a:buNone/>
            </a:pPr>
            <a:r>
              <a:rPr lang="en-US" dirty="0" smtClean="0">
                <a:latin typeface="Times New Roman" pitchFamily="18" charset="0"/>
                <a:cs typeface="Times New Roman" pitchFamily="18" charset="0"/>
              </a:rPr>
              <a:t>      E</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4.44f N</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Φ</a:t>
            </a:r>
            <a:r>
              <a:rPr lang="en-US" baseline="-25000" dirty="0" err="1" smtClean="0">
                <a:latin typeface="Times New Roman" pitchFamily="18" charset="0"/>
                <a:cs typeface="Times New Roman" pitchFamily="18" charset="0"/>
              </a:rPr>
              <a:t>m</a:t>
            </a:r>
            <a:r>
              <a:rPr lang="en-US" baseline="-25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volts</a:t>
            </a:r>
          </a:p>
          <a:p>
            <a:pPr>
              <a:buNone/>
            </a:pPr>
            <a:r>
              <a:rPr lang="en-US" dirty="0" smtClean="0">
                <a:latin typeface="Times New Roman" pitchFamily="18" charset="0"/>
                <a:cs typeface="Times New Roman" pitchFamily="18" charset="0"/>
              </a:rPr>
              <a:t>By taking the ratio of these expressions we get,</a:t>
            </a:r>
          </a:p>
          <a:p>
            <a:pPr>
              <a:buNone/>
            </a:pPr>
            <a:r>
              <a:rPr lang="en-US" dirty="0" smtClean="0">
                <a:latin typeface="Times New Roman" pitchFamily="18" charset="0"/>
                <a:cs typeface="Times New Roman" pitchFamily="18" charset="0"/>
              </a:rPr>
              <a:t>            E</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…(1)</a:t>
            </a:r>
          </a:p>
          <a:p>
            <a:pPr>
              <a:buNone/>
            </a:pPr>
            <a:endParaRPr lang="en-US" dirty="0" smtClean="0">
              <a:latin typeface="Times New Roman" pitchFamily="18" charset="0"/>
              <a:cs typeface="Times New Roman" pitchFamily="18" charset="0"/>
            </a:endParaRPr>
          </a:p>
        </p:txBody>
      </p:sp>
      <p:cxnSp>
        <p:nvCxnSpPr>
          <p:cNvPr id="5" name="Straight Connector 4"/>
          <p:cNvCxnSpPr/>
          <p:nvPr/>
        </p:nvCxnSpPr>
        <p:spPr>
          <a:xfrm>
            <a:off x="1524000" y="60198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438400" y="5943600"/>
            <a:ext cx="609600" cy="507831"/>
          </a:xfrm>
          <a:prstGeom prst="rect">
            <a:avLst/>
          </a:prstGeom>
          <a:noFill/>
        </p:spPr>
        <p:txBody>
          <a:bodyPr wrap="square" rtlCol="0">
            <a:spAutoFit/>
          </a:bodyPr>
          <a:lstStyle/>
          <a:p>
            <a:r>
              <a:rPr lang="en-US" sz="2700" dirty="0" smtClean="0">
                <a:latin typeface="Times New Roman" pitchFamily="18" charset="0"/>
                <a:cs typeface="Times New Roman" pitchFamily="18" charset="0"/>
              </a:rPr>
              <a:t>N</a:t>
            </a:r>
            <a:r>
              <a:rPr lang="en-US" sz="2700" baseline="-25000" dirty="0" smtClean="0">
                <a:latin typeface="Times New Roman" pitchFamily="18" charset="0"/>
                <a:cs typeface="Times New Roman" pitchFamily="18" charset="0"/>
              </a:rPr>
              <a:t>2</a:t>
            </a:r>
            <a:endParaRPr lang="en-US" sz="2700" baseline="-25000" dirty="0">
              <a:latin typeface="Times New Roman" pitchFamily="18" charset="0"/>
              <a:cs typeface="Times New Roman" pitchFamily="18" charset="0"/>
            </a:endParaRPr>
          </a:p>
        </p:txBody>
      </p:sp>
      <p:sp>
        <p:nvSpPr>
          <p:cNvPr id="7" name="TextBox 6"/>
          <p:cNvSpPr txBox="1"/>
          <p:nvPr/>
        </p:nvSpPr>
        <p:spPr>
          <a:xfrm>
            <a:off x="1981200" y="5791200"/>
            <a:ext cx="685800" cy="507831"/>
          </a:xfrm>
          <a:prstGeom prst="rect">
            <a:avLst/>
          </a:prstGeom>
          <a:noFill/>
        </p:spPr>
        <p:txBody>
          <a:bodyPr wrap="square" rtlCol="0">
            <a:spAutoFit/>
          </a:bodyPr>
          <a:lstStyle/>
          <a:p>
            <a:r>
              <a:rPr lang="en-US" sz="2700" dirty="0" smtClean="0">
                <a:latin typeface="Times New Roman" pitchFamily="18" charset="0"/>
                <a:cs typeface="Times New Roman" pitchFamily="18" charset="0"/>
              </a:rPr>
              <a:t>=</a:t>
            </a:r>
            <a:endParaRPr lang="en-US" sz="2700" dirty="0">
              <a:latin typeface="Times New Roman" pitchFamily="18" charset="0"/>
              <a:cs typeface="Times New Roman" pitchFamily="18" charset="0"/>
            </a:endParaRPr>
          </a:p>
        </p:txBody>
      </p:sp>
      <p:sp>
        <p:nvSpPr>
          <p:cNvPr id="8" name="TextBox 7"/>
          <p:cNvSpPr txBox="1"/>
          <p:nvPr/>
        </p:nvSpPr>
        <p:spPr>
          <a:xfrm>
            <a:off x="2438400" y="5562600"/>
            <a:ext cx="609600" cy="507831"/>
          </a:xfrm>
          <a:prstGeom prst="rect">
            <a:avLst/>
          </a:prstGeom>
          <a:noFill/>
        </p:spPr>
        <p:txBody>
          <a:bodyPr wrap="square" rtlCol="0">
            <a:spAutoFit/>
          </a:bodyPr>
          <a:lstStyle/>
          <a:p>
            <a:r>
              <a:rPr lang="en-US" sz="2700" dirty="0" smtClean="0">
                <a:latin typeface="Times New Roman" pitchFamily="18" charset="0"/>
                <a:cs typeface="Times New Roman" pitchFamily="18" charset="0"/>
              </a:rPr>
              <a:t>N</a:t>
            </a:r>
            <a:r>
              <a:rPr lang="en-US" sz="2700" baseline="-25000" dirty="0" smtClean="0">
                <a:latin typeface="Times New Roman" pitchFamily="18" charset="0"/>
                <a:cs typeface="Times New Roman" pitchFamily="18" charset="0"/>
              </a:rPr>
              <a:t>1</a:t>
            </a:r>
            <a:endParaRPr lang="en-US" sz="2700" baseline="-25000" dirty="0">
              <a:latin typeface="Times New Roman" pitchFamily="18" charset="0"/>
              <a:cs typeface="Times New Roman" pitchFamily="18" charset="0"/>
            </a:endParaRPr>
          </a:p>
        </p:txBody>
      </p:sp>
      <p:cxnSp>
        <p:nvCxnSpPr>
          <p:cNvPr id="9" name="Straight Connector 8"/>
          <p:cNvCxnSpPr/>
          <p:nvPr/>
        </p:nvCxnSpPr>
        <p:spPr>
          <a:xfrm>
            <a:off x="2514600" y="60198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447800" y="6019800"/>
            <a:ext cx="533400" cy="507831"/>
          </a:xfrm>
          <a:prstGeom prst="rect">
            <a:avLst/>
          </a:prstGeom>
          <a:noFill/>
        </p:spPr>
        <p:txBody>
          <a:bodyPr wrap="square" rtlCol="0">
            <a:spAutoFit/>
          </a:bodyPr>
          <a:lstStyle/>
          <a:p>
            <a:r>
              <a:rPr lang="en-US" sz="2700" dirty="0" smtClean="0">
                <a:latin typeface="Times New Roman" pitchFamily="18" charset="0"/>
                <a:cs typeface="Times New Roman" pitchFamily="18" charset="0"/>
              </a:rPr>
              <a:t>E</a:t>
            </a:r>
            <a:r>
              <a:rPr lang="en-US" sz="2700" baseline="-25000" dirty="0" smtClean="0">
                <a:latin typeface="Times New Roman" pitchFamily="18" charset="0"/>
                <a:cs typeface="Times New Roman" pitchFamily="18" charset="0"/>
              </a:rPr>
              <a:t>2</a:t>
            </a:r>
            <a:endParaRPr lang="en-US" sz="2700" baseline="-250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latin typeface="Times New Roman" pitchFamily="18" charset="0"/>
                <a:cs typeface="Times New Roman" pitchFamily="18" charset="0"/>
              </a:rPr>
              <a:t>Voltage ratios of the transformer without load:</a:t>
            </a:r>
          </a:p>
          <a:p>
            <a:pPr>
              <a:buFont typeface="Wingdings" pitchFamily="2" charset="2"/>
              <a:buChar char="Ø"/>
            </a:pPr>
            <a:r>
              <a:rPr lang="en-US" dirty="0" smtClean="0">
                <a:latin typeface="Times New Roman" pitchFamily="18" charset="0"/>
                <a:cs typeface="Times New Roman" pitchFamily="18" charset="0"/>
              </a:rPr>
              <a:t>Assume the load on secondary winding is disconnected.</a:t>
            </a:r>
          </a:p>
          <a:p>
            <a:pPr>
              <a:buNone/>
            </a:pPr>
            <a:r>
              <a:rPr lang="en-US" dirty="0" smtClean="0">
                <a:latin typeface="Times New Roman" pitchFamily="18" charset="0"/>
                <a:cs typeface="Times New Roman" pitchFamily="18" charset="0"/>
              </a:rPr>
              <a:t>           ∴ I</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0</a:t>
            </a:r>
          </a:p>
          <a:p>
            <a:pPr>
              <a:buNone/>
            </a:pPr>
            <a:r>
              <a:rPr lang="en-US" dirty="0" smtClean="0">
                <a:latin typeface="Times New Roman" pitchFamily="18" charset="0"/>
                <a:cs typeface="Times New Roman" pitchFamily="18" charset="0"/>
              </a:rPr>
              <a:t>  ∴ load terminal voltage v</a:t>
            </a:r>
            <a:r>
              <a:rPr lang="en-US" baseline="-25000" dirty="0" smtClean="0">
                <a:latin typeface="Times New Roman" pitchFamily="18" charset="0"/>
                <a:cs typeface="Times New Roman" pitchFamily="18" charset="0"/>
              </a:rPr>
              <a:t>2 </a:t>
            </a:r>
            <a:r>
              <a:rPr lang="en-US" dirty="0" smtClean="0">
                <a:latin typeface="Times New Roman" pitchFamily="18" charset="0"/>
                <a:cs typeface="Times New Roman" pitchFamily="18" charset="0"/>
              </a:rPr>
              <a:t>is equal to secondary induced voltage  E</a:t>
            </a:r>
            <a:r>
              <a:rPr lang="en-US" baseline="-25000" dirty="0" smtClean="0">
                <a:latin typeface="Times New Roman" pitchFamily="18" charset="0"/>
                <a:cs typeface="Times New Roman" pitchFamily="18" charset="0"/>
              </a:rPr>
              <a:t>2</a:t>
            </a:r>
          </a:p>
          <a:p>
            <a:pPr>
              <a:buNone/>
            </a:pPr>
            <a:r>
              <a:rPr lang="en-US" dirty="0" smtClean="0">
                <a:latin typeface="Times New Roman" pitchFamily="18" charset="0"/>
                <a:cs typeface="Times New Roman" pitchFamily="18" charset="0"/>
              </a:rPr>
              <a:t>            i.e.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E</a:t>
            </a:r>
            <a:r>
              <a:rPr lang="en-US" baseline="-25000" dirty="0" smtClean="0">
                <a:latin typeface="Times New Roman" pitchFamily="18" charset="0"/>
                <a:cs typeface="Times New Roman" pitchFamily="18" charset="0"/>
              </a:rPr>
              <a:t>2        </a:t>
            </a:r>
            <a:r>
              <a:rPr lang="en-US" dirty="0" smtClean="0">
                <a:latin typeface="Times New Roman" pitchFamily="18" charset="0"/>
                <a:cs typeface="Times New Roman" pitchFamily="18" charset="0"/>
              </a:rPr>
              <a:t>                  …….(2)</a:t>
            </a:r>
            <a:r>
              <a:rPr lang="en-US" baseline="-25000" dirty="0" smtClean="0">
                <a:latin typeface="Times New Roman" pitchFamily="18" charset="0"/>
                <a:cs typeface="Times New Roman" pitchFamily="18" charset="0"/>
              </a:rPr>
              <a:t>     </a:t>
            </a:r>
          </a:p>
          <a:p>
            <a:pPr>
              <a:buFont typeface="Wingdings" pitchFamily="2" charset="2"/>
              <a:buChar char="Ø"/>
            </a:pPr>
            <a:r>
              <a:rPr lang="en-US" dirty="0" smtClean="0">
                <a:latin typeface="Times New Roman" pitchFamily="18" charset="0"/>
                <a:cs typeface="Times New Roman" pitchFamily="18" charset="0"/>
              </a:rPr>
              <a:t>As the primary current on no load is very small,</a:t>
            </a:r>
          </a:p>
          <a:p>
            <a:pPr>
              <a:buNone/>
            </a:pPr>
            <a:r>
              <a:rPr lang="en-US" dirty="0" smtClean="0">
                <a:latin typeface="Times New Roman" pitchFamily="18" charset="0"/>
                <a:cs typeface="Times New Roman" pitchFamily="18" charset="0"/>
              </a:rPr>
              <a:t>                   V</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E</a:t>
            </a:r>
            <a:r>
              <a:rPr lang="en-US" baseline="-25000" dirty="0" smtClean="0">
                <a:latin typeface="Times New Roman" pitchFamily="18" charset="0"/>
                <a:cs typeface="Times New Roman" pitchFamily="18" charset="0"/>
              </a:rPr>
              <a:t>1          </a:t>
            </a:r>
            <a:r>
              <a:rPr lang="en-US" dirty="0" smtClean="0">
                <a:latin typeface="Times New Roman" pitchFamily="18" charset="0"/>
                <a:cs typeface="Times New Roman" pitchFamily="18" charset="0"/>
              </a:rPr>
              <a:t>               …….(3)</a:t>
            </a:r>
          </a:p>
          <a:p>
            <a:pPr>
              <a:buNone/>
            </a:pPr>
            <a:r>
              <a:rPr lang="en-US" dirty="0" smtClean="0">
                <a:latin typeface="Times New Roman" pitchFamily="18" charset="0"/>
                <a:cs typeface="Times New Roman" pitchFamily="18" charset="0"/>
              </a:rPr>
              <a:t>By substituting eq.(2) &amp; (3) in eq.(1) we get,</a:t>
            </a:r>
          </a:p>
          <a:p>
            <a:pPr>
              <a:buNone/>
            </a:pPr>
            <a:r>
              <a:rPr lang="en-US" dirty="0" smtClean="0">
                <a:latin typeface="Times New Roman" pitchFamily="18" charset="0"/>
                <a:cs typeface="Times New Roman" pitchFamily="18" charset="0"/>
              </a:rPr>
              <a:t>                   V</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N</a:t>
            </a:r>
            <a:r>
              <a:rPr lang="en-US" baseline="-25000" dirty="0" smtClean="0">
                <a:latin typeface="Times New Roman" pitchFamily="18" charset="0"/>
                <a:cs typeface="Times New Roman" pitchFamily="18" charset="0"/>
              </a:rPr>
              <a:t>1                                        </a:t>
            </a:r>
            <a:r>
              <a:rPr lang="en-US" dirty="0" smtClean="0">
                <a:latin typeface="Times New Roman" pitchFamily="18" charset="0"/>
                <a:cs typeface="Times New Roman" pitchFamily="18" charset="0"/>
              </a:rPr>
              <a:t>          ……(4)</a:t>
            </a:r>
            <a:endParaRPr lang="en-US" baseline="-25000" dirty="0" smtClean="0">
              <a:latin typeface="Times New Roman" pitchFamily="18" charset="0"/>
              <a:cs typeface="Times New Roman" pitchFamily="18" charset="0"/>
            </a:endParaRPr>
          </a:p>
        </p:txBody>
      </p:sp>
      <p:cxnSp>
        <p:nvCxnSpPr>
          <p:cNvPr id="5" name="Straight Connector 4"/>
          <p:cNvCxnSpPr/>
          <p:nvPr/>
        </p:nvCxnSpPr>
        <p:spPr>
          <a:xfrm>
            <a:off x="2133600" y="60198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057400" y="6019800"/>
            <a:ext cx="762000" cy="523220"/>
          </a:xfrm>
          <a:prstGeom prst="rect">
            <a:avLst/>
          </a:prstGeom>
          <a:noFill/>
        </p:spPr>
        <p:txBody>
          <a:bodyPr wrap="square" rtlCol="0">
            <a:spAutoFit/>
          </a:bodyPr>
          <a:lstStyle/>
          <a:p>
            <a:r>
              <a:rPr lang="en-US" sz="2800" dirty="0" smtClean="0">
                <a:latin typeface="Times New Roman" pitchFamily="18" charset="0"/>
                <a:cs typeface="Times New Roman" pitchFamily="18" charset="0"/>
              </a:rPr>
              <a:t>V</a:t>
            </a:r>
            <a:r>
              <a:rPr lang="en-US" sz="2800" baseline="-25000" dirty="0" smtClean="0">
                <a:latin typeface="Times New Roman" pitchFamily="18" charset="0"/>
                <a:cs typeface="Times New Roman" pitchFamily="18" charset="0"/>
              </a:rPr>
              <a:t>2</a:t>
            </a:r>
            <a:endParaRPr lang="en-US" sz="2800" baseline="-25000" dirty="0">
              <a:latin typeface="Times New Roman" pitchFamily="18" charset="0"/>
              <a:cs typeface="Times New Roman" pitchFamily="18" charset="0"/>
            </a:endParaRPr>
          </a:p>
        </p:txBody>
      </p:sp>
      <p:sp>
        <p:nvSpPr>
          <p:cNvPr id="7" name="TextBox 6"/>
          <p:cNvSpPr txBox="1"/>
          <p:nvPr/>
        </p:nvSpPr>
        <p:spPr>
          <a:xfrm>
            <a:off x="2590800" y="5638800"/>
            <a:ext cx="457200" cy="523220"/>
          </a:xfrm>
          <a:prstGeom prst="rect">
            <a:avLst/>
          </a:prstGeom>
          <a:noFill/>
        </p:spPr>
        <p:txBody>
          <a:bodyPr wrap="square" rtlCol="0">
            <a:spAutoFit/>
          </a:bodyPr>
          <a:lstStyle/>
          <a:p>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cxnSp>
        <p:nvCxnSpPr>
          <p:cNvPr id="8" name="Straight Connector 7"/>
          <p:cNvCxnSpPr/>
          <p:nvPr/>
        </p:nvCxnSpPr>
        <p:spPr>
          <a:xfrm>
            <a:off x="3048000" y="60198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2971800" y="6019800"/>
            <a:ext cx="564578" cy="523220"/>
          </a:xfrm>
          <a:prstGeom prst="rect">
            <a:avLst/>
          </a:prstGeom>
        </p:spPr>
        <p:txBody>
          <a:bodyPr wrap="none">
            <a:spAutoFit/>
          </a:bodyPr>
          <a:lstStyle/>
          <a:p>
            <a:r>
              <a:rPr lang="en-US" sz="2800" dirty="0" smtClean="0">
                <a:latin typeface="Times New Roman" pitchFamily="18" charset="0"/>
                <a:cs typeface="Times New Roman" pitchFamily="18" charset="0"/>
              </a:rPr>
              <a:t>N</a:t>
            </a:r>
            <a:r>
              <a:rPr lang="en-US" sz="2800" baseline="-25000" dirty="0" smtClean="0">
                <a:latin typeface="Times New Roman" pitchFamily="18" charset="0"/>
                <a:cs typeface="Times New Roman" pitchFamily="18" charset="0"/>
              </a:rPr>
              <a:t>2</a:t>
            </a:r>
            <a:endParaRPr lang="en-US" sz="2800" baseline="-250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lnSpcReduction="10000"/>
          </a:bodyPr>
          <a:lstStyle/>
          <a:p>
            <a:r>
              <a:rPr lang="en-US" b="1" dirty="0" smtClean="0">
                <a:latin typeface="Times New Roman" pitchFamily="18" charset="0"/>
                <a:cs typeface="Times New Roman" pitchFamily="18" charset="0"/>
              </a:rPr>
              <a:t>Voltage ratio:</a:t>
            </a:r>
          </a:p>
          <a:p>
            <a:pPr>
              <a:buNone/>
            </a:pPr>
            <a:r>
              <a:rPr lang="en-US" dirty="0" smtClean="0">
                <a:latin typeface="Times New Roman" pitchFamily="18" charset="0"/>
                <a:cs typeface="Times New Roman" pitchFamily="18" charset="0"/>
              </a:rPr>
              <a:t>		The ratio of the primary and secondary terminal voltages (i.e. V</a:t>
            </a:r>
            <a:r>
              <a:rPr lang="en-US" baseline="-25000" dirty="0" smtClean="0">
                <a:latin typeface="Times New Roman" pitchFamily="18" charset="0"/>
                <a:cs typeface="Times New Roman" pitchFamily="18" charset="0"/>
              </a:rPr>
              <a:t>1 </a:t>
            </a:r>
            <a:r>
              <a:rPr lang="en-US" dirty="0" smtClean="0">
                <a:latin typeface="Times New Roman" pitchFamily="18" charset="0"/>
                <a:cs typeface="Times New Roman" pitchFamily="18" charset="0"/>
              </a:rPr>
              <a:t>&amp;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is called as the voltage ratio.</a:t>
            </a:r>
          </a:p>
          <a:p>
            <a:r>
              <a:rPr lang="en-US" b="1" dirty="0" smtClean="0">
                <a:latin typeface="Times New Roman" pitchFamily="18" charset="0"/>
                <a:cs typeface="Times New Roman" pitchFamily="18" charset="0"/>
              </a:rPr>
              <a:t>Transformation ratio (k):</a:t>
            </a:r>
          </a:p>
          <a:p>
            <a:pPr>
              <a:buNone/>
            </a:pPr>
            <a:r>
              <a:rPr lang="en-US" dirty="0" smtClean="0">
                <a:latin typeface="Times New Roman" pitchFamily="18" charset="0"/>
                <a:cs typeface="Times New Roman" pitchFamily="18" charset="0"/>
              </a:rPr>
              <a:t>		The transformation ratio for voltage is defined as the ratio of secondary voltage to the primary voltage of a transformer.</a:t>
            </a:r>
          </a:p>
          <a:p>
            <a:pPr>
              <a:buNone/>
            </a:pPr>
            <a:r>
              <a:rPr lang="en-US" dirty="0" smtClean="0"/>
              <a:t>      </a:t>
            </a:r>
            <a:r>
              <a:rPr lang="en-US" sz="2800" dirty="0" smtClean="0">
                <a:latin typeface="Times New Roman" pitchFamily="18" charset="0"/>
                <a:cs typeface="Times New Roman" pitchFamily="18" charset="0"/>
              </a:rPr>
              <a:t>∴ K = V</a:t>
            </a:r>
            <a:r>
              <a:rPr lang="en-US" sz="2800" baseline="-25000" dirty="0" smtClean="0">
                <a:latin typeface="Times New Roman" pitchFamily="18" charset="0"/>
                <a:cs typeface="Times New Roman" pitchFamily="18" charset="0"/>
              </a:rPr>
              <a:t>2</a:t>
            </a:r>
            <a:r>
              <a:rPr lang="en-US" sz="2800" dirty="0" smtClean="0">
                <a:latin typeface="Times New Roman" pitchFamily="18" charset="0"/>
                <a:cs typeface="Times New Roman" pitchFamily="18" charset="0"/>
              </a:rPr>
              <a:t>  = E</a:t>
            </a:r>
            <a:r>
              <a:rPr lang="en-US" sz="2800" baseline="-25000" dirty="0" smtClean="0">
                <a:latin typeface="Times New Roman" pitchFamily="18" charset="0"/>
                <a:cs typeface="Times New Roman" pitchFamily="18" charset="0"/>
              </a:rPr>
              <a:t>2</a:t>
            </a:r>
            <a:r>
              <a:rPr lang="en-US" sz="2800" dirty="0" smtClean="0">
                <a:latin typeface="Times New Roman" pitchFamily="18" charset="0"/>
                <a:cs typeface="Times New Roman" pitchFamily="18" charset="0"/>
              </a:rPr>
              <a:t>  =  N</a:t>
            </a:r>
            <a:r>
              <a:rPr lang="en-US" sz="2800" baseline="-25000" dirty="0" smtClean="0">
                <a:latin typeface="Times New Roman" pitchFamily="18" charset="0"/>
                <a:cs typeface="Times New Roman" pitchFamily="18" charset="0"/>
              </a:rPr>
              <a:t>2                       </a:t>
            </a:r>
            <a:r>
              <a:rPr lang="en-US" sz="2800" dirty="0" smtClean="0">
                <a:latin typeface="Times New Roman" pitchFamily="18" charset="0"/>
                <a:cs typeface="Times New Roman" pitchFamily="18" charset="0"/>
              </a:rPr>
              <a:t>    ……(5)</a:t>
            </a:r>
            <a:endParaRPr lang="en-US" sz="2800" baseline="-25000" dirty="0" smtClean="0"/>
          </a:p>
        </p:txBody>
      </p:sp>
      <p:cxnSp>
        <p:nvCxnSpPr>
          <p:cNvPr id="5" name="Straight Connector 4"/>
          <p:cNvCxnSpPr/>
          <p:nvPr/>
        </p:nvCxnSpPr>
        <p:spPr>
          <a:xfrm>
            <a:off x="1905000" y="6019800"/>
            <a:ext cx="533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743200" y="6019800"/>
            <a:ext cx="533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657600" y="6019800"/>
            <a:ext cx="533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743200" y="6019800"/>
            <a:ext cx="685800" cy="523220"/>
          </a:xfrm>
          <a:prstGeom prst="rect">
            <a:avLst/>
          </a:prstGeom>
          <a:noFill/>
        </p:spPr>
        <p:txBody>
          <a:bodyPr wrap="square" rtlCol="0">
            <a:spAutoFit/>
          </a:bodyPr>
          <a:lstStyle/>
          <a:p>
            <a:r>
              <a:rPr lang="en-US" sz="2800" dirty="0" smtClean="0">
                <a:latin typeface="Times New Roman" pitchFamily="18" charset="0"/>
                <a:cs typeface="Times New Roman" pitchFamily="18" charset="0"/>
              </a:rPr>
              <a:t>E</a:t>
            </a:r>
            <a:r>
              <a:rPr lang="en-US" sz="2800" baseline="-25000" dirty="0" smtClean="0">
                <a:latin typeface="Times New Roman" pitchFamily="18" charset="0"/>
                <a:cs typeface="Times New Roman" pitchFamily="18" charset="0"/>
              </a:rPr>
              <a:t>1</a:t>
            </a:r>
            <a:endParaRPr lang="en-US" sz="2800" baseline="-25000" dirty="0">
              <a:latin typeface="Times New Roman" pitchFamily="18" charset="0"/>
              <a:cs typeface="Times New Roman" pitchFamily="18" charset="0"/>
            </a:endParaRPr>
          </a:p>
        </p:txBody>
      </p:sp>
      <p:sp>
        <p:nvSpPr>
          <p:cNvPr id="13" name="TextBox 12"/>
          <p:cNvSpPr txBox="1"/>
          <p:nvPr/>
        </p:nvSpPr>
        <p:spPr>
          <a:xfrm>
            <a:off x="1905000" y="5943600"/>
            <a:ext cx="685800" cy="523220"/>
          </a:xfrm>
          <a:prstGeom prst="rect">
            <a:avLst/>
          </a:prstGeom>
          <a:noFill/>
        </p:spPr>
        <p:txBody>
          <a:bodyPr wrap="square" rtlCol="0">
            <a:spAutoFit/>
          </a:bodyPr>
          <a:lstStyle/>
          <a:p>
            <a:r>
              <a:rPr lang="en-US" sz="2800" dirty="0" smtClean="0">
                <a:latin typeface="Times New Roman" pitchFamily="18" charset="0"/>
                <a:cs typeface="Times New Roman" pitchFamily="18" charset="0"/>
              </a:rPr>
              <a:t>V</a:t>
            </a:r>
            <a:r>
              <a:rPr lang="en-US" sz="2800" baseline="-25000" dirty="0" smtClean="0">
                <a:latin typeface="Times New Roman" pitchFamily="18" charset="0"/>
                <a:cs typeface="Times New Roman" pitchFamily="18" charset="0"/>
              </a:rPr>
              <a:t>1</a:t>
            </a:r>
            <a:endParaRPr lang="en-US" sz="2800" baseline="-25000" dirty="0">
              <a:latin typeface="Times New Roman" pitchFamily="18" charset="0"/>
              <a:cs typeface="Times New Roman" pitchFamily="18" charset="0"/>
            </a:endParaRPr>
          </a:p>
        </p:txBody>
      </p:sp>
      <p:sp>
        <p:nvSpPr>
          <p:cNvPr id="14" name="TextBox 13"/>
          <p:cNvSpPr txBox="1"/>
          <p:nvPr/>
        </p:nvSpPr>
        <p:spPr>
          <a:xfrm>
            <a:off x="3657600" y="5943600"/>
            <a:ext cx="685800" cy="523220"/>
          </a:xfrm>
          <a:prstGeom prst="rect">
            <a:avLst/>
          </a:prstGeom>
          <a:noFill/>
        </p:spPr>
        <p:txBody>
          <a:bodyPr wrap="square" rtlCol="0">
            <a:spAutoFit/>
          </a:bodyPr>
          <a:lstStyle/>
          <a:p>
            <a:r>
              <a:rPr lang="en-US" sz="2800" dirty="0" smtClean="0">
                <a:latin typeface="Times New Roman" pitchFamily="18" charset="0"/>
                <a:cs typeface="Times New Roman" pitchFamily="18" charset="0"/>
              </a:rPr>
              <a:t>N</a:t>
            </a:r>
            <a:r>
              <a:rPr lang="en-US" sz="2800" baseline="-25000" dirty="0" smtClean="0">
                <a:latin typeface="Times New Roman" pitchFamily="18" charset="0"/>
                <a:cs typeface="Times New Roman" pitchFamily="18" charset="0"/>
              </a:rPr>
              <a:t>1</a:t>
            </a:r>
            <a:endParaRPr lang="en-US" sz="2800" baseline="-250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latin typeface="Times New Roman" pitchFamily="18" charset="0"/>
                <a:cs typeface="Times New Roman" pitchFamily="18" charset="0"/>
              </a:rPr>
              <a:t>Turns ratio:</a:t>
            </a:r>
          </a:p>
          <a:p>
            <a:pPr>
              <a:buNone/>
            </a:pPr>
            <a:r>
              <a:rPr lang="en-US" dirty="0" smtClean="0">
                <a:latin typeface="Times New Roman" pitchFamily="18" charset="0"/>
                <a:cs typeface="Times New Roman" pitchFamily="18" charset="0"/>
              </a:rPr>
              <a:t>		The turns ratio of a transformer is defined as the ratio of the number of primary turns to the number of secondary turns.</a:t>
            </a:r>
          </a:p>
          <a:p>
            <a:pPr>
              <a:buNone/>
            </a:pPr>
            <a:r>
              <a:rPr lang="en-US" dirty="0" smtClean="0">
                <a:latin typeface="Times New Roman" pitchFamily="18" charset="0"/>
                <a:cs typeface="Times New Roman" pitchFamily="18" charset="0"/>
              </a:rPr>
              <a:t>               ∴ turns ratio = N</a:t>
            </a:r>
            <a:r>
              <a:rPr lang="en-US" baseline="-25000" dirty="0" smtClean="0">
                <a:latin typeface="Times New Roman" pitchFamily="18" charset="0"/>
                <a:cs typeface="Times New Roman" pitchFamily="18" charset="0"/>
              </a:rPr>
              <a:t>1                  </a:t>
            </a:r>
            <a:r>
              <a:rPr lang="en-US" dirty="0" smtClean="0">
                <a:latin typeface="Times New Roman" pitchFamily="18" charset="0"/>
                <a:cs typeface="Times New Roman" pitchFamily="18" charset="0"/>
              </a:rPr>
              <a:t>           …….(6)</a:t>
            </a:r>
            <a:endParaRPr lang="en-US" baseline="-25000"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Types of transformers based on the value of K:</a:t>
            </a:r>
          </a:p>
          <a:p>
            <a:pPr marL="514350" indent="-514350">
              <a:buAutoNum type="arabicPeriod"/>
            </a:pPr>
            <a:r>
              <a:rPr lang="en-US" dirty="0" smtClean="0">
                <a:latin typeface="Times New Roman" pitchFamily="18" charset="0"/>
                <a:cs typeface="Times New Roman" pitchFamily="18" charset="0"/>
              </a:rPr>
              <a:t>Step up transformer:</a:t>
            </a:r>
          </a:p>
          <a:p>
            <a:pPr marL="514350" indent="-514350">
              <a:buNone/>
            </a:pPr>
            <a:r>
              <a:rPr lang="en-US" dirty="0" smtClean="0">
                <a:latin typeface="Times New Roman" pitchFamily="18" charset="0"/>
                <a:cs typeface="Times New Roman" pitchFamily="18" charset="0"/>
              </a:rPr>
              <a:t>		If  K &gt; 1 or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&gt; V</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is called step up transformer.</a:t>
            </a:r>
          </a:p>
          <a:p>
            <a:pPr marL="514350" indent="-514350">
              <a:buAutoNum type="arabicPeriod" startAt="2"/>
            </a:pPr>
            <a:r>
              <a:rPr lang="en-US" dirty="0" smtClean="0">
                <a:latin typeface="Times New Roman" pitchFamily="18" charset="0"/>
                <a:cs typeface="Times New Roman" pitchFamily="18" charset="0"/>
              </a:rPr>
              <a:t>Step down transformer:</a:t>
            </a:r>
          </a:p>
          <a:p>
            <a:pPr marL="514350" indent="-514350">
              <a:buNone/>
            </a:pPr>
            <a:r>
              <a:rPr lang="en-US" dirty="0" smtClean="0">
                <a:latin typeface="Times New Roman" pitchFamily="18" charset="0"/>
                <a:cs typeface="Times New Roman" pitchFamily="18" charset="0"/>
              </a:rPr>
              <a:t>		If  K &lt; 1 or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&lt; V</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is called step down transformer.   </a:t>
            </a:r>
          </a:p>
          <a:p>
            <a:pPr>
              <a:buNone/>
            </a:pPr>
            <a:r>
              <a:rPr lang="en-US" dirty="0" smtClean="0">
                <a:latin typeface="Times New Roman" pitchFamily="18" charset="0"/>
                <a:cs typeface="Times New Roman" pitchFamily="18" charset="0"/>
              </a:rPr>
              <a:t>       </a:t>
            </a:r>
          </a:p>
        </p:txBody>
      </p:sp>
      <p:cxnSp>
        <p:nvCxnSpPr>
          <p:cNvPr id="5" name="Straight Connector 4"/>
          <p:cNvCxnSpPr/>
          <p:nvPr/>
        </p:nvCxnSpPr>
        <p:spPr>
          <a:xfrm>
            <a:off x="3581400" y="33528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581400" y="3276600"/>
            <a:ext cx="609600" cy="477054"/>
          </a:xfrm>
          <a:prstGeom prst="rect">
            <a:avLst/>
          </a:prstGeom>
          <a:noFill/>
        </p:spPr>
        <p:txBody>
          <a:bodyPr wrap="square" rtlCol="0">
            <a:spAutoFit/>
          </a:bodyPr>
          <a:lstStyle/>
          <a:p>
            <a:r>
              <a:rPr lang="en-US" sz="2500" dirty="0" smtClean="0">
                <a:latin typeface="Times New Roman" pitchFamily="18" charset="0"/>
                <a:cs typeface="Times New Roman" pitchFamily="18" charset="0"/>
              </a:rPr>
              <a:t>N</a:t>
            </a:r>
            <a:r>
              <a:rPr lang="en-US" sz="2500" baseline="-25000" dirty="0" smtClean="0">
                <a:latin typeface="Times New Roman" pitchFamily="18" charset="0"/>
                <a:cs typeface="Times New Roman" pitchFamily="18" charset="0"/>
              </a:rPr>
              <a:t>2</a:t>
            </a:r>
            <a:endParaRPr lang="en-US" sz="2500" baseline="-250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dirty="0" smtClean="0"/>
              <a:t>3. </a:t>
            </a:r>
            <a:r>
              <a:rPr lang="en-US" dirty="0" smtClean="0">
                <a:latin typeface="Times New Roman" pitchFamily="18" charset="0"/>
                <a:cs typeface="Times New Roman" pitchFamily="18" charset="0"/>
              </a:rPr>
              <a:t>One-to-one transformer:</a:t>
            </a:r>
          </a:p>
          <a:p>
            <a:pPr>
              <a:buNone/>
            </a:pPr>
            <a:r>
              <a:rPr lang="en-US" dirty="0" smtClean="0">
                <a:latin typeface="Times New Roman" pitchFamily="18" charset="0"/>
                <a:cs typeface="Times New Roman" pitchFamily="18" charset="0"/>
              </a:rPr>
              <a:t>		If K=1 or V</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is called as a one-to-one transformer. It is also known as the isolation transformer.</a:t>
            </a:r>
          </a:p>
          <a:p>
            <a:pPr>
              <a:buNone/>
            </a:pP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Current ratios:</a:t>
            </a:r>
          </a:p>
          <a:p>
            <a:pPr>
              <a:buFont typeface="Wingdings" pitchFamily="2" charset="2"/>
              <a:buChar char="Ø"/>
            </a:pPr>
            <a:r>
              <a:rPr lang="en-US" dirty="0" smtClean="0">
                <a:latin typeface="Times New Roman" pitchFamily="18" charset="0"/>
                <a:cs typeface="Times New Roman" pitchFamily="18" charset="0"/>
              </a:rPr>
              <a:t>The transformer transfer electrical power from one side to the other (primary to secondary) with a very high efficiency (η).</a:t>
            </a:r>
          </a:p>
          <a:p>
            <a:pPr>
              <a:buFont typeface="Wingdings" pitchFamily="2" charset="2"/>
              <a:buChar char="Ø"/>
            </a:pPr>
            <a:r>
              <a:rPr lang="en-US" dirty="0" smtClean="0">
                <a:latin typeface="Times New Roman" pitchFamily="18" charset="0"/>
                <a:cs typeface="Times New Roman" pitchFamily="18" charset="0"/>
              </a:rPr>
              <a:t>If we assume that the power loss taking place in the transformer is very low (η = 100%) then, we can write that</a:t>
            </a:r>
          </a:p>
          <a:p>
            <a:pPr>
              <a:buNone/>
            </a:pPr>
            <a:r>
              <a:rPr lang="en-US" dirty="0" smtClean="0">
                <a:latin typeface="Times New Roman" pitchFamily="18" charset="0"/>
                <a:cs typeface="Times New Roman" pitchFamily="18" charset="0"/>
              </a:rPr>
              <a:t>                 power input = power output</a:t>
            </a:r>
          </a:p>
          <a:p>
            <a:pPr>
              <a:buNone/>
            </a:pPr>
            <a:r>
              <a:rPr lang="en-US" dirty="0" smtClean="0">
                <a:latin typeface="Times New Roman" pitchFamily="18" charset="0"/>
                <a:cs typeface="Times New Roman" pitchFamily="18" charset="0"/>
              </a:rPr>
              <a:t>              ∴ V</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I</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cos ø</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I</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cos ø</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…….(7)</a:t>
            </a:r>
          </a:p>
          <a:p>
            <a:pPr>
              <a:buNone/>
            </a:pPr>
            <a:r>
              <a:rPr lang="en-US" dirty="0" smtClean="0">
                <a:latin typeface="Times New Roman" pitchFamily="18" charset="0"/>
                <a:cs typeface="Times New Roman" pitchFamily="18" charset="0"/>
              </a:rPr>
              <a:t>    where I</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and I</a:t>
            </a:r>
            <a:r>
              <a:rPr lang="en-US" baseline="-25000" dirty="0" smtClean="0">
                <a:latin typeface="Times New Roman" pitchFamily="18" charset="0"/>
                <a:cs typeface="Times New Roman" pitchFamily="18" charset="0"/>
              </a:rPr>
              <a:t>2  </a:t>
            </a:r>
            <a:r>
              <a:rPr lang="en-US" dirty="0" smtClean="0">
                <a:latin typeface="Times New Roman" pitchFamily="18" charset="0"/>
                <a:cs typeface="Times New Roman" pitchFamily="18" charset="0"/>
              </a:rPr>
              <a:t>are the RMS values of the primary and secondary currents of the transformer respectively.</a:t>
            </a:r>
            <a:endParaRPr lang="en-US" baseline="-250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sz="3000" dirty="0" smtClean="0">
                <a:latin typeface="Times New Roman" pitchFamily="18" charset="0"/>
                <a:cs typeface="Times New Roman" pitchFamily="18" charset="0"/>
              </a:rPr>
              <a:t>cos ø</a:t>
            </a:r>
            <a:r>
              <a:rPr lang="en-US" sz="3000" baseline="-25000" dirty="0" smtClean="0">
                <a:latin typeface="Times New Roman" pitchFamily="18" charset="0"/>
                <a:cs typeface="Times New Roman" pitchFamily="18" charset="0"/>
              </a:rPr>
              <a:t>1 </a:t>
            </a:r>
            <a:r>
              <a:rPr lang="en-US" sz="3000" dirty="0" smtClean="0">
                <a:latin typeface="Times New Roman" pitchFamily="18" charset="0"/>
                <a:cs typeface="Times New Roman" pitchFamily="18" charset="0"/>
              </a:rPr>
              <a:t>and cos ø</a:t>
            </a:r>
            <a:r>
              <a:rPr lang="en-US" sz="3000" baseline="-25000" dirty="0" smtClean="0">
                <a:latin typeface="Times New Roman" pitchFamily="18" charset="0"/>
                <a:cs typeface="Times New Roman" pitchFamily="18" charset="0"/>
              </a:rPr>
              <a:t>2</a:t>
            </a:r>
            <a:r>
              <a:rPr lang="en-US" sz="3000" dirty="0" smtClean="0">
                <a:latin typeface="Times New Roman" pitchFamily="18" charset="0"/>
                <a:cs typeface="Times New Roman" pitchFamily="18" charset="0"/>
              </a:rPr>
              <a:t> are the power factors of the primary  and secondary sides of the transformer. Practically they are of same value.</a:t>
            </a:r>
          </a:p>
          <a:p>
            <a:pPr>
              <a:buNone/>
            </a:pPr>
            <a:r>
              <a:rPr lang="en-US" sz="3000" dirty="0" smtClean="0">
                <a:latin typeface="Times New Roman" pitchFamily="18" charset="0"/>
                <a:cs typeface="Times New Roman" pitchFamily="18" charset="0"/>
              </a:rPr>
              <a:t>         ∴ cos ø</a:t>
            </a:r>
            <a:r>
              <a:rPr lang="en-US" sz="3000" baseline="-25000" dirty="0" smtClean="0">
                <a:latin typeface="Times New Roman" pitchFamily="18" charset="0"/>
                <a:cs typeface="Times New Roman" pitchFamily="18" charset="0"/>
              </a:rPr>
              <a:t>1 </a:t>
            </a:r>
            <a:r>
              <a:rPr lang="en-US" sz="3000" dirty="0" smtClean="0">
                <a:latin typeface="Times New Roman" pitchFamily="18" charset="0"/>
                <a:cs typeface="Times New Roman" pitchFamily="18" charset="0"/>
              </a:rPr>
              <a:t>= cos ø</a:t>
            </a:r>
            <a:r>
              <a:rPr lang="en-US" sz="3000" baseline="-25000" dirty="0" smtClean="0">
                <a:latin typeface="Times New Roman" pitchFamily="18" charset="0"/>
                <a:cs typeface="Times New Roman" pitchFamily="18" charset="0"/>
              </a:rPr>
              <a:t>2</a:t>
            </a:r>
            <a:r>
              <a:rPr lang="en-US" sz="3000" dirty="0" smtClean="0">
                <a:latin typeface="Times New Roman" pitchFamily="18" charset="0"/>
                <a:cs typeface="Times New Roman" pitchFamily="18" charset="0"/>
              </a:rPr>
              <a:t>             …..(8)</a:t>
            </a:r>
          </a:p>
          <a:p>
            <a:pPr>
              <a:buNone/>
            </a:pPr>
            <a:r>
              <a:rPr lang="en-US" sz="3000" dirty="0" smtClean="0">
                <a:latin typeface="Times New Roman" pitchFamily="18" charset="0"/>
                <a:cs typeface="Times New Roman" pitchFamily="18" charset="0"/>
              </a:rPr>
              <a:t>         ∴ V</a:t>
            </a:r>
            <a:r>
              <a:rPr lang="en-US" sz="3000" baseline="-25000" dirty="0" smtClean="0">
                <a:latin typeface="Times New Roman" pitchFamily="18" charset="0"/>
                <a:cs typeface="Times New Roman" pitchFamily="18" charset="0"/>
              </a:rPr>
              <a:t>1</a:t>
            </a:r>
            <a:r>
              <a:rPr lang="en-US" sz="3000" dirty="0" smtClean="0">
                <a:latin typeface="Times New Roman" pitchFamily="18" charset="0"/>
                <a:cs typeface="Times New Roman" pitchFamily="18" charset="0"/>
              </a:rPr>
              <a:t> I</a:t>
            </a:r>
            <a:r>
              <a:rPr lang="en-US" sz="3000" baseline="-25000" dirty="0" smtClean="0">
                <a:latin typeface="Times New Roman" pitchFamily="18" charset="0"/>
                <a:cs typeface="Times New Roman" pitchFamily="18" charset="0"/>
              </a:rPr>
              <a:t>1</a:t>
            </a:r>
            <a:r>
              <a:rPr lang="en-US" sz="3000" dirty="0" smtClean="0">
                <a:latin typeface="Times New Roman" pitchFamily="18" charset="0"/>
                <a:cs typeface="Times New Roman" pitchFamily="18" charset="0"/>
              </a:rPr>
              <a:t> = V</a:t>
            </a:r>
            <a:r>
              <a:rPr lang="en-US" sz="3000" baseline="-25000" dirty="0" smtClean="0">
                <a:latin typeface="Times New Roman" pitchFamily="18" charset="0"/>
                <a:cs typeface="Times New Roman" pitchFamily="18" charset="0"/>
              </a:rPr>
              <a:t>2</a:t>
            </a:r>
            <a:r>
              <a:rPr lang="en-US" sz="3000" dirty="0" smtClean="0">
                <a:latin typeface="Times New Roman" pitchFamily="18" charset="0"/>
                <a:cs typeface="Times New Roman" pitchFamily="18" charset="0"/>
              </a:rPr>
              <a:t> I</a:t>
            </a:r>
            <a:r>
              <a:rPr lang="en-US" sz="3000" baseline="-25000" dirty="0" smtClean="0">
                <a:latin typeface="Times New Roman" pitchFamily="18" charset="0"/>
                <a:cs typeface="Times New Roman" pitchFamily="18" charset="0"/>
              </a:rPr>
              <a:t>2</a:t>
            </a:r>
            <a:r>
              <a:rPr lang="en-US" sz="3000" dirty="0" smtClean="0">
                <a:latin typeface="Times New Roman" pitchFamily="18" charset="0"/>
                <a:cs typeface="Times New Roman" pitchFamily="18" charset="0"/>
              </a:rPr>
              <a:t>                 …..(9)</a:t>
            </a:r>
          </a:p>
          <a:p>
            <a:pPr>
              <a:buNone/>
            </a:pPr>
            <a:r>
              <a:rPr lang="en-US" sz="3000" dirty="0" smtClean="0">
                <a:latin typeface="Times New Roman" pitchFamily="18" charset="0"/>
                <a:cs typeface="Times New Roman" pitchFamily="18" charset="0"/>
              </a:rPr>
              <a:t>         ∴ I</a:t>
            </a:r>
            <a:r>
              <a:rPr lang="en-US" sz="3000" baseline="-25000" dirty="0" smtClean="0">
                <a:latin typeface="Times New Roman" pitchFamily="18" charset="0"/>
                <a:cs typeface="Times New Roman" pitchFamily="18" charset="0"/>
              </a:rPr>
              <a:t>1         </a:t>
            </a:r>
            <a:r>
              <a:rPr lang="en-US" sz="3000" dirty="0" smtClean="0">
                <a:latin typeface="Times New Roman" pitchFamily="18" charset="0"/>
                <a:cs typeface="Times New Roman" pitchFamily="18" charset="0"/>
              </a:rPr>
              <a:t>V</a:t>
            </a:r>
            <a:r>
              <a:rPr lang="en-US" sz="3000" baseline="-25000" dirty="0" smtClean="0">
                <a:latin typeface="Times New Roman" pitchFamily="18" charset="0"/>
                <a:cs typeface="Times New Roman" pitchFamily="18" charset="0"/>
              </a:rPr>
              <a:t>2        </a:t>
            </a:r>
            <a:r>
              <a:rPr lang="en-US" sz="3000" dirty="0" smtClean="0">
                <a:latin typeface="Times New Roman" pitchFamily="18" charset="0"/>
                <a:cs typeface="Times New Roman" pitchFamily="18" charset="0"/>
              </a:rPr>
              <a:t>N</a:t>
            </a:r>
            <a:r>
              <a:rPr lang="en-US" sz="3000" baseline="-25000" dirty="0" smtClean="0">
                <a:latin typeface="Times New Roman" pitchFamily="18" charset="0"/>
                <a:cs typeface="Times New Roman" pitchFamily="18" charset="0"/>
              </a:rPr>
              <a:t>2                        </a:t>
            </a:r>
            <a:r>
              <a:rPr lang="en-US" sz="3000" dirty="0" smtClean="0">
                <a:latin typeface="Times New Roman" pitchFamily="18" charset="0"/>
                <a:cs typeface="Times New Roman" pitchFamily="18" charset="0"/>
              </a:rPr>
              <a:t>…..(10)</a:t>
            </a:r>
          </a:p>
          <a:p>
            <a:pPr>
              <a:buNone/>
            </a:pPr>
            <a:endParaRPr lang="en-US" baseline="-25000" dirty="0" smtClean="0">
              <a:latin typeface="Times New Roman" pitchFamily="18" charset="0"/>
              <a:cs typeface="Times New Roman" pitchFamily="18" charset="0"/>
            </a:endParaRPr>
          </a:p>
          <a:p>
            <a:pPr>
              <a:buNone/>
            </a:pPr>
            <a:endParaRPr lang="en-US" baseline="-25000" dirty="0" smtClean="0">
              <a:latin typeface="Times New Roman" pitchFamily="18" charset="0"/>
              <a:cs typeface="Times New Roman" pitchFamily="18" charset="0"/>
            </a:endParaRPr>
          </a:p>
          <a:p>
            <a:pPr>
              <a:buFont typeface="Wingdings" pitchFamily="2" charset="2"/>
              <a:buChar char="Ø"/>
            </a:pPr>
            <a:r>
              <a:rPr lang="en-US" sz="3100" dirty="0" smtClean="0">
                <a:latin typeface="Times New Roman" pitchFamily="18" charset="0"/>
                <a:cs typeface="Times New Roman" pitchFamily="18" charset="0"/>
              </a:rPr>
              <a:t>This expression shows that the primary &amp; secondary currents are inversely proportional to the number of turns of the corresponding windings. </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endParaRPr lang="en-US" dirty="0" smtClean="0">
              <a:latin typeface="Times New Roman" pitchFamily="18" charset="0"/>
              <a:cs typeface="Times New Roman" pitchFamily="18" charset="0"/>
            </a:endParaRPr>
          </a:p>
        </p:txBody>
      </p:sp>
      <p:cxnSp>
        <p:nvCxnSpPr>
          <p:cNvPr id="5" name="Straight Connector 4"/>
          <p:cNvCxnSpPr/>
          <p:nvPr/>
        </p:nvCxnSpPr>
        <p:spPr>
          <a:xfrm>
            <a:off x="1524000" y="39624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981200" y="3733800"/>
            <a:ext cx="3048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a:t>
            </a:r>
            <a:endParaRPr lang="en-US" sz="3200" dirty="0">
              <a:latin typeface="Times New Roman" pitchFamily="18" charset="0"/>
              <a:cs typeface="Times New Roman" pitchFamily="18" charset="0"/>
            </a:endParaRPr>
          </a:p>
        </p:txBody>
      </p:sp>
      <p:cxnSp>
        <p:nvCxnSpPr>
          <p:cNvPr id="8" name="Straight Connector 7"/>
          <p:cNvCxnSpPr/>
          <p:nvPr/>
        </p:nvCxnSpPr>
        <p:spPr>
          <a:xfrm>
            <a:off x="2438400" y="3962400"/>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600200" y="3886200"/>
            <a:ext cx="685800" cy="461665"/>
          </a:xfrm>
          <a:prstGeom prst="rect">
            <a:avLst/>
          </a:prstGeom>
          <a:noFill/>
        </p:spPr>
        <p:txBody>
          <a:bodyPr wrap="square" rtlCol="0">
            <a:spAutoFit/>
          </a:bodyPr>
          <a:lstStyle/>
          <a:p>
            <a:r>
              <a:rPr lang="en-US" sz="2400" dirty="0" smtClean="0">
                <a:latin typeface="Times New Roman" pitchFamily="18" charset="0"/>
                <a:cs typeface="Times New Roman" pitchFamily="18" charset="0"/>
              </a:rPr>
              <a:t>I</a:t>
            </a:r>
            <a:r>
              <a:rPr lang="en-US" sz="2400" baseline="-25000" dirty="0" smtClean="0">
                <a:latin typeface="Times New Roman" pitchFamily="18" charset="0"/>
                <a:cs typeface="Times New Roman" pitchFamily="18" charset="0"/>
              </a:rPr>
              <a:t>2</a:t>
            </a:r>
            <a:endParaRPr lang="en-US" sz="2400" baseline="-25000" dirty="0">
              <a:latin typeface="Times New Roman" pitchFamily="18" charset="0"/>
              <a:cs typeface="Times New Roman" pitchFamily="18" charset="0"/>
            </a:endParaRPr>
          </a:p>
        </p:txBody>
      </p:sp>
      <p:sp>
        <p:nvSpPr>
          <p:cNvPr id="12" name="TextBox 11"/>
          <p:cNvSpPr txBox="1"/>
          <p:nvPr/>
        </p:nvSpPr>
        <p:spPr>
          <a:xfrm>
            <a:off x="2362200" y="3886200"/>
            <a:ext cx="762000" cy="461665"/>
          </a:xfrm>
          <a:prstGeom prst="rect">
            <a:avLst/>
          </a:prstGeom>
          <a:noFill/>
        </p:spPr>
        <p:txBody>
          <a:bodyPr wrap="square" rtlCol="0">
            <a:spAutoFit/>
          </a:bodyPr>
          <a:lstStyle/>
          <a:p>
            <a:r>
              <a:rPr lang="en-US" sz="2400" dirty="0" smtClean="0">
                <a:latin typeface="Times New Roman" pitchFamily="18" charset="0"/>
                <a:cs typeface="Times New Roman" pitchFamily="18" charset="0"/>
              </a:rPr>
              <a:t>V</a:t>
            </a:r>
            <a:r>
              <a:rPr lang="en-US" sz="2400" baseline="-25000" dirty="0" smtClean="0">
                <a:latin typeface="Times New Roman" pitchFamily="18" charset="0"/>
                <a:cs typeface="Times New Roman" pitchFamily="18" charset="0"/>
              </a:rPr>
              <a:t>1</a:t>
            </a:r>
            <a:endParaRPr lang="en-US" sz="2400" baseline="-25000" dirty="0">
              <a:latin typeface="Times New Roman" pitchFamily="18" charset="0"/>
              <a:cs typeface="Times New Roman" pitchFamily="18" charset="0"/>
            </a:endParaRPr>
          </a:p>
        </p:txBody>
      </p:sp>
      <p:sp>
        <p:nvSpPr>
          <p:cNvPr id="13" name="Rectangle 12"/>
          <p:cNvSpPr/>
          <p:nvPr/>
        </p:nvSpPr>
        <p:spPr>
          <a:xfrm>
            <a:off x="2743200" y="3733800"/>
            <a:ext cx="263098" cy="584775"/>
          </a:xfrm>
          <a:prstGeom prst="rect">
            <a:avLst/>
          </a:prstGeom>
        </p:spPr>
        <p:txBody>
          <a:bodyPr wrap="square">
            <a:spAutoFit/>
          </a:bodyPr>
          <a:lstStyle/>
          <a:p>
            <a:r>
              <a:rPr lang="en-US" sz="3200" dirty="0" smtClean="0">
                <a:latin typeface="Times New Roman" pitchFamily="18" charset="0"/>
                <a:cs typeface="Times New Roman" pitchFamily="18" charset="0"/>
              </a:rPr>
              <a:t>=</a:t>
            </a:r>
            <a:endParaRPr lang="en-US" sz="3200" dirty="0"/>
          </a:p>
        </p:txBody>
      </p:sp>
      <p:cxnSp>
        <p:nvCxnSpPr>
          <p:cNvPr id="15" name="Straight Connector 14"/>
          <p:cNvCxnSpPr/>
          <p:nvPr/>
        </p:nvCxnSpPr>
        <p:spPr>
          <a:xfrm>
            <a:off x="3200400" y="3962400"/>
            <a:ext cx="381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200400" y="3886200"/>
            <a:ext cx="510076" cy="461665"/>
          </a:xfrm>
          <a:prstGeom prst="rect">
            <a:avLst/>
          </a:prstGeom>
        </p:spPr>
        <p:txBody>
          <a:bodyPr wrap="square">
            <a:spAutoFit/>
          </a:bodyPr>
          <a:lstStyle/>
          <a:p>
            <a:r>
              <a:rPr lang="en-US" sz="2400" dirty="0" smtClean="0">
                <a:latin typeface="Times New Roman" pitchFamily="18" charset="0"/>
                <a:cs typeface="Times New Roman" pitchFamily="18" charset="0"/>
              </a:rPr>
              <a:t>N</a:t>
            </a:r>
            <a:r>
              <a:rPr lang="en-US" sz="2400" baseline="-25000" dirty="0" smtClean="0">
                <a:latin typeface="Times New Roman" pitchFamily="18" charset="0"/>
                <a:cs typeface="Times New Roman" pitchFamily="18" charset="0"/>
              </a:rPr>
              <a:t>1</a:t>
            </a:r>
            <a:endParaRPr lang="en-US" sz="2400" baseline="-25000"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Rating of Transformer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r>
              <a:rPr lang="en-US" dirty="0" smtClean="0">
                <a:latin typeface="Times New Roman" pitchFamily="18" charset="0"/>
                <a:cs typeface="Times New Roman" pitchFamily="18" charset="0"/>
              </a:rPr>
              <a:t>Generally the rating of a machine should indicate the power supplied by it. But incase of transformer, the output power is not constant.</a:t>
            </a:r>
          </a:p>
          <a:p>
            <a:r>
              <a:rPr lang="en-US" dirty="0" smtClean="0">
                <a:latin typeface="Times New Roman" pitchFamily="18" charset="0"/>
                <a:cs typeface="Times New Roman" pitchFamily="18" charset="0"/>
              </a:rPr>
              <a:t>It keeps changing with the load. The output power factor is also a function of load.</a:t>
            </a:r>
          </a:p>
          <a:p>
            <a:r>
              <a:rPr lang="en-US" dirty="0" smtClean="0">
                <a:latin typeface="Times New Roman" pitchFamily="18" charset="0"/>
                <a:cs typeface="Times New Roman" pitchFamily="18" charset="0"/>
              </a:rPr>
              <a:t>Hence rating of a transformer is expressed in terms of voltage and current as follows:</a:t>
            </a:r>
          </a:p>
          <a:p>
            <a:pPr>
              <a:buNone/>
            </a:pPr>
            <a:r>
              <a:rPr lang="en-US" dirty="0" smtClean="0">
                <a:latin typeface="Times New Roman" pitchFamily="18" charset="0"/>
                <a:cs typeface="Times New Roman" pitchFamily="18" charset="0"/>
              </a:rPr>
              <a:t>    </a:t>
            </a:r>
            <a:r>
              <a:rPr lang="en-US" sz="2600" b="1" dirty="0" smtClean="0">
                <a:latin typeface="Times New Roman" pitchFamily="18" charset="0"/>
                <a:cs typeface="Times New Roman" pitchFamily="18" charset="0"/>
              </a:rPr>
              <a:t>Rating of transformer = </a:t>
            </a:r>
            <a:r>
              <a:rPr lang="en-US" sz="2000" b="1" dirty="0" smtClean="0">
                <a:latin typeface="Times New Roman" pitchFamily="18" charset="0"/>
                <a:cs typeface="Times New Roman" pitchFamily="18" charset="0"/>
              </a:rPr>
              <a:t>Primary voltage x primary current </a:t>
            </a:r>
          </a:p>
          <a:p>
            <a:pPr>
              <a:buNone/>
            </a:pPr>
            <a:r>
              <a:rPr lang="en-US" sz="2200" b="1" dirty="0" smtClean="0">
                <a:latin typeface="Times New Roman" pitchFamily="18" charset="0"/>
                <a:cs typeface="Times New Roman" pitchFamily="18" charset="0"/>
              </a:rPr>
              <a:t>                                             </a:t>
            </a:r>
            <a:r>
              <a:rPr lang="en-US" sz="2600" b="1" dirty="0" smtClean="0">
                <a:latin typeface="Times New Roman" pitchFamily="18" charset="0"/>
                <a:cs typeface="Times New Roman" pitchFamily="18" charset="0"/>
              </a:rPr>
              <a:t>or  = </a:t>
            </a:r>
            <a:r>
              <a:rPr lang="en-US" sz="2000" b="1" dirty="0" smtClean="0">
                <a:latin typeface="Times New Roman" pitchFamily="18" charset="0"/>
                <a:cs typeface="Times New Roman" pitchFamily="18" charset="0"/>
              </a:rPr>
              <a:t>Secondary voltage x secondary </a:t>
            </a:r>
            <a:r>
              <a:rPr lang="en-US" sz="2000" b="1" dirty="0" smtClean="0"/>
              <a:t>current</a:t>
            </a:r>
            <a:endParaRPr lang="en-US" sz="20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20000"/>
          </a:bodyPr>
          <a:lstStyle/>
          <a:p>
            <a:r>
              <a:rPr lang="en-US" sz="3000" dirty="0" smtClean="0">
                <a:latin typeface="Times New Roman" pitchFamily="18" charset="0"/>
                <a:cs typeface="Times New Roman" pitchFamily="18" charset="0"/>
              </a:rPr>
              <a:t>As the voltage and current may or may not be in phase, the units of transformer rating are </a:t>
            </a:r>
            <a:r>
              <a:rPr lang="en-US" sz="3000" b="1" dirty="0" smtClean="0">
                <a:latin typeface="Times New Roman" pitchFamily="18" charset="0"/>
                <a:cs typeface="Times New Roman" pitchFamily="18" charset="0"/>
              </a:rPr>
              <a:t>Volt Ampere (VA) or kiloVolt-Ampere (kVA) or Mega Volt Ampere (MVA).</a:t>
            </a:r>
          </a:p>
          <a:p>
            <a:pPr>
              <a:buNone/>
            </a:pPr>
            <a:r>
              <a:rPr lang="en-US"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 Rating in VA or kVA or MVA = V</a:t>
            </a:r>
            <a:r>
              <a:rPr lang="en-US" sz="2800" baseline="-25000" dirty="0" smtClean="0">
                <a:latin typeface="Times New Roman" pitchFamily="18" charset="0"/>
                <a:cs typeface="Times New Roman" pitchFamily="18" charset="0"/>
              </a:rPr>
              <a:t>1</a:t>
            </a:r>
            <a:r>
              <a:rPr lang="en-US" sz="2800" dirty="0" smtClean="0">
                <a:latin typeface="Times New Roman" pitchFamily="18" charset="0"/>
                <a:cs typeface="Times New Roman" pitchFamily="18" charset="0"/>
              </a:rPr>
              <a:t> x I</a:t>
            </a:r>
            <a:r>
              <a:rPr lang="en-US" sz="2800" baseline="-25000" dirty="0" smtClean="0">
                <a:latin typeface="Times New Roman" pitchFamily="18" charset="0"/>
                <a:cs typeface="Times New Roman" pitchFamily="18" charset="0"/>
              </a:rPr>
              <a:t>1</a:t>
            </a:r>
            <a:r>
              <a:rPr lang="en-US" sz="2800" dirty="0" smtClean="0">
                <a:latin typeface="Times New Roman" pitchFamily="18" charset="0"/>
                <a:cs typeface="Times New Roman" pitchFamily="18" charset="0"/>
              </a:rPr>
              <a:t> = V</a:t>
            </a:r>
            <a:r>
              <a:rPr lang="en-US" sz="2800" baseline="-25000" dirty="0" smtClean="0">
                <a:latin typeface="Times New Roman" pitchFamily="18" charset="0"/>
                <a:cs typeface="Times New Roman" pitchFamily="18" charset="0"/>
              </a:rPr>
              <a:t>2</a:t>
            </a:r>
            <a:r>
              <a:rPr lang="en-US" sz="2800" dirty="0" smtClean="0">
                <a:latin typeface="Times New Roman" pitchFamily="18" charset="0"/>
                <a:cs typeface="Times New Roman" pitchFamily="18" charset="0"/>
              </a:rPr>
              <a:t> x I</a:t>
            </a:r>
            <a:r>
              <a:rPr lang="en-US" sz="2800" baseline="-25000" dirty="0" smtClean="0">
                <a:latin typeface="Times New Roman" pitchFamily="18" charset="0"/>
                <a:cs typeface="Times New Roman" pitchFamily="18" charset="0"/>
              </a:rPr>
              <a:t>2</a:t>
            </a:r>
          </a:p>
          <a:p>
            <a:r>
              <a:rPr lang="en-US" sz="2800" b="1" dirty="0" smtClean="0">
                <a:latin typeface="Times New Roman" pitchFamily="18" charset="0"/>
                <a:cs typeface="Times New Roman" pitchFamily="18" charset="0"/>
              </a:rPr>
              <a:t>Why is the transformer rated I VA or kVA?</a:t>
            </a:r>
          </a:p>
          <a:p>
            <a:pPr marL="514350" indent="-514350">
              <a:buFont typeface="Wingdings" pitchFamily="2" charset="2"/>
              <a:buChar char="Ø"/>
            </a:pPr>
            <a:r>
              <a:rPr lang="en-US" sz="2800" dirty="0" smtClean="0">
                <a:latin typeface="Times New Roman" pitchFamily="18" charset="0"/>
                <a:cs typeface="Times New Roman" pitchFamily="18" charset="0"/>
              </a:rPr>
              <a:t>There are two type of losses in a transformer;</a:t>
            </a:r>
            <a:br>
              <a:rPr lang="en-US" sz="2800" dirty="0" smtClean="0">
                <a:latin typeface="Times New Roman" pitchFamily="18" charset="0"/>
                <a:cs typeface="Times New Roman" pitchFamily="18" charset="0"/>
              </a:rPr>
            </a:br>
            <a:r>
              <a:rPr lang="en-US" sz="2800" b="1" i="1" dirty="0" smtClean="0">
                <a:latin typeface="Times New Roman" pitchFamily="18" charset="0"/>
                <a:cs typeface="Times New Roman" pitchFamily="18" charset="0"/>
              </a:rPr>
              <a:t>1. Copper Losses</a:t>
            </a: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b="1" i="1" dirty="0" smtClean="0">
                <a:latin typeface="Times New Roman" pitchFamily="18" charset="0"/>
                <a:cs typeface="Times New Roman" pitchFamily="18" charset="0"/>
              </a:rPr>
              <a:t>2. Iron Losses or Core Losses or  Insulation Losses</a:t>
            </a:r>
          </a:p>
          <a:p>
            <a:pPr marL="514350" indent="-514350">
              <a:buFont typeface="Wingdings" pitchFamily="2" charset="2"/>
              <a:buChar char="Ø"/>
            </a:pPr>
            <a:r>
              <a:rPr lang="en-US" sz="2800" dirty="0" smtClean="0">
                <a:latin typeface="Times New Roman" pitchFamily="18" charset="0"/>
                <a:cs typeface="Times New Roman" pitchFamily="18" charset="0"/>
              </a:rPr>
              <a:t>Copper losses ( I²R)depends on Current which passing through transformer winding while Iron Losses or Core Losses or  Insulation Losses depends on Voltage.</a:t>
            </a:r>
            <a:endParaRPr lang="en-US" sz="2800" b="1"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70000" lnSpcReduction="20000"/>
          </a:bodyPr>
          <a:lstStyle/>
          <a:p>
            <a:pPr>
              <a:buFont typeface="Wingdings" pitchFamily="2" charset="2"/>
              <a:buChar char="Ø"/>
            </a:pPr>
            <a:r>
              <a:rPr lang="en-US" sz="3400" dirty="0" smtClean="0">
                <a:latin typeface="Times New Roman" pitchFamily="18" charset="0"/>
                <a:cs typeface="Times New Roman" pitchFamily="18" charset="0"/>
              </a:rPr>
              <a:t>Hence the total losses depends on the volt ampere (VA) and not on the power factor. Therefore rating of transformer is in VA or kVA and not in kW.</a:t>
            </a:r>
          </a:p>
          <a:p>
            <a:pPr>
              <a:buNone/>
            </a:pPr>
            <a:endParaRPr lang="en-US" sz="3400" dirty="0" smtClean="0">
              <a:latin typeface="Times New Roman" pitchFamily="18" charset="0"/>
              <a:cs typeface="Times New Roman" pitchFamily="18" charset="0"/>
            </a:endParaRPr>
          </a:p>
          <a:p>
            <a:r>
              <a:rPr lang="en-US" sz="3400" b="1" dirty="0" smtClean="0">
                <a:latin typeface="Times New Roman" pitchFamily="18" charset="0"/>
                <a:cs typeface="Times New Roman" pitchFamily="18" charset="0"/>
              </a:rPr>
              <a:t>The complete rating of a transformer:</a:t>
            </a:r>
          </a:p>
          <a:p>
            <a:pPr>
              <a:buFont typeface="Wingdings" pitchFamily="2" charset="2"/>
              <a:buChar char="Ø"/>
            </a:pPr>
            <a:r>
              <a:rPr lang="en-US" sz="3400" dirty="0" smtClean="0">
                <a:latin typeface="Times New Roman" pitchFamily="18" charset="0"/>
                <a:cs typeface="Times New Roman" pitchFamily="18" charset="0"/>
              </a:rPr>
              <a:t>The complete rating of a transformer includes the ratio of primary and secondary voltages, kVA rating and supply frequencies as follows:</a:t>
            </a:r>
          </a:p>
          <a:p>
            <a:pPr>
              <a:buNone/>
            </a:pPr>
            <a:r>
              <a:rPr lang="en-US" sz="3400" dirty="0" smtClean="0">
                <a:latin typeface="Times New Roman" pitchFamily="18" charset="0"/>
                <a:cs typeface="Times New Roman" pitchFamily="18" charset="0"/>
              </a:rPr>
              <a:t>        3300 V/ 240 V , 5 kVA , 50 Hz</a:t>
            </a:r>
          </a:p>
          <a:p>
            <a:pPr>
              <a:buNone/>
            </a:pPr>
            <a:r>
              <a:rPr lang="en-US" sz="3400" dirty="0" smtClean="0">
                <a:latin typeface="Times New Roman" pitchFamily="18" charset="0"/>
                <a:cs typeface="Times New Roman" pitchFamily="18" charset="0"/>
              </a:rPr>
              <a:t>   where, 3300 V is primary voltage V</a:t>
            </a:r>
            <a:r>
              <a:rPr lang="en-US" sz="3400" baseline="-25000" dirty="0" smtClean="0">
                <a:latin typeface="Times New Roman" pitchFamily="18" charset="0"/>
                <a:cs typeface="Times New Roman" pitchFamily="18" charset="0"/>
              </a:rPr>
              <a:t>1</a:t>
            </a:r>
          </a:p>
          <a:p>
            <a:pPr>
              <a:buNone/>
            </a:pPr>
            <a:r>
              <a:rPr lang="en-US" sz="3400" dirty="0" smtClean="0">
                <a:latin typeface="Times New Roman" pitchFamily="18" charset="0"/>
                <a:cs typeface="Times New Roman" pitchFamily="18" charset="0"/>
              </a:rPr>
              <a:t>                 240 V is secondary voltage V</a:t>
            </a:r>
            <a:r>
              <a:rPr lang="en-US" sz="3400" baseline="-25000" dirty="0" smtClean="0">
                <a:latin typeface="Times New Roman" pitchFamily="18" charset="0"/>
                <a:cs typeface="Times New Roman" pitchFamily="18" charset="0"/>
              </a:rPr>
              <a:t>2</a:t>
            </a:r>
          </a:p>
          <a:p>
            <a:pPr>
              <a:buNone/>
            </a:pPr>
            <a:r>
              <a:rPr lang="en-US" sz="3400" dirty="0" smtClean="0">
                <a:latin typeface="Times New Roman" pitchFamily="18" charset="0"/>
                <a:cs typeface="Times New Roman" pitchFamily="18" charset="0"/>
              </a:rPr>
              <a:t>            5 kVA is kVA rating and 50 Hz is the supply frequency</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lnSpcReduction="10000"/>
          </a:bodyPr>
          <a:lstStyle/>
          <a:p>
            <a:r>
              <a:rPr lang="en-US" b="1" dirty="0" smtClean="0">
                <a:latin typeface="Times New Roman" pitchFamily="18" charset="0"/>
                <a:cs typeface="Times New Roman" pitchFamily="18" charset="0"/>
              </a:rPr>
              <a:t>Specifications of transformer:</a:t>
            </a:r>
          </a:p>
          <a:p>
            <a:pPr>
              <a:buFont typeface="Wingdings" pitchFamily="2" charset="2"/>
              <a:buChar char="Ø"/>
            </a:pPr>
            <a:r>
              <a:rPr lang="en-US" dirty="0" smtClean="0">
                <a:latin typeface="Times New Roman" pitchFamily="18" charset="0"/>
                <a:cs typeface="Times New Roman" pitchFamily="18" charset="0"/>
              </a:rPr>
              <a:t>When transformer is to be purchased, we have to consider following specifications:</a:t>
            </a:r>
          </a:p>
          <a:p>
            <a:pPr marL="514350" indent="-514350">
              <a:buAutoNum type="arabicPeriod"/>
            </a:pPr>
            <a:r>
              <a:rPr lang="en-US" dirty="0" smtClean="0">
                <a:latin typeface="Times New Roman" pitchFamily="18" charset="0"/>
                <a:cs typeface="Times New Roman" pitchFamily="18" charset="0"/>
              </a:rPr>
              <a:t>kVA rating                   2. Number of phases</a:t>
            </a:r>
          </a:p>
          <a:p>
            <a:pPr marL="514350" indent="-514350">
              <a:buNone/>
            </a:pPr>
            <a:r>
              <a:rPr lang="en-US" dirty="0" smtClean="0">
                <a:latin typeface="Times New Roman" pitchFamily="18" charset="0"/>
                <a:cs typeface="Times New Roman" pitchFamily="18" charset="0"/>
              </a:rPr>
              <a:t>3.  Primary voltage           4. Secondary voltage</a:t>
            </a:r>
          </a:p>
          <a:p>
            <a:pPr marL="514350" indent="-514350">
              <a:buNone/>
            </a:pPr>
            <a:r>
              <a:rPr lang="en-US" dirty="0" smtClean="0">
                <a:latin typeface="Times New Roman" pitchFamily="18" charset="0"/>
                <a:cs typeface="Times New Roman" pitchFamily="18" charset="0"/>
              </a:rPr>
              <a:t>5. Primary current            6. Secondary current</a:t>
            </a:r>
          </a:p>
          <a:p>
            <a:pPr marL="514350" indent="-514350">
              <a:buNone/>
            </a:pPr>
            <a:r>
              <a:rPr lang="en-US" dirty="0" smtClean="0">
                <a:latin typeface="Times New Roman" pitchFamily="18" charset="0"/>
                <a:cs typeface="Times New Roman" pitchFamily="18" charset="0"/>
              </a:rPr>
              <a:t>7. Frequency of operation  </a:t>
            </a:r>
          </a:p>
          <a:p>
            <a:pPr marL="514350" indent="-514350">
              <a:buNone/>
            </a:pPr>
            <a:r>
              <a:rPr lang="en-US" dirty="0" smtClean="0">
                <a:latin typeface="Times New Roman" pitchFamily="18" charset="0"/>
                <a:cs typeface="Times New Roman" pitchFamily="18" charset="0"/>
              </a:rPr>
              <a:t>8. Types of cooling </a:t>
            </a:r>
            <a:endParaRPr lang="en-US"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smtClean="0"/>
              <a:t> table 1 shows the typical specifications of a single phase transformer.</a:t>
            </a:r>
          </a:p>
          <a:p>
            <a:pPr>
              <a:buNone/>
            </a:pPr>
            <a:endParaRPr lang="en-US" dirty="0"/>
          </a:p>
        </p:txBody>
      </p:sp>
      <p:graphicFrame>
        <p:nvGraphicFramePr>
          <p:cNvPr id="4" name="Table 3"/>
          <p:cNvGraphicFramePr>
            <a:graphicFrameLocks noGrp="1"/>
          </p:cNvGraphicFramePr>
          <p:nvPr/>
        </p:nvGraphicFramePr>
        <p:xfrm>
          <a:off x="1447800" y="2819400"/>
          <a:ext cx="6096000" cy="3870960"/>
        </p:xfrm>
        <a:graphic>
          <a:graphicData uri="http://schemas.openxmlformats.org/drawingml/2006/table">
            <a:tbl>
              <a:tblPr firstRow="1" bandRow="1">
                <a:tableStyleId>{5C22544A-7EE6-4342-B048-85BDC9FD1C3A}</a:tableStyleId>
              </a:tblPr>
              <a:tblGrid>
                <a:gridCol w="914400"/>
                <a:gridCol w="3149600"/>
                <a:gridCol w="2032000"/>
              </a:tblGrid>
              <a:tr h="370840">
                <a:tc>
                  <a:txBody>
                    <a:bodyPr/>
                    <a:lstStyle/>
                    <a:p>
                      <a:pPr algn="ctr"/>
                      <a:r>
                        <a:rPr lang="en-US" sz="2000" b="1" dirty="0" smtClean="0">
                          <a:latin typeface="Times New Roman" pitchFamily="18" charset="0"/>
                          <a:cs typeface="Times New Roman" pitchFamily="18" charset="0"/>
                        </a:rPr>
                        <a:t>Sr. No.</a:t>
                      </a:r>
                      <a:endParaRPr lang="en-US" sz="2000" b="1" dirty="0">
                        <a:latin typeface="Times New Roman" pitchFamily="18" charset="0"/>
                        <a:cs typeface="Times New Roman" pitchFamily="18" charset="0"/>
                      </a:endParaRPr>
                    </a:p>
                  </a:txBody>
                  <a:tcPr/>
                </a:tc>
                <a:tc>
                  <a:txBody>
                    <a:bodyPr/>
                    <a:lstStyle/>
                    <a:p>
                      <a:pPr algn="ctr"/>
                      <a:r>
                        <a:rPr lang="en-US" sz="2000" b="1" dirty="0" smtClean="0">
                          <a:latin typeface="Times New Roman" pitchFamily="18" charset="0"/>
                          <a:cs typeface="Times New Roman" pitchFamily="18" charset="0"/>
                        </a:rPr>
                        <a:t>Specification/rating</a:t>
                      </a:r>
                      <a:endParaRPr lang="en-US" sz="2000" b="1" dirty="0">
                        <a:latin typeface="Times New Roman" pitchFamily="18" charset="0"/>
                        <a:cs typeface="Times New Roman" pitchFamily="18" charset="0"/>
                      </a:endParaRPr>
                    </a:p>
                  </a:txBody>
                  <a:tcPr/>
                </a:tc>
                <a:tc>
                  <a:txBody>
                    <a:bodyPr/>
                    <a:lstStyle/>
                    <a:p>
                      <a:pPr algn="ctr"/>
                      <a:r>
                        <a:rPr lang="en-US" sz="2000" b="1" dirty="0" smtClean="0">
                          <a:latin typeface="Times New Roman" pitchFamily="18" charset="0"/>
                          <a:cs typeface="Times New Roman" pitchFamily="18" charset="0"/>
                        </a:rPr>
                        <a:t>Value</a:t>
                      </a:r>
                      <a:endParaRPr lang="en-US" sz="2000" b="1" dirty="0">
                        <a:latin typeface="Times New Roman" pitchFamily="18" charset="0"/>
                        <a:cs typeface="Times New Roman" pitchFamily="18" charset="0"/>
                      </a:endParaRPr>
                    </a:p>
                  </a:txBody>
                  <a:tcPr/>
                </a:tc>
              </a:tr>
              <a:tr h="370840">
                <a:tc>
                  <a:txBody>
                    <a:bodyPr/>
                    <a:lstStyle/>
                    <a:p>
                      <a:pPr algn="ctr"/>
                      <a:r>
                        <a:rPr lang="en-US" sz="2000" dirty="0" smtClean="0">
                          <a:latin typeface="Times New Roman" pitchFamily="18" charset="0"/>
                          <a:cs typeface="Times New Roman" pitchFamily="18" charset="0"/>
                        </a:rPr>
                        <a:t>1.</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kVA rating</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5kVA</a:t>
                      </a:r>
                      <a:endParaRPr lang="en-US" sz="2000" dirty="0">
                        <a:latin typeface="Times New Roman" pitchFamily="18" charset="0"/>
                        <a:cs typeface="Times New Roman" pitchFamily="18" charset="0"/>
                      </a:endParaRPr>
                    </a:p>
                  </a:txBody>
                  <a:tcPr/>
                </a:tc>
              </a:tr>
              <a:tr h="370840">
                <a:tc>
                  <a:txBody>
                    <a:bodyPr/>
                    <a:lstStyle/>
                    <a:p>
                      <a:pPr algn="ctr"/>
                      <a:r>
                        <a:rPr lang="en-US" sz="2000" dirty="0" smtClean="0">
                          <a:latin typeface="Times New Roman" pitchFamily="18" charset="0"/>
                          <a:cs typeface="Times New Roman" pitchFamily="18" charset="0"/>
                        </a:rPr>
                        <a:t>2.</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Number of phases</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1</a:t>
                      </a:r>
                      <a:endParaRPr lang="en-US" sz="2000" dirty="0">
                        <a:latin typeface="Times New Roman" pitchFamily="18" charset="0"/>
                        <a:cs typeface="Times New Roman" pitchFamily="18" charset="0"/>
                      </a:endParaRPr>
                    </a:p>
                  </a:txBody>
                  <a:tcPr/>
                </a:tc>
              </a:tr>
              <a:tr h="370840">
                <a:tc>
                  <a:txBody>
                    <a:bodyPr/>
                    <a:lstStyle/>
                    <a:p>
                      <a:pPr algn="ctr"/>
                      <a:r>
                        <a:rPr lang="en-US" sz="2000" dirty="0" smtClean="0">
                          <a:latin typeface="Times New Roman" pitchFamily="18" charset="0"/>
                          <a:cs typeface="Times New Roman" pitchFamily="18" charset="0"/>
                        </a:rPr>
                        <a:t>3.</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Primary voltage V</a:t>
                      </a:r>
                      <a:r>
                        <a:rPr lang="en-US" sz="2000" baseline="-25000" dirty="0" smtClean="0">
                          <a:latin typeface="Times New Roman" pitchFamily="18" charset="0"/>
                          <a:cs typeface="Times New Roman" pitchFamily="18" charset="0"/>
                        </a:rPr>
                        <a:t>1</a:t>
                      </a:r>
                      <a:endParaRPr lang="en-US" sz="2000" baseline="-25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230 V</a:t>
                      </a:r>
                      <a:endParaRPr lang="en-US" sz="2000" dirty="0">
                        <a:latin typeface="Times New Roman" pitchFamily="18" charset="0"/>
                        <a:cs typeface="Times New Roman" pitchFamily="18" charset="0"/>
                      </a:endParaRPr>
                    </a:p>
                  </a:txBody>
                  <a:tcPr/>
                </a:tc>
              </a:tr>
              <a:tr h="370840">
                <a:tc>
                  <a:txBody>
                    <a:bodyPr/>
                    <a:lstStyle/>
                    <a:p>
                      <a:pPr algn="ctr"/>
                      <a:r>
                        <a:rPr lang="en-US" sz="2000" dirty="0" smtClean="0">
                          <a:latin typeface="Times New Roman" pitchFamily="18" charset="0"/>
                          <a:cs typeface="Times New Roman" pitchFamily="18" charset="0"/>
                        </a:rPr>
                        <a:t>4.</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Secondary voltage v</a:t>
                      </a:r>
                      <a:r>
                        <a:rPr lang="en-US" sz="2000" baseline="-25000" dirty="0" smtClean="0">
                          <a:latin typeface="Times New Roman" pitchFamily="18" charset="0"/>
                          <a:cs typeface="Times New Roman" pitchFamily="18" charset="0"/>
                        </a:rPr>
                        <a:t>2</a:t>
                      </a:r>
                      <a:endParaRPr lang="en-US" sz="2000" baseline="-25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100 V</a:t>
                      </a:r>
                      <a:endParaRPr lang="en-US" sz="2000" dirty="0">
                        <a:latin typeface="Times New Roman" pitchFamily="18" charset="0"/>
                        <a:cs typeface="Times New Roman" pitchFamily="18" charset="0"/>
                      </a:endParaRPr>
                    </a:p>
                  </a:txBody>
                  <a:tcPr/>
                </a:tc>
              </a:tr>
              <a:tr h="370840">
                <a:tc>
                  <a:txBody>
                    <a:bodyPr/>
                    <a:lstStyle/>
                    <a:p>
                      <a:pPr algn="ctr"/>
                      <a:r>
                        <a:rPr lang="en-US" sz="2000" dirty="0" smtClean="0">
                          <a:latin typeface="Times New Roman" pitchFamily="18" charset="0"/>
                          <a:cs typeface="Times New Roman" pitchFamily="18" charset="0"/>
                        </a:rPr>
                        <a:t>5. </a:t>
                      </a:r>
                      <a:endParaRPr lang="en-US" sz="20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Times New Roman" pitchFamily="18" charset="0"/>
                          <a:cs typeface="Times New Roman" pitchFamily="18" charset="0"/>
                        </a:rPr>
                        <a:t>Primary current I</a:t>
                      </a:r>
                      <a:r>
                        <a:rPr lang="en-US" sz="2000" baseline="-25000" dirty="0" smtClean="0">
                          <a:latin typeface="Times New Roman" pitchFamily="18" charset="0"/>
                          <a:cs typeface="Times New Roman" pitchFamily="18" charset="0"/>
                        </a:rPr>
                        <a:t>1</a:t>
                      </a:r>
                    </a:p>
                  </a:txBody>
                  <a:tcPr/>
                </a:tc>
                <a:tc>
                  <a:txBody>
                    <a:bodyPr/>
                    <a:lstStyle/>
                    <a:p>
                      <a:r>
                        <a:rPr lang="en-US" sz="2000" dirty="0" smtClean="0">
                          <a:latin typeface="Times New Roman" pitchFamily="18" charset="0"/>
                          <a:cs typeface="Times New Roman" pitchFamily="18" charset="0"/>
                        </a:rPr>
                        <a:t>21 A</a:t>
                      </a:r>
                      <a:endParaRPr lang="en-US" sz="2000" dirty="0">
                        <a:latin typeface="Times New Roman" pitchFamily="18" charset="0"/>
                        <a:cs typeface="Times New Roman" pitchFamily="18" charset="0"/>
                      </a:endParaRPr>
                    </a:p>
                  </a:txBody>
                  <a:tcPr/>
                </a:tc>
              </a:tr>
              <a:tr h="370840">
                <a:tc>
                  <a:txBody>
                    <a:bodyPr/>
                    <a:lstStyle/>
                    <a:p>
                      <a:pPr algn="ctr"/>
                      <a:r>
                        <a:rPr lang="en-US" sz="2000" dirty="0" smtClean="0">
                          <a:latin typeface="Times New Roman" pitchFamily="18" charset="0"/>
                          <a:cs typeface="Times New Roman" pitchFamily="18" charset="0"/>
                        </a:rPr>
                        <a:t>6.</a:t>
                      </a:r>
                      <a:endParaRPr lang="en-US" sz="20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Times New Roman" pitchFamily="18" charset="0"/>
                          <a:cs typeface="Times New Roman" pitchFamily="18" charset="0"/>
                        </a:rPr>
                        <a:t>Secondary current I</a:t>
                      </a:r>
                      <a:r>
                        <a:rPr lang="en-US" sz="2000" baseline="-25000" dirty="0" smtClean="0">
                          <a:latin typeface="Times New Roman" pitchFamily="18" charset="0"/>
                          <a:cs typeface="Times New Roman" pitchFamily="18" charset="0"/>
                        </a:rPr>
                        <a:t>2</a:t>
                      </a:r>
                    </a:p>
                  </a:txBody>
                  <a:tcPr/>
                </a:tc>
                <a:tc>
                  <a:txBody>
                    <a:bodyPr/>
                    <a:lstStyle/>
                    <a:p>
                      <a:r>
                        <a:rPr lang="en-US" sz="2000" dirty="0" smtClean="0">
                          <a:latin typeface="Times New Roman" pitchFamily="18" charset="0"/>
                          <a:cs typeface="Times New Roman" pitchFamily="18" charset="0"/>
                        </a:rPr>
                        <a:t>50 A</a:t>
                      </a:r>
                      <a:endParaRPr lang="en-US" sz="2000" dirty="0">
                        <a:latin typeface="Times New Roman" pitchFamily="18" charset="0"/>
                        <a:cs typeface="Times New Roman" pitchFamily="18" charset="0"/>
                      </a:endParaRPr>
                    </a:p>
                  </a:txBody>
                  <a:tcPr/>
                </a:tc>
              </a:tr>
              <a:tr h="370840">
                <a:tc>
                  <a:txBody>
                    <a:bodyPr/>
                    <a:lstStyle/>
                    <a:p>
                      <a:pPr algn="ctr"/>
                      <a:r>
                        <a:rPr lang="en-US" sz="2000" dirty="0" smtClean="0">
                          <a:latin typeface="Times New Roman" pitchFamily="18" charset="0"/>
                          <a:cs typeface="Times New Roman" pitchFamily="18" charset="0"/>
                        </a:rPr>
                        <a:t>7.</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Frequency of operation</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50 Hz</a:t>
                      </a:r>
                      <a:endParaRPr lang="en-US" sz="2000" dirty="0">
                        <a:latin typeface="Times New Roman" pitchFamily="18" charset="0"/>
                        <a:cs typeface="Times New Roman" pitchFamily="18" charset="0"/>
                      </a:endParaRPr>
                    </a:p>
                  </a:txBody>
                  <a:tcPr/>
                </a:tc>
              </a:tr>
              <a:tr h="370840">
                <a:tc>
                  <a:txBody>
                    <a:bodyPr/>
                    <a:lstStyle/>
                    <a:p>
                      <a:pPr algn="ctr"/>
                      <a:r>
                        <a:rPr lang="en-US" sz="2000" dirty="0" smtClean="0">
                          <a:latin typeface="Times New Roman" pitchFamily="18" charset="0"/>
                          <a:cs typeface="Times New Roman" pitchFamily="18" charset="0"/>
                        </a:rPr>
                        <a:t>8. </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Cooling</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Open</a:t>
                      </a:r>
                      <a:endParaRPr lang="en-US" sz="2000" dirty="0">
                        <a:latin typeface="Times New Roman" pitchFamily="18" charset="0"/>
                        <a:cs typeface="Times New Roman" pitchFamily="18" charset="0"/>
                      </a:endParaRPr>
                    </a:p>
                  </a:txBody>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Losses in a Transformer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An ideal transformer is loss free. But in the practical transformer there are following losses taking place.</a:t>
            </a:r>
          </a:p>
          <a:p>
            <a:pPr marL="514350" indent="-514350">
              <a:buAutoNum type="arabicPeriod"/>
            </a:pPr>
            <a:r>
              <a:rPr lang="en-US" dirty="0" smtClean="0">
                <a:latin typeface="Times New Roman" pitchFamily="18" charset="0"/>
                <a:cs typeface="Times New Roman" pitchFamily="18" charset="0"/>
              </a:rPr>
              <a:t>Copper losses (P</a:t>
            </a:r>
            <a:r>
              <a:rPr lang="en-US" baseline="-25000" dirty="0" smtClean="0">
                <a:latin typeface="Times New Roman" pitchFamily="18" charset="0"/>
                <a:cs typeface="Times New Roman" pitchFamily="18" charset="0"/>
              </a:rPr>
              <a:t>c</a:t>
            </a:r>
            <a:r>
              <a:rPr lang="en-US" dirty="0" smtClean="0">
                <a:latin typeface="Times New Roman" pitchFamily="18" charset="0"/>
                <a:cs typeface="Times New Roman" pitchFamily="18" charset="0"/>
              </a:rPr>
              <a:t>)</a:t>
            </a:r>
          </a:p>
          <a:p>
            <a:pPr marL="514350" indent="-514350">
              <a:buAutoNum type="arabicPeriod"/>
            </a:pPr>
            <a:r>
              <a:rPr lang="en-US" dirty="0" smtClean="0">
                <a:latin typeface="Times New Roman" pitchFamily="18" charset="0"/>
                <a:cs typeface="Times New Roman" pitchFamily="18" charset="0"/>
              </a:rPr>
              <a:t>Iron losses (P</a:t>
            </a:r>
            <a:r>
              <a:rPr lang="en-US" baseline="-25000" dirty="0" smtClean="0">
                <a:latin typeface="Times New Roman" pitchFamily="18" charset="0"/>
                <a:cs typeface="Times New Roman" pitchFamily="18" charset="0"/>
              </a:rPr>
              <a:t>i</a:t>
            </a:r>
            <a:r>
              <a:rPr lang="en-US" dirty="0" smtClean="0">
                <a:latin typeface="Times New Roman" pitchFamily="18" charset="0"/>
                <a:cs typeface="Times New Roman" pitchFamily="18" charset="0"/>
              </a:rPr>
              <a:t>):</a:t>
            </a:r>
          </a:p>
          <a:p>
            <a:pPr marL="514350" indent="-514350">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Hysteresis losses</a:t>
            </a:r>
          </a:p>
          <a:p>
            <a:pPr marL="514350" indent="-514350">
              <a:buNone/>
            </a:pPr>
            <a:r>
              <a:rPr lang="en-US" dirty="0" smtClean="0">
                <a:latin typeface="Times New Roman" pitchFamily="18" charset="0"/>
                <a:cs typeface="Times New Roman" pitchFamily="18" charset="0"/>
              </a:rPr>
              <a:t>           ii. Eddy current losses </a:t>
            </a:r>
            <a:endParaRPr lang="en-US"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20000"/>
          </a:bodyPr>
          <a:lstStyle/>
          <a:p>
            <a:r>
              <a:rPr lang="en-US" sz="3000" b="1" dirty="0" smtClean="0">
                <a:latin typeface="Times New Roman" pitchFamily="18" charset="0"/>
                <a:cs typeface="Times New Roman" pitchFamily="18" charset="0"/>
              </a:rPr>
              <a:t>Copper Loss (P</a:t>
            </a:r>
            <a:r>
              <a:rPr lang="en-US" sz="3000" b="1" baseline="-25000" dirty="0" smtClean="0">
                <a:latin typeface="Times New Roman" pitchFamily="18" charset="0"/>
                <a:cs typeface="Times New Roman" pitchFamily="18" charset="0"/>
              </a:rPr>
              <a:t>c</a:t>
            </a:r>
            <a:r>
              <a:rPr lang="en-US" sz="3000" b="1" dirty="0" smtClean="0">
                <a:latin typeface="Times New Roman" pitchFamily="18" charset="0"/>
                <a:cs typeface="Times New Roman" pitchFamily="18" charset="0"/>
              </a:rPr>
              <a:t>):</a:t>
            </a:r>
          </a:p>
          <a:p>
            <a:pPr>
              <a:buFont typeface="Wingdings" pitchFamily="2" charset="2"/>
              <a:buChar char="Ø"/>
            </a:pPr>
            <a:r>
              <a:rPr lang="en-US" sz="3000" dirty="0" smtClean="0">
                <a:latin typeface="Times New Roman" pitchFamily="18" charset="0"/>
                <a:cs typeface="Times New Roman" pitchFamily="18" charset="0"/>
              </a:rPr>
              <a:t> The total power loss is taking place in the winding resistances of the transformer is known as the copper loss.</a:t>
            </a:r>
          </a:p>
          <a:p>
            <a:pPr>
              <a:buNone/>
            </a:pPr>
            <a:r>
              <a:rPr lang="en-US" sz="3000" dirty="0" smtClean="0">
                <a:latin typeface="Times New Roman" pitchFamily="18" charset="0"/>
                <a:cs typeface="Times New Roman" pitchFamily="18" charset="0"/>
              </a:rPr>
              <a:t>    ∴ Copper loss = Primary copper loss + Secondary copper loss</a:t>
            </a:r>
          </a:p>
          <a:p>
            <a:pPr>
              <a:buFont typeface="Wingdings" pitchFamily="2" charset="2"/>
              <a:buChar char="Ø"/>
            </a:pPr>
            <a:r>
              <a:rPr lang="en-US" sz="3000" dirty="0" smtClean="0">
                <a:latin typeface="Times New Roman" pitchFamily="18" charset="0"/>
                <a:cs typeface="Times New Roman" pitchFamily="18" charset="0"/>
              </a:rPr>
              <a:t>  The copper loss is denoted by P</a:t>
            </a:r>
            <a:r>
              <a:rPr lang="en-US" sz="3000" baseline="-25000" dirty="0" smtClean="0">
                <a:latin typeface="Times New Roman" pitchFamily="18" charset="0"/>
                <a:cs typeface="Times New Roman" pitchFamily="18" charset="0"/>
              </a:rPr>
              <a:t>c </a:t>
            </a:r>
            <a:r>
              <a:rPr lang="en-US" sz="3000" dirty="0" smtClean="0">
                <a:latin typeface="Times New Roman" pitchFamily="18" charset="0"/>
                <a:cs typeface="Times New Roman" pitchFamily="18" charset="0"/>
              </a:rPr>
              <a:t>.</a:t>
            </a:r>
          </a:p>
          <a:p>
            <a:pPr>
              <a:buNone/>
            </a:pPr>
            <a:r>
              <a:rPr lang="en-US" baseline="-25000" dirty="0" smtClean="0"/>
              <a:t>                           </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p>
          <a:p>
            <a:pPr>
              <a:buNone/>
            </a:pPr>
            <a:r>
              <a:rPr lang="en-US" sz="3000" dirty="0" smtClean="0">
                <a:latin typeface="Times New Roman" pitchFamily="18" charset="0"/>
                <a:cs typeface="Times New Roman" pitchFamily="18" charset="0"/>
              </a:rPr>
              <a:t>where, R</a:t>
            </a:r>
            <a:r>
              <a:rPr lang="en-US" sz="3000" baseline="-25000" dirty="0" smtClean="0">
                <a:latin typeface="Times New Roman" pitchFamily="18" charset="0"/>
                <a:cs typeface="Times New Roman" pitchFamily="18" charset="0"/>
              </a:rPr>
              <a:t>1</a:t>
            </a:r>
            <a:r>
              <a:rPr lang="en-US" sz="3000" dirty="0" smtClean="0">
                <a:latin typeface="Times New Roman" pitchFamily="18" charset="0"/>
                <a:cs typeface="Times New Roman" pitchFamily="18" charset="0"/>
              </a:rPr>
              <a:t> and R</a:t>
            </a:r>
            <a:r>
              <a:rPr lang="en-US" sz="3000" baseline="-25000" dirty="0" smtClean="0">
                <a:latin typeface="Times New Roman" pitchFamily="18" charset="0"/>
                <a:cs typeface="Times New Roman" pitchFamily="18" charset="0"/>
              </a:rPr>
              <a:t>2</a:t>
            </a:r>
            <a:r>
              <a:rPr lang="en-US" sz="3000" dirty="0" smtClean="0">
                <a:latin typeface="Times New Roman" pitchFamily="18" charset="0"/>
                <a:cs typeface="Times New Roman" pitchFamily="18" charset="0"/>
              </a:rPr>
              <a:t> are resistances of primary and secondary winding respectively.</a:t>
            </a:r>
            <a:endParaRPr lang="en-US" sz="3000" dirty="0"/>
          </a:p>
        </p:txBody>
      </p:sp>
      <p:pic>
        <p:nvPicPr>
          <p:cNvPr id="4" name="Picture 3" descr="copper loss.jpg"/>
          <p:cNvPicPr>
            <a:picLocks noChangeAspect="1"/>
          </p:cNvPicPr>
          <p:nvPr/>
        </p:nvPicPr>
        <p:blipFill>
          <a:blip r:embed="rId2" cstate="print"/>
          <a:stretch>
            <a:fillRect/>
          </a:stretch>
        </p:blipFill>
        <p:spPr>
          <a:xfrm>
            <a:off x="2286000" y="4267200"/>
            <a:ext cx="2324100" cy="8382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Ø"/>
            </a:pPr>
            <a:r>
              <a:rPr lang="en-US" dirty="0" smtClean="0">
                <a:latin typeface="Times New Roman" pitchFamily="18" charset="0"/>
                <a:cs typeface="Times New Roman" pitchFamily="18" charset="0"/>
              </a:rPr>
              <a:t>The copper loss should be kept as low as possible to increase the efficiency of the transformer.</a:t>
            </a:r>
          </a:p>
          <a:p>
            <a:pPr>
              <a:buFont typeface="Wingdings" pitchFamily="2" charset="2"/>
              <a:buChar char="Ø"/>
            </a:pPr>
            <a:r>
              <a:rPr lang="en-US" dirty="0" smtClean="0">
                <a:latin typeface="Times New Roman" pitchFamily="18" charset="0"/>
                <a:cs typeface="Times New Roman" pitchFamily="18" charset="0"/>
              </a:rPr>
              <a:t>To reduced the copper loss, it is essential to reduce the resistances R</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and R</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of primary and secondary winding.</a:t>
            </a:r>
          </a:p>
          <a:p>
            <a:pPr>
              <a:buFont typeface="Wingdings" pitchFamily="2" charset="2"/>
              <a:buChar char="Ø"/>
            </a:pPr>
            <a:r>
              <a:rPr lang="en-US" dirty="0" smtClean="0">
                <a:latin typeface="Times New Roman" pitchFamily="18" charset="0"/>
                <a:cs typeface="Times New Roman" pitchFamily="18" charset="0"/>
              </a:rPr>
              <a:t>Copper losses are also called as variable losses as they are dependent on the square of  load current. </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r>
              <a:rPr lang="en-US" b="1" dirty="0" smtClean="0">
                <a:latin typeface="Times New Roman" pitchFamily="18" charset="0"/>
                <a:cs typeface="Times New Roman" pitchFamily="18" charset="0"/>
              </a:rPr>
              <a:t>Iron loss (P</a:t>
            </a:r>
            <a:r>
              <a:rPr lang="en-US" b="1" baseline="-25000" dirty="0" smtClean="0">
                <a:latin typeface="Times New Roman" pitchFamily="18" charset="0"/>
                <a:cs typeface="Times New Roman" pitchFamily="18" charset="0"/>
              </a:rPr>
              <a:t>i</a:t>
            </a:r>
            <a:r>
              <a:rPr lang="en-US" b="1" dirty="0" smtClean="0">
                <a:latin typeface="Times New Roman" pitchFamily="18" charset="0"/>
                <a:cs typeface="Times New Roman" pitchFamily="18" charset="0"/>
              </a:rPr>
              <a:t>):</a:t>
            </a:r>
          </a:p>
          <a:p>
            <a:pPr>
              <a:buFont typeface="Wingdings" pitchFamily="2" charset="2"/>
              <a:buChar char="Ø"/>
            </a:pPr>
            <a:r>
              <a:rPr lang="en-US" dirty="0" smtClean="0">
                <a:latin typeface="Times New Roman" pitchFamily="18" charset="0"/>
                <a:cs typeface="Times New Roman" pitchFamily="18" charset="0"/>
              </a:rPr>
              <a:t>Iron loss P</a:t>
            </a:r>
            <a:r>
              <a:rPr lang="en-US" baseline="-25000" dirty="0" smtClean="0">
                <a:latin typeface="Times New Roman" pitchFamily="18" charset="0"/>
                <a:cs typeface="Times New Roman" pitchFamily="18" charset="0"/>
              </a:rPr>
              <a:t>i </a:t>
            </a:r>
            <a:r>
              <a:rPr lang="en-US" dirty="0" smtClean="0">
                <a:latin typeface="Times New Roman" pitchFamily="18" charset="0"/>
                <a:cs typeface="Times New Roman" pitchFamily="18" charset="0"/>
              </a:rPr>
              <a:t>is the power loss taking place in the iron core of the transformer.</a:t>
            </a:r>
          </a:p>
          <a:p>
            <a:pPr>
              <a:buNone/>
            </a:pPr>
            <a:r>
              <a:rPr lang="en-US" dirty="0" smtClean="0">
                <a:latin typeface="Times New Roman" pitchFamily="18" charset="0"/>
                <a:cs typeface="Times New Roman" pitchFamily="18" charset="0"/>
              </a:rPr>
              <a:t>       P</a:t>
            </a:r>
            <a:r>
              <a:rPr lang="en-US" baseline="-25000" dirty="0" smtClean="0">
                <a:latin typeface="Times New Roman" pitchFamily="18" charset="0"/>
                <a:cs typeface="Times New Roman" pitchFamily="18" charset="0"/>
              </a:rPr>
              <a:t>i</a:t>
            </a:r>
            <a:r>
              <a:rPr lang="en-US" dirty="0" smtClean="0">
                <a:latin typeface="Times New Roman" pitchFamily="18" charset="0"/>
                <a:cs typeface="Times New Roman" pitchFamily="18" charset="0"/>
              </a:rPr>
              <a:t> = Hysteresis Loss + Eddy current loss</a:t>
            </a:r>
          </a:p>
          <a:p>
            <a:r>
              <a:rPr lang="en-US" b="1" dirty="0" smtClean="0">
                <a:latin typeface="Times New Roman" pitchFamily="18" charset="0"/>
                <a:cs typeface="Times New Roman" pitchFamily="18" charset="0"/>
              </a:rPr>
              <a:t>Hysteresis losses:</a:t>
            </a:r>
          </a:p>
          <a:p>
            <a:pPr>
              <a:buFont typeface="Wingdings" pitchFamily="2" charset="2"/>
              <a:buChar char="Ø"/>
            </a:pPr>
            <a:r>
              <a:rPr lang="en-US" dirty="0" smtClean="0">
                <a:latin typeface="Times New Roman" pitchFamily="18" charset="0"/>
                <a:cs typeface="Times New Roman" pitchFamily="18" charset="0"/>
              </a:rPr>
              <a:t>Hysteresis loss is directly proportional to frequency f and voltage V. it is given by</a:t>
            </a:r>
          </a:p>
          <a:p>
            <a:pPr>
              <a:buNone/>
            </a:pPr>
            <a:r>
              <a:rPr lang="en-US" dirty="0" smtClean="0">
                <a:latin typeface="Times New Roman" pitchFamily="18" charset="0"/>
                <a:cs typeface="Times New Roman" pitchFamily="18" charset="0"/>
              </a:rPr>
              <a:t>                P</a:t>
            </a:r>
            <a:r>
              <a:rPr lang="en-US" baseline="-25000" dirty="0" smtClean="0">
                <a:latin typeface="Times New Roman" pitchFamily="18" charset="0"/>
                <a:cs typeface="Times New Roman" pitchFamily="18" charset="0"/>
              </a:rPr>
              <a:t>H </a:t>
            </a:r>
            <a:r>
              <a:rPr lang="en-US" dirty="0" smtClean="0">
                <a:latin typeface="Times New Roman" pitchFamily="18" charset="0"/>
                <a:cs typeface="Times New Roman" pitchFamily="18" charset="0"/>
              </a:rPr>
              <a:t>= K</a:t>
            </a:r>
            <a:r>
              <a:rPr lang="en-US" baseline="-25000" dirty="0" smtClean="0">
                <a:latin typeface="Times New Roman" pitchFamily="18" charset="0"/>
                <a:cs typeface="Times New Roman" pitchFamily="18" charset="0"/>
              </a:rPr>
              <a:t>H</a:t>
            </a:r>
            <a:r>
              <a:rPr lang="en-US" dirty="0" smtClean="0">
                <a:latin typeface="Times New Roman" pitchFamily="18" charset="0"/>
                <a:cs typeface="Times New Roman" pitchFamily="18" charset="0"/>
              </a:rPr>
              <a:t> B</a:t>
            </a:r>
            <a:r>
              <a:rPr lang="en-US" baseline="-25000" dirty="0" smtClean="0">
                <a:latin typeface="Times New Roman" pitchFamily="18" charset="0"/>
                <a:cs typeface="Times New Roman" pitchFamily="18" charset="0"/>
              </a:rPr>
              <a:t>m</a:t>
            </a:r>
            <a:r>
              <a:rPr lang="en-US" baseline="30000" dirty="0" smtClean="0">
                <a:latin typeface="Times New Roman" pitchFamily="18" charset="0"/>
                <a:cs typeface="Times New Roman" pitchFamily="18" charset="0"/>
              </a:rPr>
              <a:t>1.67</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fV</a:t>
            </a:r>
            <a:r>
              <a:rPr lang="en-US" dirty="0" smtClean="0">
                <a:latin typeface="Times New Roman" pitchFamily="18" charset="0"/>
                <a:cs typeface="Times New Roman" pitchFamily="18" charset="0"/>
              </a:rPr>
              <a:t> …..[K</a:t>
            </a:r>
            <a:r>
              <a:rPr lang="en-US" baseline="-25000" dirty="0" smtClean="0">
                <a:latin typeface="Times New Roman" pitchFamily="18" charset="0"/>
                <a:cs typeface="Times New Roman" pitchFamily="18" charset="0"/>
              </a:rPr>
              <a:t>H </a:t>
            </a:r>
            <a:r>
              <a:rPr lang="en-US" dirty="0" smtClean="0">
                <a:latin typeface="Times New Roman" pitchFamily="18" charset="0"/>
                <a:cs typeface="Times New Roman" pitchFamily="18" charset="0"/>
              </a:rPr>
              <a:t>constant]</a:t>
            </a:r>
          </a:p>
          <a:p>
            <a:pPr>
              <a:buNone/>
            </a:pPr>
            <a:endParaRPr lang="en-US" dirty="0"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latin typeface="Times New Roman" pitchFamily="18" charset="0"/>
                <a:cs typeface="Times New Roman" pitchFamily="18" charset="0"/>
              </a:rPr>
              <a:t>Eddy current losses:</a:t>
            </a:r>
          </a:p>
          <a:p>
            <a:pPr>
              <a:buFont typeface="Wingdings" pitchFamily="2" charset="2"/>
              <a:buChar char="Ø"/>
            </a:pPr>
            <a:r>
              <a:rPr lang="en-US" dirty="0" smtClean="0">
                <a:latin typeface="Times New Roman" pitchFamily="18" charset="0"/>
                <a:cs typeface="Times New Roman" pitchFamily="18" charset="0"/>
              </a:rPr>
              <a:t>Eddy current loss is proportional to square of frequency and square of thickness of laminations. It is given by,</a:t>
            </a:r>
          </a:p>
          <a:p>
            <a:pPr>
              <a:buNone/>
            </a:pPr>
            <a:r>
              <a:rPr lang="en-US" dirty="0" smtClean="0">
                <a:latin typeface="Times New Roman" pitchFamily="18" charset="0"/>
                <a:cs typeface="Times New Roman" pitchFamily="18" charset="0"/>
              </a:rPr>
              <a:t>        P</a:t>
            </a:r>
            <a:r>
              <a:rPr lang="en-US" baseline="-25000" dirty="0" smtClean="0">
                <a:latin typeface="Times New Roman" pitchFamily="18" charset="0"/>
                <a:cs typeface="Times New Roman" pitchFamily="18" charset="0"/>
              </a:rPr>
              <a:t>E </a:t>
            </a:r>
            <a:r>
              <a:rPr lang="en-US" dirty="0" smtClean="0">
                <a:latin typeface="Times New Roman" pitchFamily="18" charset="0"/>
                <a:cs typeface="Times New Roman" pitchFamily="18" charset="0"/>
              </a:rPr>
              <a:t>= K</a:t>
            </a:r>
            <a:r>
              <a:rPr lang="en-US" baseline="-25000" dirty="0" smtClean="0">
                <a:latin typeface="Times New Roman" pitchFamily="18" charset="0"/>
                <a:cs typeface="Times New Roman" pitchFamily="18" charset="0"/>
              </a:rPr>
              <a:t>E</a:t>
            </a:r>
            <a:r>
              <a:rPr lang="en-US" dirty="0" smtClean="0">
                <a:latin typeface="Times New Roman" pitchFamily="18" charset="0"/>
                <a:cs typeface="Times New Roman" pitchFamily="18" charset="0"/>
              </a:rPr>
              <a:t> B</a:t>
            </a:r>
            <a:r>
              <a:rPr lang="en-US" baseline="-25000" dirty="0" smtClean="0">
                <a:latin typeface="Times New Roman" pitchFamily="18" charset="0"/>
                <a:cs typeface="Times New Roman" pitchFamily="18" charset="0"/>
              </a:rPr>
              <a:t>m</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f</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.t</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……[t = thickness]</a:t>
            </a:r>
          </a:p>
          <a:p>
            <a:pPr>
              <a:buFont typeface="Wingdings" pitchFamily="2" charset="2"/>
              <a:buChar char="Ø"/>
            </a:pPr>
            <a:r>
              <a:rPr lang="en-US" dirty="0" smtClean="0">
                <a:latin typeface="Times New Roman" pitchFamily="18" charset="0"/>
                <a:cs typeface="Times New Roman" pitchFamily="18" charset="0"/>
              </a:rPr>
              <a:t>Due to time varying flux, there is some induced </a:t>
            </a:r>
            <a:r>
              <a:rPr lang="en-US" dirty="0" err="1" smtClean="0">
                <a:latin typeface="Times New Roman" pitchFamily="18" charset="0"/>
                <a:cs typeface="Times New Roman" pitchFamily="18" charset="0"/>
              </a:rPr>
              <a:t>emf</a:t>
            </a:r>
            <a:r>
              <a:rPr lang="en-US" dirty="0" smtClean="0">
                <a:latin typeface="Times New Roman" pitchFamily="18" charset="0"/>
                <a:cs typeface="Times New Roman" pitchFamily="18" charset="0"/>
              </a:rPr>
              <a:t> in the transformer core. This induced </a:t>
            </a:r>
            <a:r>
              <a:rPr lang="en-US" dirty="0" err="1" smtClean="0">
                <a:latin typeface="Times New Roman" pitchFamily="18" charset="0"/>
                <a:cs typeface="Times New Roman" pitchFamily="18" charset="0"/>
              </a:rPr>
              <a:t>emf</a:t>
            </a:r>
            <a:r>
              <a:rPr lang="en-US" dirty="0" smtClean="0">
                <a:latin typeface="Times New Roman" pitchFamily="18" charset="0"/>
                <a:cs typeface="Times New Roman" pitchFamily="18" charset="0"/>
              </a:rPr>
              <a:t> causes some currents to flow through the core body. These currents are known as the eddy currents.</a:t>
            </a:r>
          </a:p>
          <a:p>
            <a:pPr>
              <a:buFont typeface="Wingdings" pitchFamily="2" charset="2"/>
              <a:buChar char="Ø"/>
            </a:pPr>
            <a:r>
              <a:rPr lang="en-US" dirty="0" smtClean="0">
                <a:latin typeface="Times New Roman" pitchFamily="18" charset="0"/>
                <a:cs typeface="Times New Roman" pitchFamily="18" charset="0"/>
              </a:rPr>
              <a:t>The eddy current loss can be minimized by using laminated core for transformer.</a:t>
            </a:r>
          </a:p>
          <a:p>
            <a:pPr>
              <a:buNone/>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An Ideal Transformer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r>
              <a:rPr lang="en-US" dirty="0" smtClean="0">
                <a:latin typeface="Times New Roman" pitchFamily="18" charset="0"/>
                <a:cs typeface="Times New Roman" pitchFamily="18" charset="0"/>
              </a:rPr>
              <a:t>An ideal transformer is a transformer having following characteristics:</a:t>
            </a:r>
          </a:p>
          <a:p>
            <a:pPr marL="514350" indent="-514350">
              <a:buFont typeface="+mj-lt"/>
              <a:buAutoNum type="arabicPeriod"/>
            </a:pPr>
            <a:r>
              <a:rPr lang="en-US" dirty="0" smtClean="0">
                <a:latin typeface="Times New Roman" pitchFamily="18" charset="0"/>
                <a:cs typeface="Times New Roman" pitchFamily="18" charset="0"/>
              </a:rPr>
              <a:t>The losses are zero.</a:t>
            </a:r>
          </a:p>
          <a:p>
            <a:pPr marL="514350" indent="-514350">
              <a:buFont typeface="+mj-lt"/>
              <a:buAutoNum type="arabicPeriod"/>
            </a:pPr>
            <a:r>
              <a:rPr lang="en-US" dirty="0" smtClean="0">
                <a:latin typeface="Times New Roman" pitchFamily="18" charset="0"/>
                <a:cs typeface="Times New Roman" pitchFamily="18" charset="0"/>
              </a:rPr>
              <a:t>The primary and secondary winding resistances are zero.</a:t>
            </a:r>
          </a:p>
          <a:p>
            <a:pPr marL="514350" indent="-514350">
              <a:buFont typeface="+mj-lt"/>
              <a:buAutoNum type="arabicPeriod"/>
            </a:pPr>
            <a:r>
              <a:rPr lang="en-US" dirty="0" smtClean="0">
                <a:latin typeface="Times New Roman" pitchFamily="18" charset="0"/>
                <a:cs typeface="Times New Roman" pitchFamily="18" charset="0"/>
              </a:rPr>
              <a:t>The external voltage applied to the primary, V</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is same as the primary induced voltage E</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a:t>
            </a:r>
          </a:p>
          <a:p>
            <a:pPr marL="514350" indent="-514350">
              <a:buNone/>
            </a:pPr>
            <a:r>
              <a:rPr lang="en-US" dirty="0" smtClean="0">
                <a:latin typeface="Times New Roman" pitchFamily="18" charset="0"/>
                <a:cs typeface="Times New Roman" pitchFamily="18" charset="0"/>
              </a:rPr>
              <a:t>                i.e. E</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V</a:t>
            </a:r>
            <a:r>
              <a:rPr lang="en-US" baseline="-25000" dirty="0" smtClean="0">
                <a:latin typeface="Times New Roman" pitchFamily="18" charset="0"/>
                <a:cs typeface="Times New Roman" pitchFamily="18" charset="0"/>
              </a:rPr>
              <a:t>1</a:t>
            </a:r>
          </a:p>
          <a:p>
            <a:pPr marL="514350" indent="-514350">
              <a:buAutoNum type="arabicPeriod" startAt="4"/>
            </a:pPr>
            <a:r>
              <a:rPr lang="en-US" dirty="0" smtClean="0">
                <a:latin typeface="Times New Roman" pitchFamily="18" charset="0"/>
                <a:cs typeface="Times New Roman" pitchFamily="18" charset="0"/>
              </a:rPr>
              <a:t>Similarly, the voltage induced E</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in secondary winding will be equal to the load voltage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a:t>
            </a:r>
          </a:p>
          <a:p>
            <a:pPr marL="514350" indent="-514350">
              <a:buNone/>
            </a:pPr>
            <a:r>
              <a:rPr lang="en-US" dirty="0" smtClean="0">
                <a:latin typeface="Times New Roman" pitchFamily="18" charset="0"/>
                <a:cs typeface="Times New Roman" pitchFamily="18" charset="0"/>
              </a:rPr>
              <a:t>               i.e. E</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V</a:t>
            </a:r>
            <a:r>
              <a:rPr lang="en-US" baseline="-25000" dirty="0" smtClean="0">
                <a:latin typeface="Times New Roman" pitchFamily="18" charset="0"/>
                <a:cs typeface="Times New Roman" pitchFamily="18" charset="0"/>
              </a:rPr>
              <a:t>2</a:t>
            </a:r>
          </a:p>
          <a:p>
            <a:pPr marL="514350" indent="-514350">
              <a:buNone/>
            </a:pPr>
            <a:r>
              <a:rPr lang="en-US" dirty="0" smtClean="0">
                <a:latin typeface="Times New Roman" pitchFamily="18" charset="0"/>
                <a:cs typeface="Times New Roman" pitchFamily="18" charset="0"/>
              </a:rPr>
              <a:t>5..	The transformation ratio for an ideal transformer is given by,</a:t>
            </a:r>
          </a:p>
          <a:p>
            <a:pPr marL="514350" indent="-514350">
              <a:buNone/>
            </a:pPr>
            <a:r>
              <a:rPr lang="en-US" dirty="0" smtClean="0">
                <a:latin typeface="Times New Roman" pitchFamily="18" charset="0"/>
                <a:cs typeface="Times New Roman" pitchFamily="18" charset="0"/>
              </a:rPr>
              <a:t>                 K = E</a:t>
            </a:r>
            <a:r>
              <a:rPr lang="en-US" baseline="-25000" dirty="0" smtClean="0">
                <a:latin typeface="Times New Roman" pitchFamily="18" charset="0"/>
                <a:cs typeface="Times New Roman" pitchFamily="18" charset="0"/>
              </a:rPr>
              <a:t>2 </a:t>
            </a:r>
            <a:r>
              <a:rPr lang="en-US" dirty="0" smtClean="0">
                <a:latin typeface="Times New Roman" pitchFamily="18" charset="0"/>
                <a:cs typeface="Times New Roman" pitchFamily="18" charset="0"/>
              </a:rPr>
              <a:t> =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a:t>
            </a:r>
            <a:endParaRPr lang="en-US" baseline="-25000" dirty="0" smtClean="0">
              <a:latin typeface="Times New Roman" pitchFamily="18" charset="0"/>
              <a:cs typeface="Times New Roman" pitchFamily="18" charset="0"/>
            </a:endParaRPr>
          </a:p>
          <a:p>
            <a:pPr marL="514350" indent="-514350">
              <a:buNone/>
            </a:pPr>
            <a:r>
              <a:rPr lang="en-US" dirty="0" smtClean="0">
                <a:latin typeface="Times New Roman" pitchFamily="18" charset="0"/>
                <a:cs typeface="Times New Roman" pitchFamily="18" charset="0"/>
              </a:rPr>
              <a:t>                        E</a:t>
            </a:r>
            <a:r>
              <a:rPr lang="en-US" baseline="-25000" dirty="0" smtClean="0">
                <a:latin typeface="Times New Roman" pitchFamily="18" charset="0"/>
                <a:cs typeface="Times New Roman" pitchFamily="18" charset="0"/>
              </a:rPr>
              <a:t>1       </a:t>
            </a:r>
            <a:r>
              <a:rPr lang="en-US" dirty="0" smtClean="0">
                <a:latin typeface="Times New Roman" pitchFamily="18" charset="0"/>
                <a:cs typeface="Times New Roman" pitchFamily="18" charset="0"/>
              </a:rPr>
              <a:t> V</a:t>
            </a:r>
            <a:r>
              <a:rPr lang="en-US" baseline="-25000" dirty="0" smtClean="0">
                <a:latin typeface="Times New Roman" pitchFamily="18" charset="0"/>
                <a:cs typeface="Times New Roman" pitchFamily="18" charset="0"/>
              </a:rPr>
              <a:t>1</a:t>
            </a:r>
            <a:endParaRPr lang="en-US" baseline="-25000" dirty="0">
              <a:latin typeface="Times New Roman" pitchFamily="18" charset="0"/>
              <a:cs typeface="Times New Roman" pitchFamily="18" charset="0"/>
            </a:endParaRPr>
          </a:p>
        </p:txBody>
      </p:sp>
      <p:cxnSp>
        <p:nvCxnSpPr>
          <p:cNvPr id="5" name="Straight Connector 4"/>
          <p:cNvCxnSpPr/>
          <p:nvPr/>
        </p:nvCxnSpPr>
        <p:spPr>
          <a:xfrm>
            <a:off x="2133600" y="5410200"/>
            <a:ext cx="304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819400" y="5410200"/>
            <a:ext cx="304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Efficiency of an ideal transformer is 100%.</a:t>
            </a:r>
          </a:p>
          <a:p>
            <a:r>
              <a:rPr lang="en-US" dirty="0" smtClean="0">
                <a:latin typeface="Times New Roman" pitchFamily="18" charset="0"/>
                <a:cs typeface="Times New Roman" pitchFamily="18" charset="0"/>
              </a:rPr>
              <a:t>The voltage regulation is 0%. That means the secondary voltage will remain constant irrespective of the load current.</a:t>
            </a:r>
            <a:endParaRPr lang="en-US"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Efficiency &amp; Regulation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r>
              <a:rPr lang="en-US" b="1" dirty="0" smtClean="0">
                <a:latin typeface="Times New Roman" pitchFamily="18" charset="0"/>
                <a:cs typeface="Times New Roman" pitchFamily="18" charset="0"/>
              </a:rPr>
              <a:t>Efficiency (η):</a:t>
            </a:r>
          </a:p>
          <a:p>
            <a:pPr>
              <a:buFont typeface="Wingdings" pitchFamily="2" charset="2"/>
              <a:buChar char="Ø"/>
            </a:pPr>
            <a:r>
              <a:rPr lang="en-US" dirty="0" smtClean="0">
                <a:latin typeface="Times New Roman" pitchFamily="18" charset="0"/>
                <a:cs typeface="Times New Roman" pitchFamily="18" charset="0"/>
              </a:rPr>
              <a:t>The efficiency of a transformer is defined as the ratio of output power to input power. It is denoted by η. </a:t>
            </a:r>
          </a:p>
          <a:p>
            <a:pPr>
              <a:buFont typeface="Wingdings" pitchFamily="2" charset="2"/>
              <a:buChar char="Ø"/>
            </a:pPr>
            <a:endParaRPr lang="en-US" dirty="0" smtClean="0">
              <a:latin typeface="Times New Roman" pitchFamily="18" charset="0"/>
              <a:cs typeface="Times New Roman" pitchFamily="18" charset="0"/>
            </a:endParaRPr>
          </a:p>
          <a:p>
            <a:pPr>
              <a:buFont typeface="Wingdings" pitchFamily="2" charset="2"/>
              <a:buChar char="Ø"/>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p>
          <a:p>
            <a:pPr>
              <a:buNone/>
            </a:pPr>
            <a:r>
              <a:rPr lang="en-US" dirty="0" smtClean="0"/>
              <a:t>                                                         </a:t>
            </a:r>
            <a:r>
              <a:rPr lang="en-US" dirty="0" smtClean="0">
                <a:latin typeface="Times New Roman" pitchFamily="18" charset="0"/>
                <a:cs typeface="Times New Roman" pitchFamily="18" charset="0"/>
              </a:rPr>
              <a:t>………………(1)                                      </a:t>
            </a:r>
            <a:endParaRPr lang="en-US" dirty="0">
              <a:latin typeface="Times New Roman" pitchFamily="18" charset="0"/>
              <a:cs typeface="Times New Roman" pitchFamily="18" charset="0"/>
            </a:endParaRPr>
          </a:p>
        </p:txBody>
      </p:sp>
      <p:pic>
        <p:nvPicPr>
          <p:cNvPr id="6" name="Picture 5" descr="efficiency1.jpg"/>
          <p:cNvPicPr>
            <a:picLocks noChangeAspect="1"/>
          </p:cNvPicPr>
          <p:nvPr/>
        </p:nvPicPr>
        <p:blipFill>
          <a:blip r:embed="rId2" cstate="print"/>
          <a:stretch>
            <a:fillRect/>
          </a:stretch>
        </p:blipFill>
        <p:spPr>
          <a:xfrm>
            <a:off x="1600200" y="3810000"/>
            <a:ext cx="5334000" cy="22098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dirty="0" smtClean="0">
                <a:latin typeface="Times New Roman" pitchFamily="18" charset="0"/>
                <a:cs typeface="Times New Roman" pitchFamily="18" charset="0"/>
              </a:rPr>
              <a:t>Since the output power is always less than the input power due to losses in the transformer, the efficiency of the practical transformer is always between 0 and 1 i.e. 0% and 100% but it can never be 1 or 100%.</a:t>
            </a:r>
          </a:p>
          <a:p>
            <a:pPr>
              <a:buFont typeface="Wingdings" pitchFamily="2" charset="2"/>
              <a:buChar char="Ø"/>
            </a:pPr>
            <a:r>
              <a:rPr lang="en-US" dirty="0" smtClean="0">
                <a:latin typeface="Times New Roman" pitchFamily="18" charset="0"/>
                <a:cs typeface="Times New Roman" pitchFamily="18" charset="0"/>
              </a:rPr>
              <a:t>The output power at full load =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I</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cos</a:t>
            </a:r>
            <a:r>
              <a:rPr lang="en-US" dirty="0" smtClean="0">
                <a:latin typeface="Times New Roman" pitchFamily="18" charset="0"/>
                <a:cs typeface="Times New Roman" pitchFamily="18" charset="0"/>
              </a:rPr>
              <a:t> ø</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or = (</a:t>
            </a: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x </a:t>
            </a:r>
            <a:r>
              <a:rPr lang="en-US" dirty="0" err="1" smtClean="0">
                <a:latin typeface="Times New Roman" pitchFamily="18" charset="0"/>
                <a:cs typeface="Times New Roman" pitchFamily="18" charset="0"/>
              </a:rPr>
              <a:t>cos</a:t>
            </a:r>
            <a:r>
              <a:rPr lang="en-US" dirty="0" smtClean="0">
                <a:latin typeface="Times New Roman" pitchFamily="18" charset="0"/>
                <a:cs typeface="Times New Roman" pitchFamily="18" charset="0"/>
              </a:rPr>
              <a:t> ø</a:t>
            </a:r>
            <a:r>
              <a:rPr lang="en-US" baseline="-25000" dirty="0" smtClean="0">
                <a:latin typeface="Times New Roman" pitchFamily="18" charset="0"/>
                <a:cs typeface="Times New Roman" pitchFamily="18" charset="0"/>
              </a:rPr>
              <a:t>2 </a:t>
            </a:r>
            <a:r>
              <a:rPr lang="en-US" dirty="0" smtClean="0">
                <a:latin typeface="Times New Roman" pitchFamily="18" charset="0"/>
                <a:cs typeface="Times New Roman" pitchFamily="18" charset="0"/>
              </a:rPr>
              <a:t>x 1000) watt</a:t>
            </a:r>
          </a:p>
          <a:p>
            <a:pPr>
              <a:buFont typeface="Wingdings" pitchFamily="2" charset="2"/>
              <a:buChar char="Ø"/>
            </a:pPr>
            <a:r>
              <a:rPr lang="en-US" dirty="0" smtClean="0">
                <a:latin typeface="Times New Roman" pitchFamily="18" charset="0"/>
                <a:cs typeface="Times New Roman" pitchFamily="18" charset="0"/>
              </a:rPr>
              <a:t>Then from eq.(1), full load efficiency is given by</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η</a:t>
            </a:r>
            <a:r>
              <a:rPr lang="en-US" baseline="-25000" dirty="0" err="1" smtClean="0">
                <a:latin typeface="Times New Roman" pitchFamily="18" charset="0"/>
                <a:cs typeface="Times New Roman" pitchFamily="18" charset="0"/>
              </a:rPr>
              <a:t>FL</a:t>
            </a:r>
            <a:r>
              <a:rPr lang="en-US" baseline="-25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x </a:t>
            </a:r>
            <a:r>
              <a:rPr lang="en-US" dirty="0" err="1" smtClean="0">
                <a:latin typeface="Times New Roman" pitchFamily="18" charset="0"/>
                <a:cs typeface="Times New Roman" pitchFamily="18" charset="0"/>
              </a:rPr>
              <a:t>cos</a:t>
            </a:r>
            <a:r>
              <a:rPr lang="en-US" dirty="0" smtClean="0">
                <a:latin typeface="Times New Roman" pitchFamily="18" charset="0"/>
                <a:cs typeface="Times New Roman" pitchFamily="18" charset="0"/>
              </a:rPr>
              <a:t> ø</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x 1000</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x </a:t>
            </a:r>
            <a:r>
              <a:rPr lang="en-US" dirty="0" err="1" smtClean="0">
                <a:latin typeface="Times New Roman" pitchFamily="18" charset="0"/>
                <a:cs typeface="Times New Roman" pitchFamily="18" charset="0"/>
              </a:rPr>
              <a:t>cos</a:t>
            </a:r>
            <a:r>
              <a:rPr lang="en-US" dirty="0" smtClean="0">
                <a:latin typeface="Times New Roman" pitchFamily="18" charset="0"/>
                <a:cs typeface="Times New Roman" pitchFamily="18" charset="0"/>
              </a:rPr>
              <a:t> ø</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x 1000) + P</a:t>
            </a:r>
            <a:r>
              <a:rPr lang="en-US" baseline="-25000" dirty="0" smtClean="0">
                <a:latin typeface="Times New Roman" pitchFamily="18" charset="0"/>
                <a:cs typeface="Times New Roman" pitchFamily="18" charset="0"/>
              </a:rPr>
              <a:t>i</a:t>
            </a:r>
            <a:r>
              <a:rPr lang="en-US" dirty="0" smtClean="0">
                <a:latin typeface="Times New Roman" pitchFamily="18" charset="0"/>
                <a:cs typeface="Times New Roman" pitchFamily="18" charset="0"/>
              </a:rPr>
              <a:t> + P</a:t>
            </a:r>
            <a:r>
              <a:rPr lang="en-US" baseline="-25000" dirty="0" smtClean="0">
                <a:latin typeface="Times New Roman" pitchFamily="18" charset="0"/>
                <a:cs typeface="Times New Roman" pitchFamily="18" charset="0"/>
              </a:rPr>
              <a:t>c     </a:t>
            </a:r>
            <a:r>
              <a:rPr lang="en-US" dirty="0" smtClean="0">
                <a:latin typeface="Times New Roman" pitchFamily="18" charset="0"/>
                <a:cs typeface="Times New Roman" pitchFamily="18" charset="0"/>
              </a:rPr>
              <a:t>   …(2)</a:t>
            </a:r>
            <a:endParaRPr lang="en-US" baseline="-25000" dirty="0" smtClean="0">
              <a:latin typeface="Times New Roman" pitchFamily="18" charset="0"/>
              <a:cs typeface="Times New Roman" pitchFamily="18" charset="0"/>
            </a:endParaRPr>
          </a:p>
          <a:p>
            <a:pPr>
              <a:buNone/>
            </a:pPr>
            <a:endParaRPr lang="en-US" dirty="0"/>
          </a:p>
        </p:txBody>
      </p:sp>
      <p:cxnSp>
        <p:nvCxnSpPr>
          <p:cNvPr id="5" name="Straight Connector 4"/>
          <p:cNvCxnSpPr/>
          <p:nvPr/>
        </p:nvCxnSpPr>
        <p:spPr>
          <a:xfrm>
            <a:off x="2286000" y="5334000"/>
            <a:ext cx="5029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Ø"/>
            </a:pPr>
            <a:r>
              <a:rPr lang="en-US" dirty="0" smtClean="0">
                <a:latin typeface="Times New Roman" pitchFamily="18" charset="0"/>
                <a:cs typeface="Times New Roman" pitchFamily="18" charset="0"/>
              </a:rPr>
              <a:t>In eq.(2), the value of </a:t>
            </a: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and copper loss will change with change in load.</a:t>
            </a:r>
          </a:p>
          <a:p>
            <a:pPr>
              <a:buFont typeface="Wingdings" pitchFamily="2" charset="2"/>
              <a:buChar char="Ø"/>
            </a:pPr>
            <a:r>
              <a:rPr lang="en-US" dirty="0" smtClean="0">
                <a:latin typeface="Times New Roman" pitchFamily="18" charset="0"/>
                <a:cs typeface="Times New Roman" pitchFamily="18" charset="0"/>
              </a:rPr>
              <a:t>The iron loss however remains constant. The copper loss will change in square proportion with the load. Hence for half load condition the efficiency is given by.</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η</a:t>
            </a:r>
            <a:r>
              <a:rPr lang="en-US" baseline="-25000" dirty="0" err="1" smtClean="0">
                <a:latin typeface="Times New Roman" pitchFamily="18" charset="0"/>
                <a:cs typeface="Times New Roman" pitchFamily="18" charset="0"/>
              </a:rPr>
              <a:t>HL</a:t>
            </a:r>
            <a:r>
              <a:rPr lang="en-US" baseline="-25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0.5 </a:t>
            </a: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x </a:t>
            </a:r>
            <a:r>
              <a:rPr lang="en-US" dirty="0" err="1" smtClean="0">
                <a:latin typeface="Times New Roman" pitchFamily="18" charset="0"/>
                <a:cs typeface="Times New Roman" pitchFamily="18" charset="0"/>
              </a:rPr>
              <a:t>cos</a:t>
            </a:r>
            <a:r>
              <a:rPr lang="en-US" dirty="0" smtClean="0">
                <a:latin typeface="Times New Roman" pitchFamily="18" charset="0"/>
                <a:cs typeface="Times New Roman" pitchFamily="18" charset="0"/>
              </a:rPr>
              <a:t> ø</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x 1000</a:t>
            </a:r>
          </a:p>
          <a:p>
            <a:pPr>
              <a:buNone/>
            </a:pPr>
            <a:r>
              <a:rPr lang="en-US" dirty="0" smtClean="0">
                <a:latin typeface="Times New Roman" pitchFamily="18" charset="0"/>
                <a:cs typeface="Times New Roman" pitchFamily="18" charset="0"/>
              </a:rPr>
              <a:t>             (0.5 </a:t>
            </a: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x </a:t>
            </a:r>
            <a:r>
              <a:rPr lang="en-US" dirty="0" err="1" smtClean="0">
                <a:latin typeface="Times New Roman" pitchFamily="18" charset="0"/>
                <a:cs typeface="Times New Roman" pitchFamily="18" charset="0"/>
              </a:rPr>
              <a:t>cos</a:t>
            </a:r>
            <a:r>
              <a:rPr lang="en-US" dirty="0" smtClean="0">
                <a:latin typeface="Times New Roman" pitchFamily="18" charset="0"/>
                <a:cs typeface="Times New Roman" pitchFamily="18" charset="0"/>
              </a:rPr>
              <a:t> ø</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x 1000) + P</a:t>
            </a:r>
            <a:r>
              <a:rPr lang="en-US" baseline="-25000" dirty="0" smtClean="0">
                <a:latin typeface="Times New Roman" pitchFamily="18" charset="0"/>
                <a:cs typeface="Times New Roman" pitchFamily="18" charset="0"/>
              </a:rPr>
              <a:t>i</a:t>
            </a:r>
            <a:r>
              <a:rPr lang="en-US" dirty="0" smtClean="0">
                <a:latin typeface="Times New Roman" pitchFamily="18" charset="0"/>
                <a:cs typeface="Times New Roman" pitchFamily="18" charset="0"/>
              </a:rPr>
              <a:t> +(0.5)</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P</a:t>
            </a:r>
            <a:r>
              <a:rPr lang="en-US" baseline="-25000" dirty="0" smtClean="0">
                <a:latin typeface="Times New Roman" pitchFamily="18" charset="0"/>
                <a:cs typeface="Times New Roman" pitchFamily="18" charset="0"/>
              </a:rPr>
              <a:t>c </a:t>
            </a:r>
            <a:endParaRPr lang="en-US" dirty="0">
              <a:latin typeface="Times New Roman" pitchFamily="18" charset="0"/>
              <a:cs typeface="Times New Roman" pitchFamily="18" charset="0"/>
            </a:endParaRPr>
          </a:p>
        </p:txBody>
      </p:sp>
      <p:cxnSp>
        <p:nvCxnSpPr>
          <p:cNvPr id="7" name="Straight Connector 6"/>
          <p:cNvCxnSpPr/>
          <p:nvPr/>
        </p:nvCxnSpPr>
        <p:spPr>
          <a:xfrm>
            <a:off x="1905000" y="5334000"/>
            <a:ext cx="6400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lnSpcReduction="10000"/>
          </a:bodyPr>
          <a:lstStyle/>
          <a:p>
            <a:r>
              <a:rPr lang="en-US" b="1" dirty="0" smtClean="0">
                <a:latin typeface="Times New Roman" pitchFamily="18" charset="0"/>
                <a:cs typeface="Times New Roman" pitchFamily="18" charset="0"/>
              </a:rPr>
              <a:t>Why the transformer efficiency is always higher than that of rotating machines?</a:t>
            </a:r>
          </a:p>
          <a:p>
            <a:pPr>
              <a:buFont typeface="Wingdings" pitchFamily="2" charset="2"/>
              <a:buChar char="Ø"/>
            </a:pPr>
            <a:r>
              <a:rPr lang="en-US" dirty="0" smtClean="0">
                <a:latin typeface="Times New Roman" pitchFamily="18" charset="0"/>
                <a:cs typeface="Times New Roman" pitchFamily="18" charset="0"/>
              </a:rPr>
              <a:t>The transformer is a static device with no moving parts. Hence losses due to friction and windage are completely absent.</a:t>
            </a:r>
          </a:p>
          <a:p>
            <a:pPr>
              <a:buFont typeface="Wingdings" pitchFamily="2" charset="2"/>
              <a:buChar char="Ø"/>
            </a:pPr>
            <a:r>
              <a:rPr lang="en-US" dirty="0" smtClean="0">
                <a:latin typeface="Times New Roman" pitchFamily="18" charset="0"/>
                <a:cs typeface="Times New Roman" pitchFamily="18" charset="0"/>
              </a:rPr>
              <a:t>The efficiency of the transformer can be atleast equal to 90%.</a:t>
            </a:r>
          </a:p>
          <a:p>
            <a:pPr>
              <a:buFont typeface="Wingdings" pitchFamily="2" charset="2"/>
              <a:buChar char="Ø"/>
            </a:pPr>
            <a:r>
              <a:rPr lang="en-US" dirty="0" smtClean="0">
                <a:latin typeface="Times New Roman" pitchFamily="18" charset="0"/>
                <a:cs typeface="Times New Roman" pitchFamily="18" charset="0"/>
              </a:rPr>
              <a:t>This why the transformer efficiency is always higher than the that of rotating machines</a:t>
            </a:r>
            <a:r>
              <a:rPr lang="en-US" dirty="0" smtClean="0"/>
              <a:t>.</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latin typeface="Times New Roman" pitchFamily="18" charset="0"/>
                <a:cs typeface="Times New Roman" pitchFamily="18" charset="0"/>
              </a:rPr>
              <a:t>Condition for maximum efficiency:</a:t>
            </a:r>
          </a:p>
          <a:p>
            <a:pPr>
              <a:buNone/>
            </a:pPr>
            <a:r>
              <a:rPr lang="en-US" dirty="0" smtClean="0">
                <a:latin typeface="Times New Roman" pitchFamily="18" charset="0"/>
                <a:cs typeface="Times New Roman" pitchFamily="18" charset="0"/>
              </a:rPr>
              <a:t>    It can be proved that the transformer efficiency is maximum when,</a:t>
            </a:r>
          </a:p>
          <a:p>
            <a:pPr>
              <a:buNone/>
            </a:pPr>
            <a:r>
              <a:rPr lang="en-US" dirty="0" smtClean="0">
                <a:latin typeface="Times New Roman" pitchFamily="18" charset="0"/>
                <a:cs typeface="Times New Roman" pitchFamily="18" charset="0"/>
              </a:rPr>
              <a:t>                  P</a:t>
            </a:r>
            <a:r>
              <a:rPr lang="en-US" baseline="-25000" dirty="0" smtClean="0">
                <a:latin typeface="Times New Roman" pitchFamily="18" charset="0"/>
                <a:cs typeface="Times New Roman" pitchFamily="18" charset="0"/>
              </a:rPr>
              <a:t>i</a:t>
            </a:r>
            <a:r>
              <a:rPr lang="en-US" dirty="0" smtClean="0">
                <a:latin typeface="Times New Roman" pitchFamily="18" charset="0"/>
                <a:cs typeface="Times New Roman" pitchFamily="18" charset="0"/>
              </a:rPr>
              <a:t> = P</a:t>
            </a:r>
            <a:r>
              <a:rPr lang="en-US" baseline="-25000" dirty="0" smtClean="0">
                <a:latin typeface="Times New Roman" pitchFamily="18" charset="0"/>
                <a:cs typeface="Times New Roman" pitchFamily="18" charset="0"/>
              </a:rPr>
              <a:t>c</a:t>
            </a:r>
          </a:p>
          <a:p>
            <a:pPr>
              <a:buNone/>
            </a:pPr>
            <a:r>
              <a:rPr lang="en-US" dirty="0" smtClean="0">
                <a:latin typeface="Times New Roman" pitchFamily="18" charset="0"/>
                <a:cs typeface="Times New Roman" pitchFamily="18" charset="0"/>
              </a:rPr>
              <a:t>   i.e. when copper loss equals the iron loss.</a:t>
            </a:r>
          </a:p>
          <a:p>
            <a:r>
              <a:rPr lang="en-US" b="1" dirty="0" smtClean="0">
                <a:latin typeface="Times New Roman" pitchFamily="18" charset="0"/>
                <a:cs typeface="Times New Roman" pitchFamily="18" charset="0"/>
              </a:rPr>
              <a:t>Load at maximum efficiency:</a:t>
            </a:r>
          </a:p>
          <a:p>
            <a:pPr>
              <a:buFont typeface="Wingdings" pitchFamily="2" charset="2"/>
              <a:buChar char="Ø"/>
            </a:pPr>
            <a:r>
              <a:rPr lang="en-US" dirty="0" smtClean="0">
                <a:latin typeface="Times New Roman" pitchFamily="18" charset="0"/>
                <a:cs typeface="Times New Roman" pitchFamily="18" charset="0"/>
              </a:rPr>
              <a:t>Let </a:t>
            </a:r>
            <a:r>
              <a:rPr lang="en-US" dirty="0" err="1" smtClean="0">
                <a:latin typeface="Times New Roman" pitchFamily="18" charset="0"/>
                <a:cs typeface="Times New Roman" pitchFamily="18" charset="0"/>
              </a:rPr>
              <a:t>kVA</a:t>
            </a:r>
            <a:r>
              <a:rPr lang="en-US" baseline="-25000" dirty="0" smtClean="0">
                <a:latin typeface="Times New Roman" pitchFamily="18" charset="0"/>
                <a:cs typeface="Times New Roman" pitchFamily="18" charset="0"/>
              </a:rPr>
              <a:t>(max)</a:t>
            </a:r>
            <a:r>
              <a:rPr lang="en-US" dirty="0" smtClean="0">
                <a:latin typeface="Times New Roman" pitchFamily="18" charset="0"/>
                <a:cs typeface="Times New Roman" pitchFamily="18" charset="0"/>
              </a:rPr>
              <a:t> be the </a:t>
            </a: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of the transformer at full load and </a:t>
            </a:r>
            <a:r>
              <a:rPr lang="en-US" dirty="0" err="1" smtClean="0">
                <a:latin typeface="Times New Roman" pitchFamily="18" charset="0"/>
                <a:cs typeface="Times New Roman" pitchFamily="18" charset="0"/>
              </a:rPr>
              <a:t>kVA</a:t>
            </a:r>
            <a:r>
              <a:rPr lang="en-US" baseline="-25000" dirty="0" smtClean="0">
                <a:latin typeface="Times New Roman" pitchFamily="18" charset="0"/>
                <a:cs typeface="Times New Roman" pitchFamily="18" charset="0"/>
              </a:rPr>
              <a:t>(load)</a:t>
            </a:r>
            <a:r>
              <a:rPr lang="en-US" dirty="0" smtClean="0">
                <a:latin typeface="Times New Roman" pitchFamily="18" charset="0"/>
                <a:cs typeface="Times New Roman" pitchFamily="18" charset="0"/>
              </a:rPr>
              <a:t> be </a:t>
            </a: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at a particular load.</a:t>
            </a:r>
          </a:p>
          <a:p>
            <a:pPr>
              <a:buNone/>
            </a:pPr>
            <a:r>
              <a:rPr lang="en-US" dirty="0" smtClean="0">
                <a:latin typeface="Times New Roman" pitchFamily="18" charset="0"/>
                <a:cs typeface="Times New Roman" pitchFamily="18" charset="0"/>
              </a:rPr>
              <a:t>    Let P</a:t>
            </a:r>
            <a:r>
              <a:rPr lang="en-US" baseline="-25000" dirty="0" smtClean="0">
                <a:latin typeface="Times New Roman" pitchFamily="18" charset="0"/>
                <a:cs typeface="Times New Roman" pitchFamily="18" charset="0"/>
              </a:rPr>
              <a:t>i</a:t>
            </a:r>
            <a:r>
              <a:rPr lang="en-US" dirty="0" smtClean="0">
                <a:latin typeface="Times New Roman" pitchFamily="18" charset="0"/>
                <a:cs typeface="Times New Roman" pitchFamily="18" charset="0"/>
              </a:rPr>
              <a:t> = constant iron loss and </a:t>
            </a:r>
          </a:p>
          <a:p>
            <a:pPr>
              <a:buNone/>
            </a:pPr>
            <a:r>
              <a:rPr lang="en-US" dirty="0" smtClean="0">
                <a:latin typeface="Times New Roman" pitchFamily="18" charset="0"/>
                <a:cs typeface="Times New Roman" pitchFamily="18" charset="0"/>
              </a:rPr>
              <a:t>          P</a:t>
            </a:r>
            <a:r>
              <a:rPr lang="en-US" baseline="-25000" dirty="0" smtClean="0">
                <a:latin typeface="Times New Roman" pitchFamily="18" charset="0"/>
                <a:cs typeface="Times New Roman" pitchFamily="18" charset="0"/>
              </a:rPr>
              <a:t>c</a:t>
            </a:r>
            <a:r>
              <a:rPr lang="en-US" dirty="0" smtClean="0">
                <a:latin typeface="Times New Roman" pitchFamily="18" charset="0"/>
                <a:cs typeface="Times New Roman" pitchFamily="18" charset="0"/>
              </a:rPr>
              <a:t> = copper loss at full load  </a:t>
            </a:r>
          </a:p>
          <a:p>
            <a:pPr>
              <a:buFont typeface="Wingdings" pitchFamily="2" charset="2"/>
              <a:buChar char="Ø"/>
            </a:pP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load for maximum efficiency is given by,</a:t>
            </a: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load for maximum efficiency = </a:t>
            </a:r>
            <a:r>
              <a:rPr lang="en-US" dirty="0" err="1" smtClean="0">
                <a:latin typeface="Times New Roman" pitchFamily="18" charset="0"/>
                <a:cs typeface="Times New Roman" pitchFamily="18" charset="0"/>
              </a:rPr>
              <a:t>kVA</a:t>
            </a:r>
            <a:r>
              <a:rPr lang="en-US" baseline="-25000" dirty="0" smtClean="0">
                <a:latin typeface="Times New Roman" pitchFamily="18" charset="0"/>
                <a:cs typeface="Times New Roman" pitchFamily="18" charset="0"/>
              </a:rPr>
              <a:t>(max)</a:t>
            </a:r>
            <a:r>
              <a:rPr lang="en-US" dirty="0" smtClean="0">
                <a:latin typeface="Times New Roman" pitchFamily="18" charset="0"/>
                <a:cs typeface="Times New Roman" pitchFamily="18" charset="0"/>
              </a:rPr>
              <a:t> √P</a:t>
            </a:r>
            <a:r>
              <a:rPr lang="en-US" baseline="-25000" dirty="0" smtClean="0">
                <a:latin typeface="Times New Roman" pitchFamily="18" charset="0"/>
                <a:cs typeface="Times New Roman" pitchFamily="18" charset="0"/>
              </a:rPr>
              <a:t>i</a:t>
            </a:r>
            <a:r>
              <a:rPr lang="en-US" dirty="0" smtClean="0">
                <a:latin typeface="Times New Roman" pitchFamily="18" charset="0"/>
                <a:cs typeface="Times New Roman" pitchFamily="18" charset="0"/>
              </a:rPr>
              <a:t>/P</a:t>
            </a:r>
            <a:r>
              <a:rPr lang="en-US" baseline="-25000" dirty="0" smtClean="0">
                <a:latin typeface="Times New Roman" pitchFamily="18" charset="0"/>
                <a:cs typeface="Times New Roman" pitchFamily="18" charset="0"/>
              </a:rPr>
              <a:t>c</a:t>
            </a:r>
          </a:p>
        </p:txBody>
      </p:sp>
      <p:cxnSp>
        <p:nvCxnSpPr>
          <p:cNvPr id="5" name="Straight Connector 4"/>
          <p:cNvCxnSpPr/>
          <p:nvPr/>
        </p:nvCxnSpPr>
        <p:spPr>
          <a:xfrm>
            <a:off x="6629400" y="5638800"/>
            <a:ext cx="76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latin typeface="Times New Roman" pitchFamily="18" charset="0"/>
                <a:cs typeface="Times New Roman" pitchFamily="18" charset="0"/>
              </a:rPr>
              <a:t>Voltage regulation:</a:t>
            </a:r>
          </a:p>
          <a:p>
            <a:pPr>
              <a:buFont typeface="Wingdings" pitchFamily="2" charset="2"/>
              <a:buChar char="Ø"/>
            </a:pPr>
            <a:r>
              <a:rPr lang="en-US" dirty="0" smtClean="0">
                <a:latin typeface="Times New Roman" pitchFamily="18" charset="0"/>
                <a:cs typeface="Times New Roman" pitchFamily="18" charset="0"/>
              </a:rPr>
              <a:t>Ideally, the secondary terminal voltage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(or load voltage) of a transformer should remain constant independent of the load current.</a:t>
            </a:r>
          </a:p>
          <a:p>
            <a:pPr>
              <a:buFont typeface="Wingdings" pitchFamily="2" charset="2"/>
              <a:buChar char="Ø"/>
            </a:pPr>
            <a:r>
              <a:rPr lang="en-US" dirty="0" smtClean="0">
                <a:latin typeface="Times New Roman" pitchFamily="18" charset="0"/>
                <a:cs typeface="Times New Roman" pitchFamily="18" charset="0"/>
              </a:rPr>
              <a:t>But practically the load voltage decreases with increase in load current I</a:t>
            </a:r>
            <a:r>
              <a:rPr lang="en-US" baseline="-25000" dirty="0" smtClean="0">
                <a:latin typeface="Times New Roman" pitchFamily="18" charset="0"/>
                <a:cs typeface="Times New Roman" pitchFamily="18" charset="0"/>
              </a:rPr>
              <a:t>L</a:t>
            </a:r>
            <a:r>
              <a:rPr lang="en-US" dirty="0" smtClean="0">
                <a:latin typeface="Times New Roman" pitchFamily="18" charset="0"/>
                <a:cs typeface="Times New Roman" pitchFamily="18" charset="0"/>
              </a:rPr>
              <a:t>.</a:t>
            </a:r>
          </a:p>
          <a:p>
            <a:pPr>
              <a:buFont typeface="Wingdings" pitchFamily="2" charset="2"/>
              <a:buChar char="Ø"/>
            </a:pPr>
            <a:r>
              <a:rPr lang="en-US" b="1" dirty="0" smtClean="0">
                <a:latin typeface="Times New Roman" pitchFamily="18" charset="0"/>
                <a:cs typeface="Times New Roman" pitchFamily="18" charset="0"/>
              </a:rPr>
              <a:t>No load Voltage: </a:t>
            </a:r>
          </a:p>
          <a:p>
            <a:pPr>
              <a:buNone/>
            </a:pPr>
            <a:r>
              <a:rPr lang="en-US" dirty="0" smtClean="0">
                <a:latin typeface="Times New Roman" pitchFamily="18" charset="0"/>
                <a:cs typeface="Times New Roman" pitchFamily="18" charset="0"/>
              </a:rPr>
              <a:t>		The no load voltage is the secondary terminal voltage corresponding to zero load current. For a transformer</a:t>
            </a:r>
          </a:p>
          <a:p>
            <a:pPr>
              <a:buNone/>
            </a:pPr>
            <a:r>
              <a:rPr lang="en-US" dirty="0" smtClean="0">
                <a:latin typeface="Times New Roman" pitchFamily="18" charset="0"/>
                <a:cs typeface="Times New Roman" pitchFamily="18" charset="0"/>
              </a:rPr>
              <a:t>                 No load voltage = E</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volts</a:t>
            </a:r>
            <a:endParaRPr lang="en-US" dirty="0">
              <a:latin typeface="Times New Roman" pitchFamily="18" charset="0"/>
              <a:cs typeface="Times New Roman"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b="1" dirty="0" smtClean="0">
                <a:latin typeface="Times New Roman" pitchFamily="18" charset="0"/>
                <a:cs typeface="Times New Roman" pitchFamily="18" charset="0"/>
              </a:rPr>
              <a:t>Full load voltage:</a:t>
            </a:r>
          </a:p>
          <a:p>
            <a:pPr>
              <a:buNone/>
            </a:pPr>
            <a:r>
              <a:rPr lang="en-US" dirty="0" smtClean="0">
                <a:latin typeface="Times New Roman" pitchFamily="18" charset="0"/>
                <a:cs typeface="Times New Roman" pitchFamily="18" charset="0"/>
              </a:rPr>
              <a:t>		It is secondary terminal voltage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corresponding to the specified load current. The percent voltage regulation is given by mathematically as:</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……(1)</a:t>
            </a:r>
          </a:p>
          <a:p>
            <a:pPr>
              <a:buFont typeface="Wingdings" pitchFamily="2" charset="2"/>
              <a:buChar char="Ø"/>
            </a:pPr>
            <a:r>
              <a:rPr lang="en-US" dirty="0" smtClean="0">
                <a:latin typeface="Times New Roman" pitchFamily="18" charset="0"/>
                <a:cs typeface="Times New Roman" pitchFamily="18" charset="0"/>
              </a:rPr>
              <a:t>Thus with increase in load current, the value of V2 decreases and the percent regulation increases. Ideal value of voltage regulation is 0%.</a:t>
            </a:r>
            <a:endParaRPr lang="en-US" dirty="0">
              <a:latin typeface="Times New Roman" pitchFamily="18" charset="0"/>
              <a:cs typeface="Times New Roman" pitchFamily="18" charset="0"/>
            </a:endParaRPr>
          </a:p>
        </p:txBody>
      </p:sp>
      <p:pic>
        <p:nvPicPr>
          <p:cNvPr id="4" name="Picture 3" descr="% regulation.jpeg"/>
          <p:cNvPicPr>
            <a:picLocks noChangeAspect="1"/>
          </p:cNvPicPr>
          <p:nvPr/>
        </p:nvPicPr>
        <p:blipFill>
          <a:blip r:embed="rId2" cstate="print"/>
          <a:stretch>
            <a:fillRect/>
          </a:stretch>
        </p:blipFill>
        <p:spPr>
          <a:xfrm>
            <a:off x="2362200" y="3581400"/>
            <a:ext cx="3962400" cy="9144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a:bodyPr>
          <a:lstStyle/>
          <a:p>
            <a:pPr>
              <a:buFont typeface="Wingdings" pitchFamily="2" charset="2"/>
              <a:buChar char="Ø"/>
            </a:pPr>
            <a:r>
              <a:rPr lang="en-US" b="1" dirty="0" smtClean="0">
                <a:latin typeface="Times New Roman" pitchFamily="18" charset="0"/>
                <a:cs typeface="Times New Roman" pitchFamily="18" charset="0"/>
              </a:rPr>
              <a:t>Definition of voltage regulation:</a:t>
            </a:r>
          </a:p>
          <a:p>
            <a:pPr>
              <a:buNone/>
            </a:pPr>
            <a:r>
              <a:rPr lang="en-US" dirty="0" smtClean="0">
                <a:latin typeface="Times New Roman" pitchFamily="18" charset="0"/>
                <a:cs typeface="Times New Roman" pitchFamily="18" charset="0"/>
              </a:rPr>
              <a:t>		The voltage regulation of a transformer is defined as the change in secondary terminal voltage(V2) from no load to full load with the primary source voltage (V1) and the temperature of the transformer maintained constant.</a:t>
            </a:r>
          </a:p>
          <a:p>
            <a:pPr>
              <a:buNone/>
            </a:pPr>
            <a:r>
              <a:rPr lang="en-US" dirty="0" smtClean="0">
                <a:latin typeface="Times New Roman" pitchFamily="18" charset="0"/>
                <a:cs typeface="Times New Roman" pitchFamily="18" charset="0"/>
              </a:rPr>
              <a:t>		The regulation is positive for resistive and inductive loads and it can be negative for the capacitive load. </a:t>
            </a:r>
          </a:p>
          <a:p>
            <a:pPr>
              <a:buNone/>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Load Test</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latin typeface="Times New Roman" pitchFamily="18" charset="0"/>
                <a:cs typeface="Times New Roman" pitchFamily="18" charset="0"/>
              </a:rPr>
              <a:t>Some of the tests carried out on a transformer are as follows:</a:t>
            </a:r>
          </a:p>
          <a:p>
            <a:pPr marL="514350" indent="-514350">
              <a:buAutoNum type="arabicPeriod"/>
            </a:pPr>
            <a:r>
              <a:rPr lang="en-US" dirty="0" smtClean="0">
                <a:latin typeface="Times New Roman" pitchFamily="18" charset="0"/>
                <a:cs typeface="Times New Roman" pitchFamily="18" charset="0"/>
              </a:rPr>
              <a:t>Direct loading test of load test</a:t>
            </a:r>
          </a:p>
          <a:p>
            <a:pPr marL="514350" indent="-514350">
              <a:buAutoNum type="arabicPeriod"/>
            </a:pPr>
            <a:r>
              <a:rPr lang="en-US" dirty="0" smtClean="0">
                <a:latin typeface="Times New Roman" pitchFamily="18" charset="0"/>
                <a:cs typeface="Times New Roman" pitchFamily="18" charset="0"/>
              </a:rPr>
              <a:t>Open circuit (O.C.) test</a:t>
            </a:r>
          </a:p>
          <a:p>
            <a:pPr marL="514350" indent="-514350">
              <a:buAutoNum type="arabicPeriod"/>
            </a:pPr>
            <a:r>
              <a:rPr lang="en-US" dirty="0" smtClean="0">
                <a:latin typeface="Times New Roman" pitchFamily="18" charset="0"/>
                <a:cs typeface="Times New Roman" pitchFamily="18" charset="0"/>
              </a:rPr>
              <a:t>Short circuit (S.C.) test</a:t>
            </a:r>
          </a:p>
          <a:p>
            <a:pPr marL="514350" indent="-514350">
              <a:buAutoNum type="arabicPeriod"/>
            </a:pPr>
            <a:r>
              <a:rPr lang="en-US" dirty="0" smtClean="0">
                <a:latin typeface="Times New Roman" pitchFamily="18" charset="0"/>
                <a:cs typeface="Times New Roman" pitchFamily="18" charset="0"/>
              </a:rPr>
              <a:t>Polarity test</a:t>
            </a:r>
          </a:p>
          <a:p>
            <a:pPr marL="514350" indent="-514350"/>
            <a:r>
              <a:rPr lang="en-US" b="1" dirty="0" smtClean="0">
                <a:latin typeface="Times New Roman" pitchFamily="18" charset="0"/>
                <a:cs typeface="Times New Roman" pitchFamily="18" charset="0"/>
              </a:rPr>
              <a:t>Efficiency measurement:</a:t>
            </a:r>
          </a:p>
          <a:p>
            <a:pPr marL="514350" indent="-514350">
              <a:buNone/>
            </a:pPr>
            <a:r>
              <a:rPr lang="en-US" dirty="0" smtClean="0">
                <a:latin typeface="Times New Roman" pitchFamily="18" charset="0"/>
                <a:cs typeface="Times New Roman" pitchFamily="18" charset="0"/>
              </a:rPr>
              <a:t>		% η = output power delivered to load    x 100</a:t>
            </a:r>
          </a:p>
          <a:p>
            <a:pPr marL="514350" indent="-514350">
              <a:buNone/>
            </a:pPr>
            <a:r>
              <a:rPr lang="en-US" dirty="0" smtClean="0">
                <a:latin typeface="Times New Roman" pitchFamily="18" charset="0"/>
                <a:cs typeface="Times New Roman" pitchFamily="18" charset="0"/>
              </a:rPr>
              <a:t>                       input power to the primary</a:t>
            </a:r>
            <a:endParaRPr lang="en-US" dirty="0">
              <a:latin typeface="Times New Roman" pitchFamily="18" charset="0"/>
              <a:cs typeface="Times New Roman" pitchFamily="18" charset="0"/>
            </a:endParaRPr>
          </a:p>
        </p:txBody>
      </p:sp>
      <p:cxnSp>
        <p:nvCxnSpPr>
          <p:cNvPr id="5" name="Straight Connector 4"/>
          <p:cNvCxnSpPr/>
          <p:nvPr/>
        </p:nvCxnSpPr>
        <p:spPr>
          <a:xfrm>
            <a:off x="2362200" y="5562600"/>
            <a:ext cx="5029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latin typeface="Times New Roman" pitchFamily="18" charset="0"/>
                <a:cs typeface="Times New Roman" pitchFamily="18" charset="0"/>
              </a:rPr>
              <a:t>Regulation measurement:</a:t>
            </a:r>
          </a:p>
          <a:p>
            <a:pPr>
              <a:buNone/>
            </a:pPr>
            <a:r>
              <a:rPr lang="en-US" dirty="0" smtClean="0">
                <a:latin typeface="Times New Roman" pitchFamily="18" charset="0"/>
                <a:cs typeface="Times New Roman" pitchFamily="18" charset="0"/>
              </a:rPr>
              <a:t>		% Regulation = V</a:t>
            </a:r>
            <a:r>
              <a:rPr lang="en-US" baseline="-25000" dirty="0" smtClean="0">
                <a:latin typeface="Times New Roman" pitchFamily="18" charset="0"/>
                <a:cs typeface="Times New Roman" pitchFamily="18" charset="0"/>
              </a:rPr>
              <a:t>2NL</a:t>
            </a:r>
            <a:r>
              <a:rPr lang="en-US" dirty="0" smtClean="0">
                <a:latin typeface="Times New Roman" pitchFamily="18" charset="0"/>
                <a:cs typeface="Times New Roman" pitchFamily="18" charset="0"/>
              </a:rPr>
              <a:t> – V</a:t>
            </a:r>
            <a:r>
              <a:rPr lang="en-US" baseline="-25000" dirty="0" smtClean="0">
                <a:latin typeface="Times New Roman" pitchFamily="18" charset="0"/>
                <a:cs typeface="Times New Roman" pitchFamily="18" charset="0"/>
              </a:rPr>
              <a:t>2FL  </a:t>
            </a:r>
            <a:r>
              <a:rPr lang="en-US" dirty="0" smtClean="0">
                <a:latin typeface="Times New Roman" pitchFamily="18" charset="0"/>
                <a:cs typeface="Times New Roman" pitchFamily="18" charset="0"/>
              </a:rPr>
              <a:t>x 100</a:t>
            </a:r>
            <a:endParaRPr lang="en-US" baseline="-25000"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V</a:t>
            </a:r>
            <a:r>
              <a:rPr lang="en-US" baseline="-25000" dirty="0" smtClean="0">
                <a:latin typeface="Times New Roman" pitchFamily="18" charset="0"/>
                <a:cs typeface="Times New Roman" pitchFamily="18" charset="0"/>
              </a:rPr>
              <a:t>2NL</a:t>
            </a:r>
          </a:p>
          <a:p>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Advantages of a two winding transformer:</a:t>
            </a:r>
          </a:p>
          <a:p>
            <a:pPr marL="514350" indent="-514350">
              <a:buFont typeface="+mj-lt"/>
              <a:buAutoNum type="arabicPeriod"/>
            </a:pPr>
            <a:r>
              <a:rPr lang="en-US" dirty="0" smtClean="0">
                <a:latin typeface="Times New Roman" pitchFamily="18" charset="0"/>
                <a:cs typeface="Times New Roman" pitchFamily="18" charset="0"/>
              </a:rPr>
              <a:t>It provides complete isolation between primary and secondary.</a:t>
            </a:r>
          </a:p>
          <a:p>
            <a:pPr marL="514350" indent="-514350">
              <a:buFont typeface="+mj-lt"/>
              <a:buAutoNum type="arabicPeriod"/>
            </a:pPr>
            <a:r>
              <a:rPr lang="en-US" dirty="0" smtClean="0">
                <a:latin typeface="Times New Roman" pitchFamily="18" charset="0"/>
                <a:cs typeface="Times New Roman" pitchFamily="18" charset="0"/>
              </a:rPr>
              <a:t>It has no moving parts.</a:t>
            </a:r>
          </a:p>
          <a:p>
            <a:pPr marL="514350" indent="-514350">
              <a:buFont typeface="+mj-lt"/>
              <a:buAutoNum type="arabicPeriod"/>
            </a:pPr>
            <a:r>
              <a:rPr lang="en-US" dirty="0" smtClean="0">
                <a:latin typeface="Times New Roman" pitchFamily="18" charset="0"/>
                <a:cs typeface="Times New Roman" pitchFamily="18" charset="0"/>
              </a:rPr>
              <a:t>Its construction is simple.</a:t>
            </a:r>
          </a:p>
          <a:p>
            <a:pPr marL="514350" indent="-514350">
              <a:buFont typeface="+mj-lt"/>
              <a:buAutoNum type="arabicPeriod"/>
            </a:pPr>
            <a:r>
              <a:rPr lang="en-US" dirty="0" smtClean="0">
                <a:latin typeface="Times New Roman" pitchFamily="18" charset="0"/>
                <a:cs typeface="Times New Roman" pitchFamily="18" charset="0"/>
              </a:rPr>
              <a:t>We can step up or step down the voltage.</a:t>
            </a:r>
            <a:endParaRPr lang="en-US" dirty="0">
              <a:latin typeface="Times New Roman" pitchFamily="18" charset="0"/>
              <a:cs typeface="Times New Roman" pitchFamily="18" charset="0"/>
            </a:endParaRPr>
          </a:p>
        </p:txBody>
      </p:sp>
      <p:cxnSp>
        <p:nvCxnSpPr>
          <p:cNvPr id="5" name="Straight Connector 4"/>
          <p:cNvCxnSpPr/>
          <p:nvPr/>
        </p:nvCxnSpPr>
        <p:spPr>
          <a:xfrm>
            <a:off x="4038600" y="2667000"/>
            <a:ext cx="1752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latin typeface="Times New Roman" pitchFamily="18" charset="0"/>
                <a:cs typeface="Times New Roman" pitchFamily="18" charset="0"/>
              </a:rPr>
              <a:t>Disadvantages:</a:t>
            </a:r>
          </a:p>
          <a:p>
            <a:pPr marL="514350" indent="-514350">
              <a:buFont typeface="+mj-lt"/>
              <a:buAutoNum type="arabicPeriod"/>
            </a:pPr>
            <a:r>
              <a:rPr lang="en-US" dirty="0" smtClean="0">
                <a:latin typeface="Times New Roman" pitchFamily="18" charset="0"/>
                <a:cs typeface="Times New Roman" pitchFamily="18" charset="0"/>
              </a:rPr>
              <a:t>Large size.</a:t>
            </a:r>
          </a:p>
          <a:p>
            <a:pPr marL="514350" indent="-514350">
              <a:buFont typeface="+mj-lt"/>
              <a:buAutoNum type="arabicPeriod"/>
            </a:pPr>
            <a:r>
              <a:rPr lang="en-US" dirty="0" smtClean="0">
                <a:latin typeface="Times New Roman" pitchFamily="18" charset="0"/>
                <a:cs typeface="Times New Roman" pitchFamily="18" charset="0"/>
              </a:rPr>
              <a:t>Low efficiency.</a:t>
            </a:r>
          </a:p>
          <a:p>
            <a:pPr marL="514350" indent="-514350">
              <a:buFont typeface="+mj-lt"/>
              <a:buAutoNum type="arabicPeriod"/>
            </a:pPr>
            <a:r>
              <a:rPr lang="en-US" dirty="0" smtClean="0">
                <a:latin typeface="Times New Roman" pitchFamily="18" charset="0"/>
                <a:cs typeface="Times New Roman" pitchFamily="18" charset="0"/>
              </a:rPr>
              <a:t>Poor voltage regulation.</a:t>
            </a:r>
          </a:p>
          <a:p>
            <a:pPr marL="514350" indent="-514350">
              <a:buFont typeface="+mj-lt"/>
              <a:buAutoNum type="arabicPeriod"/>
            </a:pPr>
            <a:r>
              <a:rPr lang="en-US" dirty="0" smtClean="0">
                <a:latin typeface="Times New Roman" pitchFamily="18" charset="0"/>
                <a:cs typeface="Times New Roman" pitchFamily="18" charset="0"/>
              </a:rPr>
              <a:t>High power losses in the windings.</a:t>
            </a:r>
          </a:p>
          <a:p>
            <a:pPr marL="514350" indent="-514350">
              <a:buFont typeface="+mj-lt"/>
              <a:buAutoNum type="arabicPeriod"/>
            </a:pPr>
            <a:r>
              <a:rPr lang="en-US" dirty="0" smtClean="0">
                <a:latin typeface="Times New Roman" pitchFamily="18" charset="0"/>
                <a:cs typeface="Times New Roman" pitchFamily="18" charset="0"/>
              </a:rPr>
              <a:t>More copper is required to be used because it has two separate windings.</a:t>
            </a:r>
          </a:p>
          <a:p>
            <a:pPr marL="514350" indent="-514350">
              <a:buFont typeface="+mj-lt"/>
              <a:buAutoNum type="arabicPeriod"/>
            </a:pPr>
            <a:r>
              <a:rPr lang="en-US" dirty="0" smtClean="0">
                <a:latin typeface="Times New Roman" pitchFamily="18" charset="0"/>
                <a:cs typeface="Times New Roman" pitchFamily="18" charset="0"/>
              </a:rPr>
              <a:t>Variable output voltage can not be obtained.</a:t>
            </a:r>
          </a:p>
          <a:p>
            <a:pPr marL="514350" indent="-514350">
              <a:buFont typeface="+mj-lt"/>
              <a:buAutoNum type="arabicPeriod"/>
            </a:pPr>
            <a:r>
              <a:rPr lang="en-US" dirty="0" smtClean="0">
                <a:latin typeface="Times New Roman" pitchFamily="18" charset="0"/>
                <a:cs typeface="Times New Roman" pitchFamily="18" charset="0"/>
              </a:rPr>
              <a:t>Variable frequency operation is not possible.</a:t>
            </a:r>
            <a:endParaRPr lang="en-US" dirty="0">
              <a:latin typeface="Times New Roman" pitchFamily="18" charset="0"/>
              <a:cs typeface="Times New Roman"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r>
              <a:rPr lang="en-US" b="1" dirty="0" smtClean="0"/>
              <a:t>Applications of two winding transformer:</a:t>
            </a:r>
          </a:p>
          <a:p>
            <a:pPr marL="514350" indent="-514350">
              <a:buFont typeface="+mj-lt"/>
              <a:buAutoNum type="arabicPeriod"/>
            </a:pPr>
            <a:r>
              <a:rPr lang="en-US" dirty="0" smtClean="0"/>
              <a:t>As the distribution transformer.</a:t>
            </a:r>
          </a:p>
          <a:p>
            <a:pPr marL="514350" indent="-514350">
              <a:buFont typeface="+mj-lt"/>
              <a:buAutoNum type="arabicPeriod"/>
            </a:pPr>
            <a:r>
              <a:rPr lang="en-US" dirty="0" smtClean="0"/>
              <a:t>As isolation transformer.</a:t>
            </a:r>
          </a:p>
          <a:p>
            <a:pPr marL="514350" indent="-514350">
              <a:buFont typeface="+mj-lt"/>
              <a:buAutoNum type="arabicPeriod"/>
            </a:pPr>
            <a:r>
              <a:rPr lang="en-US" dirty="0" smtClean="0"/>
              <a:t>As a step down transformer in the dc  power supplies.</a:t>
            </a:r>
          </a:p>
          <a:p>
            <a:pPr marL="514350" indent="-514350">
              <a:buFont typeface="+mj-lt"/>
              <a:buAutoNum type="arabicPeriod"/>
            </a:pPr>
            <a:r>
              <a:rPr lang="en-US" dirty="0" smtClean="0"/>
              <a:t>Welding applications.</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Autotransformer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r>
              <a:rPr lang="en-US" dirty="0" smtClean="0">
                <a:latin typeface="Times New Roman" pitchFamily="18" charset="0"/>
                <a:cs typeface="Times New Roman" pitchFamily="18" charset="0"/>
              </a:rPr>
              <a:t>The normal transformer has separate primary and secondary windings.</a:t>
            </a:r>
          </a:p>
          <a:p>
            <a:r>
              <a:rPr lang="en-US" dirty="0" smtClean="0">
                <a:latin typeface="Times New Roman" pitchFamily="18" charset="0"/>
                <a:cs typeface="Times New Roman" pitchFamily="18" charset="0"/>
              </a:rPr>
              <a:t>But the autotransformer is a special transformer in which a part of winding is common for the primary and secondary windings.</a:t>
            </a:r>
          </a:p>
          <a:p>
            <a:r>
              <a:rPr lang="en-US" dirty="0" smtClean="0">
                <a:latin typeface="Times New Roman" pitchFamily="18" charset="0"/>
                <a:cs typeface="Times New Roman" pitchFamily="18" charset="0"/>
              </a:rPr>
              <a:t>The construction of autotransformer is as shown in fig. (1).</a:t>
            </a:r>
          </a:p>
          <a:p>
            <a:r>
              <a:rPr lang="en-US" dirty="0" smtClean="0">
                <a:latin typeface="Times New Roman" pitchFamily="18" charset="0"/>
                <a:cs typeface="Times New Roman" pitchFamily="18" charset="0"/>
              </a:rPr>
              <a:t>It consists of only one winding wound on a laminated magnetic core, with rotary movable contact. Thus form the autotransformer three terminals are brought out for connection.</a:t>
            </a:r>
          </a:p>
          <a:p>
            <a:r>
              <a:rPr lang="en-US" dirty="0" smtClean="0">
                <a:latin typeface="Times New Roman" pitchFamily="18" charset="0"/>
                <a:cs typeface="Times New Roman" pitchFamily="18" charset="0"/>
              </a:rPr>
              <a:t>The autotransformer can operate as a step down or a step up transformer.</a:t>
            </a:r>
            <a:endParaRPr lang="en-US"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pic>
        <p:nvPicPr>
          <p:cNvPr id="4" name="Content Placeholder 3" descr="autotrans.png"/>
          <p:cNvPicPr>
            <a:picLocks noGrp="1" noChangeAspect="1"/>
          </p:cNvPicPr>
          <p:nvPr>
            <p:ph idx="1"/>
          </p:nvPr>
        </p:nvPicPr>
        <p:blipFill>
          <a:blip r:embed="rId2" cstate="print"/>
          <a:stretch>
            <a:fillRect/>
          </a:stretch>
        </p:blipFill>
        <p:spPr>
          <a:xfrm>
            <a:off x="1524000" y="1905000"/>
            <a:ext cx="6019800" cy="3200400"/>
          </a:xfrm>
        </p:spPr>
      </p:pic>
      <p:sp>
        <p:nvSpPr>
          <p:cNvPr id="5" name="TextBox 4"/>
          <p:cNvSpPr txBox="1"/>
          <p:nvPr/>
        </p:nvSpPr>
        <p:spPr>
          <a:xfrm>
            <a:off x="1905000" y="5257800"/>
            <a:ext cx="4724400" cy="369332"/>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Fig.(1): Autotransformer</a:t>
            </a:r>
            <a:endParaRPr lang="en-US" b="1" dirty="0">
              <a:latin typeface="Times New Roman" pitchFamily="18" charset="0"/>
              <a:cs typeface="Times New Roman"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lnSpcReduction="10000"/>
          </a:bodyPr>
          <a:lstStyle/>
          <a:p>
            <a:r>
              <a:rPr lang="en-US" b="1" dirty="0" smtClean="0">
                <a:latin typeface="Times New Roman" pitchFamily="18" charset="0"/>
                <a:cs typeface="Times New Roman" pitchFamily="18" charset="0"/>
              </a:rPr>
              <a:t>Autotransformer as step down transformer:</a:t>
            </a:r>
          </a:p>
          <a:p>
            <a:pPr>
              <a:buFont typeface="Wingdings" pitchFamily="2" charset="2"/>
              <a:buChar char="Ø"/>
            </a:pPr>
            <a:r>
              <a:rPr lang="en-US" dirty="0" smtClean="0">
                <a:latin typeface="Times New Roman" pitchFamily="18" charset="0"/>
                <a:cs typeface="Times New Roman" pitchFamily="18" charset="0"/>
              </a:rPr>
              <a:t>Fig.2(b) shows the connection of autotransformer as step down transformer.</a:t>
            </a:r>
          </a:p>
          <a:p>
            <a:pPr>
              <a:buFont typeface="Wingdings" pitchFamily="2" charset="2"/>
              <a:buChar char="Ø"/>
            </a:pPr>
            <a:r>
              <a:rPr lang="en-US" dirty="0" smtClean="0">
                <a:latin typeface="Times New Roman" pitchFamily="18" charset="0"/>
                <a:cs typeface="Times New Roman" pitchFamily="18" charset="0"/>
              </a:rPr>
              <a:t>It shows that two terminal A and B are connected to the single phase AC supply V</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thus winding AB acts as the primary winding.</a:t>
            </a:r>
          </a:p>
          <a:p>
            <a:pPr>
              <a:buFont typeface="Wingdings" pitchFamily="2" charset="2"/>
              <a:buChar char="Ø"/>
            </a:pPr>
            <a:r>
              <a:rPr lang="en-US" dirty="0" smtClean="0">
                <a:latin typeface="Times New Roman" pitchFamily="18" charset="0"/>
                <a:cs typeface="Times New Roman" pitchFamily="18" charset="0"/>
              </a:rPr>
              <a:t> A part of complete winding i.e. CB acts as the secondary winding across which the load is connected.</a:t>
            </a:r>
            <a:endParaRPr lang="en-US" dirty="0">
              <a:latin typeface="Times New Roman" pitchFamily="18" charset="0"/>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pic>
        <p:nvPicPr>
          <p:cNvPr id="4" name="Content Placeholder 3" descr="stepup n step down.jpg"/>
          <p:cNvPicPr>
            <a:picLocks noGrp="1" noChangeAspect="1"/>
          </p:cNvPicPr>
          <p:nvPr>
            <p:ph idx="1"/>
          </p:nvPr>
        </p:nvPicPr>
        <p:blipFill>
          <a:blip r:embed="rId2" cstate="print"/>
          <a:stretch>
            <a:fillRect/>
          </a:stretch>
        </p:blipFill>
        <p:spPr>
          <a:xfrm>
            <a:off x="381000" y="2057400"/>
            <a:ext cx="8305800" cy="3091656"/>
          </a:xfrm>
        </p:spPr>
      </p:pic>
      <p:sp>
        <p:nvSpPr>
          <p:cNvPr id="5" name="TextBox 4"/>
          <p:cNvSpPr txBox="1"/>
          <p:nvPr/>
        </p:nvSpPr>
        <p:spPr>
          <a:xfrm>
            <a:off x="533400" y="5257800"/>
            <a:ext cx="8305800" cy="369332"/>
          </a:xfrm>
          <a:prstGeom prst="rect">
            <a:avLst/>
          </a:prstGeom>
          <a:noFill/>
        </p:spPr>
        <p:txBody>
          <a:bodyPr wrap="square" rtlCol="0">
            <a:spAutoFit/>
          </a:bodyPr>
          <a:lstStyle/>
          <a:p>
            <a:r>
              <a:rPr lang="en-US" b="1" dirty="0" smtClean="0">
                <a:latin typeface="Times New Roman" pitchFamily="18" charset="0"/>
                <a:cs typeface="Times New Roman" pitchFamily="18" charset="0"/>
              </a:rPr>
              <a:t>Fig.2(a):Step down autotransformer                 fig.2(b):step down autotransformer</a:t>
            </a:r>
            <a:endParaRPr lang="en-US" b="1" dirty="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a:bodyPr>
          <a:lstStyle/>
          <a:p>
            <a:pPr>
              <a:buFont typeface="Wingdings" pitchFamily="2" charset="2"/>
              <a:buChar char="Ø"/>
            </a:pPr>
            <a:r>
              <a:rPr lang="en-US" dirty="0" smtClean="0">
                <a:latin typeface="Times New Roman" pitchFamily="18" charset="0"/>
                <a:cs typeface="Times New Roman" pitchFamily="18" charset="0"/>
              </a:rPr>
              <a:t>The load voltage for this configuration is given by, </a:t>
            </a:r>
          </a:p>
          <a:p>
            <a:pPr>
              <a:buNone/>
            </a:pPr>
            <a:r>
              <a:rPr lang="en-US" dirty="0" smtClean="0">
                <a:latin typeface="Times New Roman" pitchFamily="18" charset="0"/>
                <a:cs typeface="Times New Roman" pitchFamily="18" charset="0"/>
              </a:rPr>
              <a:t>                     V</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N</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x V</a:t>
            </a:r>
            <a:r>
              <a:rPr lang="en-US" baseline="-25000" dirty="0" smtClean="0">
                <a:latin typeface="Times New Roman" pitchFamily="18" charset="0"/>
                <a:cs typeface="Times New Roman" pitchFamily="18" charset="0"/>
              </a:rPr>
              <a:t>1</a:t>
            </a:r>
          </a:p>
          <a:p>
            <a:pPr>
              <a:buNone/>
            </a:pPr>
            <a:endParaRPr lang="en-US" dirty="0" smtClean="0">
              <a:latin typeface="Times New Roman" pitchFamily="18" charset="0"/>
              <a:cs typeface="Times New Roman" pitchFamily="18" charset="0"/>
            </a:endParaRPr>
          </a:p>
          <a:p>
            <a:pPr>
              <a:buFont typeface="Wingdings" pitchFamily="2" charset="2"/>
              <a:buChar char="Ø"/>
            </a:pPr>
            <a:r>
              <a:rPr lang="en-US" dirty="0" smtClean="0">
                <a:latin typeface="Times New Roman" pitchFamily="18" charset="0"/>
                <a:cs typeface="Times New Roman" pitchFamily="18" charset="0"/>
              </a:rPr>
              <a:t>As the number of turns N</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is less than N</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this configuration operates as step down transformer.</a:t>
            </a:r>
          </a:p>
          <a:p>
            <a:pPr>
              <a:buNone/>
            </a:pPr>
            <a:endParaRPr lang="en-US" dirty="0" smtClean="0"/>
          </a:p>
          <a:p>
            <a:pPr>
              <a:buNone/>
            </a:pPr>
            <a:r>
              <a:rPr lang="en-US" dirty="0" smtClean="0"/>
              <a:t>                              </a:t>
            </a:r>
            <a:endParaRPr lang="en-US" dirty="0"/>
          </a:p>
        </p:txBody>
      </p:sp>
      <p:cxnSp>
        <p:nvCxnSpPr>
          <p:cNvPr id="5" name="Straight Connector 4"/>
          <p:cNvCxnSpPr/>
          <p:nvPr/>
        </p:nvCxnSpPr>
        <p:spPr>
          <a:xfrm>
            <a:off x="3276600" y="3200400"/>
            <a:ext cx="45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200400" y="3124200"/>
            <a:ext cx="914400" cy="584775"/>
          </a:xfrm>
          <a:prstGeom prst="rect">
            <a:avLst/>
          </a:prstGeom>
          <a:noFill/>
        </p:spPr>
        <p:txBody>
          <a:bodyPr wrap="square" rtlCol="0">
            <a:spAutoFit/>
          </a:bodyPr>
          <a:lstStyle/>
          <a:p>
            <a:r>
              <a:rPr lang="en-US" sz="3200" dirty="0" smtClean="0">
                <a:latin typeface="Times New Roman" pitchFamily="18" charset="0"/>
                <a:cs typeface="Times New Roman" pitchFamily="18" charset="0"/>
              </a:rPr>
              <a:t>N</a:t>
            </a:r>
            <a:r>
              <a:rPr lang="en-US" sz="3200" baseline="-25000" dirty="0" smtClean="0">
                <a:latin typeface="Times New Roman" pitchFamily="18" charset="0"/>
                <a:cs typeface="Times New Roman" pitchFamily="18" charset="0"/>
              </a:rPr>
              <a:t>1</a:t>
            </a:r>
            <a:endParaRPr lang="en-US" sz="3200" baseline="-25000" dirty="0">
              <a:latin typeface="Times New Roman" pitchFamily="18" charset="0"/>
              <a:cs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latin typeface="Times New Roman" pitchFamily="18" charset="0"/>
                <a:cs typeface="Times New Roman" pitchFamily="18" charset="0"/>
              </a:rPr>
              <a:t>Autotransformer as step down transformer:</a:t>
            </a:r>
          </a:p>
          <a:p>
            <a:pPr>
              <a:buFont typeface="Wingdings" pitchFamily="2" charset="2"/>
              <a:buChar char="Ø"/>
            </a:pPr>
            <a:r>
              <a:rPr lang="en-US" dirty="0" smtClean="0">
                <a:latin typeface="Times New Roman" pitchFamily="18" charset="0"/>
                <a:cs typeface="Times New Roman" pitchFamily="18" charset="0"/>
              </a:rPr>
              <a:t>Fig.2(b) shows the connection of an autotransformer for operating as the step up transformer.</a:t>
            </a:r>
          </a:p>
          <a:p>
            <a:pPr>
              <a:buFont typeface="Wingdings" pitchFamily="2" charset="2"/>
              <a:buChar char="Ø"/>
            </a:pPr>
            <a:r>
              <a:rPr lang="en-US" dirty="0" smtClean="0">
                <a:latin typeface="Times New Roman" pitchFamily="18" charset="0"/>
                <a:cs typeface="Times New Roman" pitchFamily="18" charset="0"/>
              </a:rPr>
              <a:t>It shows the part CB of the complete winding acts as the primary winding. The full winding AB acts as a secondary winding and the load is connected between these terminals.</a:t>
            </a:r>
          </a:p>
          <a:p>
            <a:pPr>
              <a:buFont typeface="Wingdings" pitchFamily="2" charset="2"/>
              <a:buChar char="Ø"/>
            </a:pPr>
            <a:r>
              <a:rPr lang="en-US" dirty="0" smtClean="0">
                <a:latin typeface="Times New Roman" pitchFamily="18" charset="0"/>
                <a:cs typeface="Times New Roman" pitchFamily="18" charset="0"/>
              </a:rPr>
              <a:t>As the number of turns N</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is higher than the number of turns N</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the autotransformer acts as a step up transformer.</a:t>
            </a:r>
            <a:endParaRPr lang="en-US" dirty="0">
              <a:latin typeface="Times New Roman" pitchFamily="18" charset="0"/>
              <a:cs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latin typeface="Times New Roman" pitchFamily="18" charset="0"/>
                <a:cs typeface="Times New Roman" pitchFamily="18" charset="0"/>
              </a:rPr>
              <a:t>Advantages of autotransformer:</a:t>
            </a:r>
          </a:p>
          <a:p>
            <a:pPr marL="514350" indent="-514350">
              <a:buFont typeface="+mj-lt"/>
              <a:buAutoNum type="arabicPeriod"/>
            </a:pPr>
            <a:r>
              <a:rPr lang="en-US" dirty="0" smtClean="0">
                <a:latin typeface="Times New Roman" pitchFamily="18" charset="0"/>
                <a:cs typeface="Times New Roman" pitchFamily="18" charset="0"/>
              </a:rPr>
              <a:t>As only one winding is used, the copper required for the transformer is very less.</a:t>
            </a:r>
          </a:p>
          <a:p>
            <a:pPr marL="514350" indent="-514350">
              <a:buFont typeface="+mj-lt"/>
              <a:buAutoNum type="arabicPeriod"/>
            </a:pPr>
            <a:r>
              <a:rPr lang="en-US" dirty="0" smtClean="0">
                <a:latin typeface="Times New Roman" pitchFamily="18" charset="0"/>
                <a:cs typeface="Times New Roman" pitchFamily="18" charset="0"/>
              </a:rPr>
              <a:t>The size and hence cost is reduced as compared to the conventional transformer.</a:t>
            </a:r>
          </a:p>
          <a:p>
            <a:pPr marL="514350" indent="-514350">
              <a:buFont typeface="+mj-lt"/>
              <a:buAutoNum type="arabicPeriod"/>
            </a:pPr>
            <a:r>
              <a:rPr lang="en-US" dirty="0" smtClean="0">
                <a:latin typeface="Times New Roman" pitchFamily="18" charset="0"/>
                <a:cs typeface="Times New Roman" pitchFamily="18" charset="0"/>
              </a:rPr>
              <a:t>The losses taking place in the winding are reduced hence the efficiency is higher than the conventional transformer.</a:t>
            </a:r>
          </a:p>
          <a:p>
            <a:pPr marL="514350" indent="-514350">
              <a:buFont typeface="+mj-lt"/>
              <a:buAutoNum type="arabicPeriod"/>
            </a:pPr>
            <a:r>
              <a:rPr lang="en-US" dirty="0" smtClean="0">
                <a:latin typeface="Times New Roman" pitchFamily="18" charset="0"/>
                <a:cs typeface="Times New Roman" pitchFamily="18" charset="0"/>
              </a:rPr>
              <a:t>Due to reduced resistance, the voltage regulation is better than the conventional transformer.</a:t>
            </a:r>
            <a:endParaRPr lang="en-US" dirty="0">
              <a:latin typeface="Times New Roman" pitchFamily="18" charset="0"/>
              <a:cs typeface="Times New Roman"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latin typeface="Times New Roman" pitchFamily="18" charset="0"/>
                <a:cs typeface="Times New Roman" pitchFamily="18" charset="0"/>
              </a:rPr>
              <a:t>Disadvantages of autotransformer:</a:t>
            </a:r>
          </a:p>
          <a:p>
            <a:pPr marL="514350" indent="-514350">
              <a:buFont typeface="+mj-lt"/>
              <a:buAutoNum type="arabicPeriod"/>
            </a:pPr>
            <a:r>
              <a:rPr lang="en-US" dirty="0" smtClean="0">
                <a:latin typeface="Times New Roman" pitchFamily="18" charset="0"/>
                <a:cs typeface="Times New Roman" pitchFamily="18" charset="0"/>
              </a:rPr>
              <a:t>There is no electrical isolation between the primary and secondary winding. This can be proved to be dangerous for high voltage applications.</a:t>
            </a:r>
          </a:p>
          <a:p>
            <a:pPr marL="514350" indent="-514350">
              <a:buFont typeface="+mj-lt"/>
              <a:buAutoNum type="arabicPeriod"/>
            </a:pPr>
            <a:r>
              <a:rPr lang="en-US" dirty="0" smtClean="0">
                <a:latin typeface="Times New Roman" pitchFamily="18" charset="0"/>
                <a:cs typeface="Times New Roman" pitchFamily="18" charset="0"/>
              </a:rPr>
              <a:t>If common part of the winding breaks, then transformer action is lost and full primary voltage appears across the secondary .</a:t>
            </a:r>
          </a:p>
          <a:p>
            <a:pPr marL="514350" indent="-514350">
              <a:buFont typeface="+mj-lt"/>
              <a:buAutoNum type="arabicPeriod"/>
            </a:pPr>
            <a:r>
              <a:rPr lang="en-US" dirty="0" smtClean="0">
                <a:latin typeface="Times New Roman" pitchFamily="18" charset="0"/>
                <a:cs typeface="Times New Roman" pitchFamily="18" charset="0"/>
              </a:rPr>
              <a:t>It possess a low impedance, hence if the secondary circuit is short circuited, then large current will flow on the secondary side.</a:t>
            </a:r>
            <a:endParaRPr lang="en-US" dirty="0">
              <a:latin typeface="Times New Roman" pitchFamily="18" charset="0"/>
              <a:cs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latin typeface="Times New Roman" pitchFamily="18" charset="0"/>
                <a:cs typeface="Times New Roman" pitchFamily="18" charset="0"/>
              </a:rPr>
              <a:t>Applications of autotransformer:</a:t>
            </a:r>
          </a:p>
          <a:p>
            <a:pPr marL="514350" indent="-514350">
              <a:buFont typeface="+mj-lt"/>
              <a:buAutoNum type="arabicPeriod"/>
            </a:pPr>
            <a:r>
              <a:rPr lang="en-US" dirty="0" smtClean="0">
                <a:latin typeface="Times New Roman" pitchFamily="18" charset="0"/>
                <a:cs typeface="Times New Roman" pitchFamily="18" charset="0"/>
              </a:rPr>
              <a:t>It can be used as a variac, i.e. variable ac supply to vary the ac voltage applied to the load smoothly from 0 V to about 270 V.</a:t>
            </a:r>
          </a:p>
          <a:p>
            <a:pPr marL="514350" indent="-514350">
              <a:buFont typeface="+mj-lt"/>
              <a:buAutoNum type="arabicPeriod"/>
            </a:pPr>
            <a:r>
              <a:rPr lang="en-US" dirty="0" smtClean="0">
                <a:latin typeface="Times New Roman" pitchFamily="18" charset="0"/>
                <a:cs typeface="Times New Roman" pitchFamily="18" charset="0"/>
              </a:rPr>
              <a:t>In order to start the ac machines such as induction motors or synchronous motors.</a:t>
            </a:r>
          </a:p>
          <a:p>
            <a:pPr marL="514350" indent="-514350">
              <a:buFont typeface="+mj-lt"/>
              <a:buAutoNum type="arabicPeriod"/>
            </a:pPr>
            <a:r>
              <a:rPr lang="en-US" dirty="0" smtClean="0">
                <a:latin typeface="Times New Roman" pitchFamily="18" charset="0"/>
                <a:cs typeface="Times New Roman" pitchFamily="18" charset="0"/>
              </a:rPr>
              <a:t>To vary the supply voltage (as per requirement) of a furnace.</a:t>
            </a:r>
          </a:p>
          <a:p>
            <a:pPr marL="514350" indent="-514350">
              <a:buFont typeface="+mj-lt"/>
              <a:buAutoNum type="arabicPeriod"/>
            </a:pPr>
            <a:r>
              <a:rPr lang="en-US" dirty="0" smtClean="0">
                <a:latin typeface="Times New Roman" pitchFamily="18" charset="0"/>
                <a:cs typeface="Times New Roman" pitchFamily="18" charset="0"/>
              </a:rPr>
              <a:t>As a dimmerstat: when the variac autotransformer is used to control the intensity of lamps in the cinema halls etc., it is called as the dimmerstat. </a:t>
            </a:r>
            <a:endParaRPr lang="en-US" dirty="0">
              <a:latin typeface="Times New Roman" pitchFamily="18" charset="0"/>
              <a:cs typeface="Times New Roman"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r>
              <a:rPr lang="en-US" dirty="0" smtClean="0"/>
              <a:t>Comparison of two winding transformer and autotransformer:</a:t>
            </a:r>
          </a:p>
          <a:p>
            <a:pPr>
              <a:buNone/>
            </a:pPr>
            <a:endParaRPr lang="en-US" dirty="0"/>
          </a:p>
        </p:txBody>
      </p:sp>
      <p:graphicFrame>
        <p:nvGraphicFramePr>
          <p:cNvPr id="5" name="Table 4"/>
          <p:cNvGraphicFramePr>
            <a:graphicFrameLocks noGrp="1"/>
          </p:cNvGraphicFramePr>
          <p:nvPr/>
        </p:nvGraphicFramePr>
        <p:xfrm>
          <a:off x="457200" y="2895600"/>
          <a:ext cx="8229600" cy="3931920"/>
        </p:xfrm>
        <a:graphic>
          <a:graphicData uri="http://schemas.openxmlformats.org/drawingml/2006/table">
            <a:tbl>
              <a:tblPr firstRow="1" bandRow="1">
                <a:tableStyleId>{5940675A-B579-460E-94D1-54222C63F5DA}</a:tableStyleId>
              </a:tblPr>
              <a:tblGrid>
                <a:gridCol w="609600"/>
                <a:gridCol w="2057400"/>
                <a:gridCol w="2819400"/>
                <a:gridCol w="2743200"/>
              </a:tblGrid>
              <a:tr h="370840">
                <a:tc>
                  <a:txBody>
                    <a:bodyPr/>
                    <a:lstStyle/>
                    <a:p>
                      <a:pPr algn="ctr"/>
                      <a:r>
                        <a:rPr lang="en-US" b="1" dirty="0" smtClean="0"/>
                        <a:t>Sr.</a:t>
                      </a:r>
                    </a:p>
                    <a:p>
                      <a:pPr algn="ctr"/>
                      <a:r>
                        <a:rPr lang="en-US" b="1" dirty="0" smtClean="0"/>
                        <a:t>no.</a:t>
                      </a:r>
                      <a:endParaRPr lang="en-US" b="1" dirty="0"/>
                    </a:p>
                  </a:txBody>
                  <a:tcPr/>
                </a:tc>
                <a:tc>
                  <a:txBody>
                    <a:bodyPr/>
                    <a:lstStyle/>
                    <a:p>
                      <a:pPr algn="ctr"/>
                      <a:r>
                        <a:rPr lang="en-US" b="1" dirty="0" smtClean="0"/>
                        <a:t>Parameter</a:t>
                      </a:r>
                      <a:endParaRPr lang="en-US" b="1" dirty="0"/>
                    </a:p>
                  </a:txBody>
                  <a:tcPr/>
                </a:tc>
                <a:tc>
                  <a:txBody>
                    <a:bodyPr/>
                    <a:lstStyle/>
                    <a:p>
                      <a:pPr algn="ctr"/>
                      <a:r>
                        <a:rPr lang="en-US" b="1" dirty="0" smtClean="0">
                          <a:latin typeface="Times New Roman" pitchFamily="18" charset="0"/>
                          <a:cs typeface="Times New Roman" pitchFamily="18" charset="0"/>
                        </a:rPr>
                        <a:t>Autotransformer</a:t>
                      </a:r>
                      <a:endParaRPr lang="en-US" b="1" dirty="0">
                        <a:latin typeface="Times New Roman" pitchFamily="18" charset="0"/>
                        <a:cs typeface="Times New Roman" pitchFamily="18" charset="0"/>
                      </a:endParaRPr>
                    </a:p>
                  </a:txBody>
                  <a:tcPr anchor="ctr"/>
                </a:tc>
                <a:tc>
                  <a:txBody>
                    <a:bodyPr/>
                    <a:lstStyle/>
                    <a:p>
                      <a:pPr algn="ctr"/>
                      <a:r>
                        <a:rPr lang="en-US" b="1" dirty="0">
                          <a:latin typeface="Times New Roman" pitchFamily="18" charset="0"/>
                          <a:cs typeface="Times New Roman" pitchFamily="18" charset="0"/>
                        </a:rPr>
                        <a:t>Conventional transformer</a:t>
                      </a:r>
                    </a:p>
                  </a:txBody>
                  <a:tcPr anchor="ctr"/>
                </a:tc>
              </a:tr>
              <a:tr h="370840">
                <a:tc>
                  <a:txBody>
                    <a:bodyPr/>
                    <a:lstStyle/>
                    <a:p>
                      <a:pPr algn="ctr"/>
                      <a:r>
                        <a:rPr lang="en-US" dirty="0" smtClean="0"/>
                        <a:t>1.</a:t>
                      </a:r>
                      <a:endParaRPr lang="en-US" dirty="0"/>
                    </a:p>
                  </a:txBody>
                  <a:tcPr/>
                </a:tc>
                <a:tc>
                  <a:txBody>
                    <a:bodyPr/>
                    <a:lstStyle/>
                    <a:p>
                      <a:r>
                        <a:rPr lang="en-US" dirty="0">
                          <a:latin typeface="Times New Roman" pitchFamily="18" charset="0"/>
                          <a:cs typeface="Times New Roman" pitchFamily="18" charset="0"/>
                        </a:rPr>
                        <a:t>Definition</a:t>
                      </a:r>
                    </a:p>
                  </a:txBody>
                  <a:tcPr anchor="ctr"/>
                </a:tc>
                <a:tc>
                  <a:txBody>
                    <a:bodyPr/>
                    <a:lstStyle/>
                    <a:p>
                      <a:r>
                        <a:rPr lang="en-US" dirty="0">
                          <a:latin typeface="Times New Roman" pitchFamily="18" charset="0"/>
                          <a:cs typeface="Times New Roman" pitchFamily="18" charset="0"/>
                        </a:rPr>
                        <a:t>A transformer, having only one winding a part of which acts as a primary and the other as a secondary. </a:t>
                      </a:r>
                    </a:p>
                  </a:txBody>
                  <a:tcPr anchor="ctr"/>
                </a:tc>
                <a:tc>
                  <a:txBody>
                    <a:bodyPr/>
                    <a:lstStyle/>
                    <a:p>
                      <a:r>
                        <a:rPr lang="en-US" dirty="0">
                          <a:latin typeface="Times New Roman" pitchFamily="18" charset="0"/>
                          <a:cs typeface="Times New Roman" pitchFamily="18" charset="0"/>
                        </a:rPr>
                        <a:t>It is a static machine which transfers electrical energy from one end to another without changing frequency.</a:t>
                      </a:r>
                    </a:p>
                  </a:txBody>
                  <a:tcPr anchor="ctr"/>
                </a:tc>
              </a:tr>
              <a:tr h="370840">
                <a:tc>
                  <a:txBody>
                    <a:bodyPr/>
                    <a:lstStyle/>
                    <a:p>
                      <a:pPr algn="ctr"/>
                      <a:r>
                        <a:rPr lang="en-US" dirty="0" smtClean="0"/>
                        <a:t>2.</a:t>
                      </a:r>
                      <a:endParaRPr lang="en-US" dirty="0"/>
                    </a:p>
                  </a:txBody>
                  <a:tcPr/>
                </a:tc>
                <a:tc>
                  <a:txBody>
                    <a:bodyPr/>
                    <a:lstStyle/>
                    <a:p>
                      <a:r>
                        <a:rPr lang="en-US" dirty="0">
                          <a:latin typeface="Times New Roman" pitchFamily="18" charset="0"/>
                          <a:cs typeface="Times New Roman" pitchFamily="18" charset="0"/>
                        </a:rPr>
                        <a:t>Number of Windings</a:t>
                      </a:r>
                    </a:p>
                  </a:txBody>
                  <a:tcPr anchor="ctr"/>
                </a:tc>
                <a:tc>
                  <a:txBody>
                    <a:bodyPr/>
                    <a:lstStyle/>
                    <a:p>
                      <a:r>
                        <a:rPr lang="en-US" dirty="0">
                          <a:latin typeface="Times New Roman" pitchFamily="18" charset="0"/>
                          <a:cs typeface="Times New Roman" pitchFamily="18" charset="0"/>
                        </a:rPr>
                        <a:t>Auto-transformer has only one winding wound on a laminated core</a:t>
                      </a:r>
                    </a:p>
                  </a:txBody>
                  <a:tcPr anchor="ctr"/>
                </a:tc>
                <a:tc>
                  <a:txBody>
                    <a:bodyPr/>
                    <a:lstStyle/>
                    <a:p>
                      <a:r>
                        <a:rPr lang="en-US" dirty="0">
                          <a:latin typeface="Times New Roman" pitchFamily="18" charset="0"/>
                          <a:cs typeface="Times New Roman" pitchFamily="18" charset="0"/>
                        </a:rPr>
                        <a:t>It has two separate winding, i.e., primary and secondary winding</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txBody>
                  <a:tcPr anchor="ctr"/>
                </a:tc>
              </a:tr>
              <a:tr h="370840">
                <a:tc>
                  <a:txBody>
                    <a:bodyPr/>
                    <a:lstStyle/>
                    <a:p>
                      <a:pPr algn="ctr"/>
                      <a:r>
                        <a:rPr lang="en-US" dirty="0" smtClean="0"/>
                        <a:t>3.</a:t>
                      </a:r>
                      <a:endParaRPr lang="en-US" dirty="0"/>
                    </a:p>
                  </a:txBody>
                  <a:tcPr/>
                </a:tc>
                <a:tc>
                  <a:txBody>
                    <a:bodyPr/>
                    <a:lstStyle/>
                    <a:p>
                      <a:r>
                        <a:rPr lang="en-US" dirty="0">
                          <a:latin typeface="Times New Roman" pitchFamily="18" charset="0"/>
                          <a:cs typeface="Times New Roman" pitchFamily="18" charset="0"/>
                        </a:rPr>
                        <a:t>Insulation</a:t>
                      </a:r>
                    </a:p>
                  </a:txBody>
                  <a:tcPr anchor="ctr"/>
                </a:tc>
                <a:tc>
                  <a:txBody>
                    <a:bodyPr/>
                    <a:lstStyle/>
                    <a:p>
                      <a:r>
                        <a:rPr lang="en-US" dirty="0">
                          <a:latin typeface="Times New Roman" pitchFamily="18" charset="0"/>
                          <a:cs typeface="Times New Roman" pitchFamily="18" charset="0"/>
                        </a:rPr>
                        <a:t>The primary and secondary winding are not electrically insulated.</a:t>
                      </a:r>
                    </a:p>
                  </a:txBody>
                  <a:tcPr anchor="ctr"/>
                </a:tc>
                <a:tc>
                  <a:txBody>
                    <a:bodyPr/>
                    <a:lstStyle/>
                    <a:p>
                      <a:r>
                        <a:rPr lang="en-US" dirty="0">
                          <a:latin typeface="Times New Roman" pitchFamily="18" charset="0"/>
                          <a:cs typeface="Times New Roman" pitchFamily="18" charset="0"/>
                        </a:rPr>
                        <a:t>The primary and secondary winding are electrically insulated from each other.</a:t>
                      </a:r>
                    </a:p>
                  </a:txBody>
                  <a:tcPr anchor="ct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graphicFrame>
        <p:nvGraphicFramePr>
          <p:cNvPr id="4" name="Content Placeholder 3"/>
          <p:cNvGraphicFramePr>
            <a:graphicFrameLocks noGrp="1"/>
          </p:cNvGraphicFramePr>
          <p:nvPr>
            <p:ph idx="1"/>
          </p:nvPr>
        </p:nvGraphicFramePr>
        <p:xfrm>
          <a:off x="228600" y="1600200"/>
          <a:ext cx="8686800" cy="5318760"/>
        </p:xfrm>
        <a:graphic>
          <a:graphicData uri="http://schemas.openxmlformats.org/drawingml/2006/table">
            <a:tbl>
              <a:tblPr firstRow="1" bandRow="1">
                <a:tableStyleId>{5940675A-B579-460E-94D1-54222C63F5DA}</a:tableStyleId>
              </a:tblPr>
              <a:tblGrid>
                <a:gridCol w="643466"/>
                <a:gridCol w="2413000"/>
                <a:gridCol w="2895600"/>
                <a:gridCol w="2734734"/>
              </a:tblGrid>
              <a:tr h="370840">
                <a:tc>
                  <a:txBody>
                    <a:bodyPr/>
                    <a:lstStyle/>
                    <a:p>
                      <a:pPr algn="ctr"/>
                      <a:r>
                        <a:rPr lang="en-US" b="1" dirty="0" smtClean="0">
                          <a:latin typeface="Times New Roman" pitchFamily="18" charset="0"/>
                          <a:cs typeface="Times New Roman" pitchFamily="18" charset="0"/>
                        </a:rPr>
                        <a:t>Sr.</a:t>
                      </a:r>
                    </a:p>
                    <a:p>
                      <a:pPr algn="ctr"/>
                      <a:r>
                        <a:rPr lang="en-US" b="1" dirty="0" smtClean="0">
                          <a:latin typeface="Times New Roman" pitchFamily="18" charset="0"/>
                          <a:cs typeface="Times New Roman" pitchFamily="18" charset="0"/>
                        </a:rPr>
                        <a:t>no.</a:t>
                      </a:r>
                      <a:endParaRPr lang="en-US" b="1" dirty="0">
                        <a:latin typeface="Times New Roman" pitchFamily="18" charset="0"/>
                        <a:cs typeface="Times New Roman" pitchFamily="18" charset="0"/>
                      </a:endParaRPr>
                    </a:p>
                  </a:txBody>
                  <a:tcPr/>
                </a:tc>
                <a:tc>
                  <a:txBody>
                    <a:bodyPr/>
                    <a:lstStyle/>
                    <a:p>
                      <a:pPr algn="ctr"/>
                      <a:r>
                        <a:rPr lang="en-US" b="1" dirty="0" smtClean="0">
                          <a:latin typeface="Times New Roman" pitchFamily="18" charset="0"/>
                          <a:cs typeface="Times New Roman" pitchFamily="18" charset="0"/>
                        </a:rPr>
                        <a:t>Parameter</a:t>
                      </a:r>
                      <a:endParaRPr lang="en-US" b="1" dirty="0">
                        <a:latin typeface="Times New Roman" pitchFamily="18" charset="0"/>
                        <a:cs typeface="Times New Roman" pitchFamily="18" charset="0"/>
                      </a:endParaRPr>
                    </a:p>
                  </a:txBody>
                  <a:tcPr/>
                </a:tc>
                <a:tc>
                  <a:txBody>
                    <a:bodyPr/>
                    <a:lstStyle/>
                    <a:p>
                      <a:pPr algn="ctr"/>
                      <a:r>
                        <a:rPr lang="en-US" b="1" dirty="0" smtClean="0">
                          <a:latin typeface="Times New Roman" pitchFamily="18" charset="0"/>
                          <a:cs typeface="Times New Roman" pitchFamily="18" charset="0"/>
                        </a:rPr>
                        <a:t>Autotransformer</a:t>
                      </a:r>
                      <a:endParaRPr lang="en-US" b="1" dirty="0">
                        <a:latin typeface="Times New Roman" pitchFamily="18" charset="0"/>
                        <a:cs typeface="Times New Roman" pitchFamily="18" charset="0"/>
                      </a:endParaRPr>
                    </a:p>
                  </a:txBody>
                  <a:tcPr anchor="ctr"/>
                </a:tc>
                <a:tc>
                  <a:txBody>
                    <a:bodyPr/>
                    <a:lstStyle/>
                    <a:p>
                      <a:pPr algn="ctr"/>
                      <a:r>
                        <a:rPr lang="en-US" b="1" dirty="0">
                          <a:latin typeface="Times New Roman" pitchFamily="18" charset="0"/>
                          <a:cs typeface="Times New Roman" pitchFamily="18" charset="0"/>
                        </a:rPr>
                        <a:t>Conventional transformer</a:t>
                      </a:r>
                    </a:p>
                  </a:txBody>
                  <a:tcPr anchor="ctr"/>
                </a:tc>
              </a:tr>
              <a:tr h="370840">
                <a:tc>
                  <a:txBody>
                    <a:bodyPr/>
                    <a:lstStyle/>
                    <a:p>
                      <a:pPr algn="ctr"/>
                      <a:r>
                        <a:rPr lang="en-US" dirty="0" smtClean="0">
                          <a:latin typeface="Times New Roman" pitchFamily="18" charset="0"/>
                          <a:cs typeface="Times New Roman" pitchFamily="18" charset="0"/>
                        </a:rPr>
                        <a:t>4.</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Induction </a:t>
                      </a:r>
                    </a:p>
                  </a:txBody>
                  <a:tcPr anchor="ctr"/>
                </a:tc>
                <a:tc>
                  <a:txBody>
                    <a:bodyPr/>
                    <a:lstStyle/>
                    <a:p>
                      <a:r>
                        <a:rPr lang="en-US">
                          <a:latin typeface="Times New Roman" pitchFamily="18" charset="0"/>
                          <a:cs typeface="Times New Roman" pitchFamily="18" charset="0"/>
                        </a:rPr>
                        <a:t>Self Induction</a:t>
                      </a:r>
                    </a:p>
                  </a:txBody>
                  <a:tcPr anchor="ctr"/>
                </a:tc>
                <a:tc>
                  <a:txBody>
                    <a:bodyPr/>
                    <a:lstStyle/>
                    <a:p>
                      <a:r>
                        <a:rPr lang="en-US">
                          <a:latin typeface="Times New Roman" pitchFamily="18" charset="0"/>
                          <a:cs typeface="Times New Roman" pitchFamily="18" charset="0"/>
                        </a:rPr>
                        <a:t>Mutual Induction</a:t>
                      </a:r>
                    </a:p>
                  </a:txBody>
                  <a:tcPr anchor="ctr"/>
                </a:tc>
              </a:tr>
              <a:tr h="370840">
                <a:tc>
                  <a:txBody>
                    <a:bodyPr/>
                    <a:lstStyle/>
                    <a:p>
                      <a:pPr algn="ctr"/>
                      <a:r>
                        <a:rPr lang="en-US" dirty="0" smtClean="0">
                          <a:latin typeface="Times New Roman" pitchFamily="18" charset="0"/>
                          <a:cs typeface="Times New Roman" pitchFamily="18" charset="0"/>
                        </a:rPr>
                        <a:t>5.</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Size </a:t>
                      </a:r>
                    </a:p>
                  </a:txBody>
                  <a:tcPr anchor="ctr"/>
                </a:tc>
                <a:tc>
                  <a:txBody>
                    <a:bodyPr/>
                    <a:lstStyle/>
                    <a:p>
                      <a:r>
                        <a:rPr lang="en-US">
                          <a:latin typeface="Times New Roman" pitchFamily="18" charset="0"/>
                          <a:cs typeface="Times New Roman" pitchFamily="18" charset="0"/>
                        </a:rPr>
                        <a:t>Small </a:t>
                      </a:r>
                    </a:p>
                  </a:txBody>
                  <a:tcPr anchor="ctr"/>
                </a:tc>
                <a:tc>
                  <a:txBody>
                    <a:bodyPr/>
                    <a:lstStyle/>
                    <a:p>
                      <a:r>
                        <a:rPr lang="en-US" dirty="0">
                          <a:latin typeface="Times New Roman" pitchFamily="18" charset="0"/>
                          <a:cs typeface="Times New Roman" pitchFamily="18" charset="0"/>
                        </a:rPr>
                        <a:t>Large</a:t>
                      </a:r>
                    </a:p>
                  </a:txBody>
                  <a:tcPr anchor="ctr"/>
                </a:tc>
              </a:tr>
              <a:tr h="370840">
                <a:tc>
                  <a:txBody>
                    <a:bodyPr/>
                    <a:lstStyle/>
                    <a:p>
                      <a:pPr algn="ctr"/>
                      <a:r>
                        <a:rPr lang="en-US" dirty="0" smtClean="0">
                          <a:latin typeface="Times New Roman" pitchFamily="18" charset="0"/>
                          <a:cs typeface="Times New Roman" pitchFamily="18" charset="0"/>
                        </a:rPr>
                        <a:t>6.</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Power Transfer</a:t>
                      </a:r>
                    </a:p>
                  </a:txBody>
                  <a:tcPr anchor="ctr"/>
                </a:tc>
                <a:tc>
                  <a:txBody>
                    <a:bodyPr/>
                    <a:lstStyle/>
                    <a:p>
                      <a:r>
                        <a:rPr lang="en-US" dirty="0">
                          <a:latin typeface="Times New Roman" pitchFamily="18" charset="0"/>
                          <a:cs typeface="Times New Roman" pitchFamily="18" charset="0"/>
                        </a:rPr>
                        <a:t>Partly by transformation and partly by direct electrical connection.</a:t>
                      </a:r>
                    </a:p>
                  </a:txBody>
                  <a:tcPr anchor="ctr"/>
                </a:tc>
                <a:tc>
                  <a:txBody>
                    <a:bodyPr/>
                    <a:lstStyle/>
                    <a:p>
                      <a:r>
                        <a:rPr lang="en-US">
                          <a:latin typeface="Times New Roman" pitchFamily="18" charset="0"/>
                          <a:cs typeface="Times New Roman" pitchFamily="18" charset="0"/>
                        </a:rPr>
                        <a:t>Through transformation</a:t>
                      </a:r>
                    </a:p>
                  </a:txBody>
                  <a:tcPr anchor="ctr"/>
                </a:tc>
              </a:tr>
              <a:tr h="370840">
                <a:tc>
                  <a:txBody>
                    <a:bodyPr/>
                    <a:lstStyle/>
                    <a:p>
                      <a:pPr algn="ctr"/>
                      <a:r>
                        <a:rPr lang="en-US" dirty="0" smtClean="0">
                          <a:latin typeface="Times New Roman" pitchFamily="18" charset="0"/>
                          <a:cs typeface="Times New Roman" pitchFamily="18" charset="0"/>
                        </a:rPr>
                        <a:t>7.</a:t>
                      </a:r>
                      <a:endParaRPr lang="en-US" dirty="0">
                        <a:latin typeface="Times New Roman" pitchFamily="18" charset="0"/>
                        <a:cs typeface="Times New Roman" pitchFamily="18" charset="0"/>
                      </a:endParaRPr>
                    </a:p>
                  </a:txBody>
                  <a:tcPr/>
                </a:tc>
                <a:tc>
                  <a:txBody>
                    <a:bodyPr/>
                    <a:lstStyle/>
                    <a:p>
                      <a:r>
                        <a:rPr lang="en-US">
                          <a:latin typeface="Times New Roman" pitchFamily="18" charset="0"/>
                          <a:cs typeface="Times New Roman" pitchFamily="18" charset="0"/>
                        </a:rPr>
                        <a:t>Voltage Regulation </a:t>
                      </a:r>
                    </a:p>
                  </a:txBody>
                  <a:tcPr anchor="ctr"/>
                </a:tc>
                <a:tc>
                  <a:txBody>
                    <a:bodyPr/>
                    <a:lstStyle/>
                    <a:p>
                      <a:r>
                        <a:rPr lang="en-US" dirty="0">
                          <a:latin typeface="Times New Roman" pitchFamily="18" charset="0"/>
                          <a:cs typeface="Times New Roman" pitchFamily="18" charset="0"/>
                        </a:rPr>
                        <a:t>Better </a:t>
                      </a:r>
                    </a:p>
                  </a:txBody>
                  <a:tcPr anchor="ctr"/>
                </a:tc>
                <a:tc>
                  <a:txBody>
                    <a:bodyPr/>
                    <a:lstStyle/>
                    <a:p>
                      <a:r>
                        <a:rPr lang="en-US">
                          <a:latin typeface="Times New Roman" pitchFamily="18" charset="0"/>
                          <a:cs typeface="Times New Roman" pitchFamily="18" charset="0"/>
                        </a:rPr>
                        <a:t>Good</a:t>
                      </a:r>
                    </a:p>
                  </a:txBody>
                  <a:tcPr anchor="ctr"/>
                </a:tc>
              </a:tr>
              <a:tr h="370840">
                <a:tc>
                  <a:txBody>
                    <a:bodyPr/>
                    <a:lstStyle/>
                    <a:p>
                      <a:pPr algn="ctr"/>
                      <a:r>
                        <a:rPr lang="en-US" dirty="0" smtClean="0">
                          <a:latin typeface="Times New Roman" pitchFamily="18" charset="0"/>
                          <a:cs typeface="Times New Roman" pitchFamily="18" charset="0"/>
                        </a:rPr>
                        <a:t>8.</a:t>
                      </a:r>
                      <a:endParaRPr lang="en-US" dirty="0">
                        <a:latin typeface="Times New Roman" pitchFamily="18" charset="0"/>
                        <a:cs typeface="Times New Roman" pitchFamily="18" charset="0"/>
                      </a:endParaRPr>
                    </a:p>
                  </a:txBody>
                  <a:tcPr/>
                </a:tc>
                <a:tc>
                  <a:txBody>
                    <a:bodyPr/>
                    <a:lstStyle/>
                    <a:p>
                      <a:r>
                        <a:rPr lang="en-US">
                          <a:latin typeface="Times New Roman" pitchFamily="18" charset="0"/>
                          <a:cs typeface="Times New Roman" pitchFamily="18" charset="0"/>
                        </a:rPr>
                        <a:t>Winding Material </a:t>
                      </a:r>
                    </a:p>
                  </a:txBody>
                  <a:tcPr anchor="ctr"/>
                </a:tc>
                <a:tc>
                  <a:txBody>
                    <a:bodyPr/>
                    <a:lstStyle/>
                    <a:p>
                      <a:r>
                        <a:rPr lang="en-US" dirty="0">
                          <a:latin typeface="Times New Roman" pitchFamily="18" charset="0"/>
                          <a:cs typeface="Times New Roman" pitchFamily="18" charset="0"/>
                        </a:rPr>
                        <a:t>Less requires</a:t>
                      </a:r>
                    </a:p>
                  </a:txBody>
                  <a:tcPr anchor="ctr"/>
                </a:tc>
                <a:tc>
                  <a:txBody>
                    <a:bodyPr/>
                    <a:lstStyle/>
                    <a:p>
                      <a:r>
                        <a:rPr lang="en-US" dirty="0">
                          <a:latin typeface="Times New Roman" pitchFamily="18" charset="0"/>
                          <a:cs typeface="Times New Roman" pitchFamily="18" charset="0"/>
                        </a:rPr>
                        <a:t>More requires</a:t>
                      </a:r>
                    </a:p>
                  </a:txBody>
                  <a:tcPr anchor="ctr"/>
                </a:tc>
              </a:tr>
              <a:tr h="1270000">
                <a:tc>
                  <a:txBody>
                    <a:bodyPr/>
                    <a:lstStyle/>
                    <a:p>
                      <a:pPr algn="ctr"/>
                      <a:r>
                        <a:rPr lang="en-US" dirty="0" smtClean="0">
                          <a:latin typeface="Times New Roman" pitchFamily="18" charset="0"/>
                          <a:cs typeface="Times New Roman" pitchFamily="18" charset="0"/>
                        </a:rPr>
                        <a:t>9.</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Circuit</a:t>
                      </a:r>
                    </a:p>
                  </a:txBody>
                  <a:tcPr anchor="ctr"/>
                </a:tc>
                <a:tc>
                  <a:txBody>
                    <a:bodyPr/>
                    <a:lstStyle/>
                    <a:p>
                      <a:r>
                        <a:rPr lang="en-US" dirty="0">
                          <a:latin typeface="Times New Roman" pitchFamily="18" charset="0"/>
                          <a:cs typeface="Times New Roman" pitchFamily="18" charset="0"/>
                        </a:rPr>
                        <a:t>The primary and secondary winding circuits are connected magnetically.</a:t>
                      </a:r>
                    </a:p>
                  </a:txBody>
                  <a:tcPr anchor="ctr"/>
                </a:tc>
                <a:tc>
                  <a:txBody>
                    <a:bodyPr/>
                    <a:lstStyle/>
                    <a:p>
                      <a:r>
                        <a:rPr lang="en-US" dirty="0">
                          <a:latin typeface="Times New Roman" pitchFamily="18" charset="0"/>
                          <a:cs typeface="Times New Roman" pitchFamily="18" charset="0"/>
                        </a:rPr>
                        <a:t>The primary and secondary winding circuits are connected both electrically and magnetically.</a:t>
                      </a:r>
                    </a:p>
                  </a:txBody>
                  <a:tcPr anchor="ctr"/>
                </a:tc>
              </a:tr>
              <a:tr h="370840">
                <a:tc>
                  <a:txBody>
                    <a:bodyPr/>
                    <a:lstStyle/>
                    <a:p>
                      <a:pPr algn="ctr"/>
                      <a:r>
                        <a:rPr lang="en-US" dirty="0" smtClean="0">
                          <a:latin typeface="Times New Roman" pitchFamily="18" charset="0"/>
                          <a:cs typeface="Times New Roman" pitchFamily="18" charset="0"/>
                        </a:rPr>
                        <a:t>10.</a:t>
                      </a:r>
                      <a:endParaRPr lang="en-US" dirty="0">
                        <a:latin typeface="Times New Roman" pitchFamily="18" charset="0"/>
                        <a:cs typeface="Times New Roman" pitchFamily="18" charset="0"/>
                      </a:endParaRPr>
                    </a:p>
                  </a:txBody>
                  <a:tcPr/>
                </a:tc>
                <a:tc>
                  <a:txBody>
                    <a:bodyPr/>
                    <a:lstStyle/>
                    <a:p>
                      <a:r>
                        <a:rPr lang="en-US">
                          <a:latin typeface="Times New Roman" pitchFamily="18" charset="0"/>
                          <a:cs typeface="Times New Roman" pitchFamily="18" charset="0"/>
                        </a:rPr>
                        <a:t>Connection </a:t>
                      </a:r>
                    </a:p>
                  </a:txBody>
                  <a:tcPr anchor="ctr"/>
                </a:tc>
                <a:tc>
                  <a:txBody>
                    <a:bodyPr/>
                    <a:lstStyle/>
                    <a:p>
                      <a:r>
                        <a:rPr lang="en-US">
                          <a:latin typeface="Times New Roman" pitchFamily="18" charset="0"/>
                          <a:cs typeface="Times New Roman" pitchFamily="18" charset="0"/>
                        </a:rPr>
                        <a:t>Depends upon the tapping </a:t>
                      </a:r>
                    </a:p>
                  </a:txBody>
                  <a:tcPr anchor="ctr"/>
                </a:tc>
                <a:tc>
                  <a:txBody>
                    <a:bodyPr/>
                    <a:lstStyle/>
                    <a:p>
                      <a:r>
                        <a:rPr lang="en-US" dirty="0">
                          <a:latin typeface="Times New Roman" pitchFamily="18" charset="0"/>
                          <a:cs typeface="Times New Roman" pitchFamily="18" charset="0"/>
                        </a:rPr>
                        <a:t>Connect directly to the load.</a:t>
                      </a:r>
                    </a:p>
                  </a:txBody>
                  <a:tcPr anchor="ctr"/>
                </a:tc>
              </a:tr>
              <a:tr h="370840">
                <a:tc>
                  <a:txBody>
                    <a:bodyPr/>
                    <a:lstStyle/>
                    <a:p>
                      <a:pPr algn="ctr"/>
                      <a:r>
                        <a:rPr lang="en-US" dirty="0" smtClean="0">
                          <a:latin typeface="Times New Roman" pitchFamily="18" charset="0"/>
                          <a:cs typeface="Times New Roman" pitchFamily="18" charset="0"/>
                        </a:rPr>
                        <a:t>11.</a:t>
                      </a:r>
                      <a:endParaRPr lang="en-US" dirty="0">
                        <a:latin typeface="Times New Roman" pitchFamily="18" charset="0"/>
                        <a:cs typeface="Times New Roman" pitchFamily="18" charset="0"/>
                      </a:endParaRPr>
                    </a:p>
                  </a:txBody>
                  <a:tcPr/>
                </a:tc>
                <a:tc>
                  <a:txBody>
                    <a:bodyPr/>
                    <a:lstStyle/>
                    <a:p>
                      <a:r>
                        <a:rPr lang="en-US">
                          <a:latin typeface="Times New Roman" pitchFamily="18" charset="0"/>
                          <a:cs typeface="Times New Roman" pitchFamily="18" charset="0"/>
                        </a:rPr>
                        <a:t>Starting current </a:t>
                      </a:r>
                    </a:p>
                  </a:txBody>
                  <a:tcPr anchor="ctr"/>
                </a:tc>
                <a:tc>
                  <a:txBody>
                    <a:bodyPr/>
                    <a:lstStyle/>
                    <a:p>
                      <a:r>
                        <a:rPr lang="en-US">
                          <a:latin typeface="Times New Roman" pitchFamily="18" charset="0"/>
                          <a:cs typeface="Times New Roman" pitchFamily="18" charset="0"/>
                        </a:rPr>
                        <a:t>Decreases </a:t>
                      </a:r>
                    </a:p>
                  </a:txBody>
                  <a:tcPr anchor="ctr"/>
                </a:tc>
                <a:tc>
                  <a:txBody>
                    <a:bodyPr/>
                    <a:lstStyle/>
                    <a:p>
                      <a:r>
                        <a:rPr lang="en-US" dirty="0">
                          <a:latin typeface="Times New Roman" pitchFamily="18" charset="0"/>
                          <a:cs typeface="Times New Roman" pitchFamily="18" charset="0"/>
                        </a:rPr>
                        <a:t>Decreases by 1/3 times.</a:t>
                      </a:r>
                    </a:p>
                  </a:txBody>
                  <a:tcPr anchor="ct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graphicFrame>
        <p:nvGraphicFramePr>
          <p:cNvPr id="4" name="Content Placeholder 3"/>
          <p:cNvGraphicFramePr>
            <a:graphicFrameLocks noGrp="1"/>
          </p:cNvGraphicFramePr>
          <p:nvPr>
            <p:ph idx="1"/>
          </p:nvPr>
        </p:nvGraphicFramePr>
        <p:xfrm>
          <a:off x="228599" y="1645920"/>
          <a:ext cx="8686800" cy="5377427"/>
        </p:xfrm>
        <a:graphic>
          <a:graphicData uri="http://schemas.openxmlformats.org/drawingml/2006/table">
            <a:tbl>
              <a:tblPr firstRow="1" bandRow="1">
                <a:tableStyleId>{5940675A-B579-460E-94D1-54222C63F5DA}</a:tableStyleId>
              </a:tblPr>
              <a:tblGrid>
                <a:gridCol w="685801"/>
                <a:gridCol w="2209800"/>
                <a:gridCol w="3033864"/>
                <a:gridCol w="2757335"/>
              </a:tblGrid>
              <a:tr h="365370">
                <a:tc>
                  <a:txBody>
                    <a:bodyPr/>
                    <a:lstStyle/>
                    <a:p>
                      <a:pPr algn="ctr"/>
                      <a:r>
                        <a:rPr lang="en-US" b="1" dirty="0" smtClean="0">
                          <a:latin typeface="Times New Roman" pitchFamily="18" charset="0"/>
                          <a:cs typeface="Times New Roman" pitchFamily="18" charset="0"/>
                        </a:rPr>
                        <a:t>Sr.</a:t>
                      </a:r>
                    </a:p>
                    <a:p>
                      <a:pPr algn="ctr"/>
                      <a:r>
                        <a:rPr lang="en-US" b="1" dirty="0" smtClean="0">
                          <a:latin typeface="Times New Roman" pitchFamily="18" charset="0"/>
                          <a:cs typeface="Times New Roman" pitchFamily="18" charset="0"/>
                        </a:rPr>
                        <a:t>no.</a:t>
                      </a:r>
                      <a:endParaRPr lang="en-US" b="1" dirty="0">
                        <a:latin typeface="Times New Roman" pitchFamily="18" charset="0"/>
                        <a:cs typeface="Times New Roman" pitchFamily="18" charset="0"/>
                      </a:endParaRPr>
                    </a:p>
                  </a:txBody>
                  <a:tcPr/>
                </a:tc>
                <a:tc>
                  <a:txBody>
                    <a:bodyPr/>
                    <a:lstStyle/>
                    <a:p>
                      <a:pPr algn="ctr"/>
                      <a:r>
                        <a:rPr lang="en-US" b="1" dirty="0" smtClean="0">
                          <a:latin typeface="Times New Roman" pitchFamily="18" charset="0"/>
                          <a:cs typeface="Times New Roman" pitchFamily="18" charset="0"/>
                        </a:rPr>
                        <a:t>Parameter</a:t>
                      </a:r>
                      <a:endParaRPr lang="en-US" b="1" dirty="0">
                        <a:latin typeface="Times New Roman" pitchFamily="18" charset="0"/>
                        <a:cs typeface="Times New Roman" pitchFamily="18" charset="0"/>
                      </a:endParaRPr>
                    </a:p>
                  </a:txBody>
                  <a:tcPr/>
                </a:tc>
                <a:tc>
                  <a:txBody>
                    <a:bodyPr/>
                    <a:lstStyle/>
                    <a:p>
                      <a:pPr algn="ctr"/>
                      <a:r>
                        <a:rPr lang="en-US" b="1" dirty="0" smtClean="0">
                          <a:latin typeface="Times New Roman" pitchFamily="18" charset="0"/>
                          <a:cs typeface="Times New Roman" pitchFamily="18" charset="0"/>
                        </a:rPr>
                        <a:t>Autotransformer</a:t>
                      </a:r>
                      <a:endParaRPr lang="en-US" b="1" dirty="0">
                        <a:latin typeface="Times New Roman" pitchFamily="18" charset="0"/>
                        <a:cs typeface="Times New Roman" pitchFamily="18" charset="0"/>
                      </a:endParaRPr>
                    </a:p>
                  </a:txBody>
                  <a:tcPr anchor="ctr"/>
                </a:tc>
                <a:tc>
                  <a:txBody>
                    <a:bodyPr/>
                    <a:lstStyle/>
                    <a:p>
                      <a:pPr algn="ctr"/>
                      <a:r>
                        <a:rPr lang="en-US" b="1" dirty="0">
                          <a:latin typeface="Times New Roman" pitchFamily="18" charset="0"/>
                          <a:cs typeface="Times New Roman" pitchFamily="18" charset="0"/>
                        </a:rPr>
                        <a:t>Conventional transformer</a:t>
                      </a:r>
                    </a:p>
                  </a:txBody>
                  <a:tcPr anchor="ctr"/>
                </a:tc>
              </a:tr>
              <a:tr h="365370">
                <a:tc>
                  <a:txBody>
                    <a:bodyPr/>
                    <a:lstStyle/>
                    <a:p>
                      <a:pPr algn="ctr"/>
                      <a:r>
                        <a:rPr lang="en-US" dirty="0" smtClean="0">
                          <a:latin typeface="Times New Roman" pitchFamily="18" charset="0"/>
                          <a:cs typeface="Times New Roman" pitchFamily="18" charset="0"/>
                        </a:rPr>
                        <a:t>12.</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Excitation current </a:t>
                      </a:r>
                    </a:p>
                  </a:txBody>
                  <a:tcPr anchor="ctr"/>
                </a:tc>
                <a:tc>
                  <a:txBody>
                    <a:bodyPr/>
                    <a:lstStyle/>
                    <a:p>
                      <a:r>
                        <a:rPr lang="en-US">
                          <a:latin typeface="Times New Roman" pitchFamily="18" charset="0"/>
                          <a:cs typeface="Times New Roman" pitchFamily="18" charset="0"/>
                        </a:rPr>
                        <a:t>Small </a:t>
                      </a:r>
                    </a:p>
                  </a:txBody>
                  <a:tcPr anchor="ctr"/>
                </a:tc>
                <a:tc>
                  <a:txBody>
                    <a:bodyPr/>
                    <a:lstStyle/>
                    <a:p>
                      <a:r>
                        <a:rPr lang="en-US">
                          <a:latin typeface="Times New Roman" pitchFamily="18" charset="0"/>
                          <a:cs typeface="Times New Roman" pitchFamily="18" charset="0"/>
                        </a:rPr>
                        <a:t>Large</a:t>
                      </a:r>
                    </a:p>
                  </a:txBody>
                  <a:tcPr anchor="ctr"/>
                </a:tc>
              </a:tr>
              <a:tr h="365370">
                <a:tc>
                  <a:txBody>
                    <a:bodyPr/>
                    <a:lstStyle/>
                    <a:p>
                      <a:pPr algn="ctr"/>
                      <a:r>
                        <a:rPr lang="en-US" dirty="0" smtClean="0">
                          <a:latin typeface="Times New Roman" pitchFamily="18" charset="0"/>
                          <a:cs typeface="Times New Roman" pitchFamily="18" charset="0"/>
                        </a:rPr>
                        <a:t>13.</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Economical </a:t>
                      </a:r>
                    </a:p>
                  </a:txBody>
                  <a:tcPr anchor="ctr"/>
                </a:tc>
                <a:tc>
                  <a:txBody>
                    <a:bodyPr/>
                    <a:lstStyle/>
                    <a:p>
                      <a:r>
                        <a:rPr lang="en-US">
                          <a:latin typeface="Times New Roman" pitchFamily="18" charset="0"/>
                          <a:cs typeface="Times New Roman" pitchFamily="18" charset="0"/>
                        </a:rPr>
                        <a:t>More </a:t>
                      </a:r>
                    </a:p>
                  </a:txBody>
                  <a:tcPr anchor="ctr"/>
                </a:tc>
                <a:tc>
                  <a:txBody>
                    <a:bodyPr/>
                    <a:lstStyle/>
                    <a:p>
                      <a:r>
                        <a:rPr lang="en-US">
                          <a:latin typeface="Times New Roman" pitchFamily="18" charset="0"/>
                          <a:cs typeface="Times New Roman" pitchFamily="18" charset="0"/>
                        </a:rPr>
                        <a:t>Less</a:t>
                      </a:r>
                    </a:p>
                  </a:txBody>
                  <a:tcPr anchor="ctr"/>
                </a:tc>
              </a:tr>
              <a:tr h="365370">
                <a:tc>
                  <a:txBody>
                    <a:bodyPr/>
                    <a:lstStyle/>
                    <a:p>
                      <a:pPr algn="ctr"/>
                      <a:r>
                        <a:rPr lang="en-US" dirty="0" smtClean="0">
                          <a:latin typeface="Times New Roman" pitchFamily="18" charset="0"/>
                          <a:cs typeface="Times New Roman" pitchFamily="18" charset="0"/>
                        </a:rPr>
                        <a:t>14.</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Cost </a:t>
                      </a:r>
                    </a:p>
                  </a:txBody>
                  <a:tcPr anchor="ctr"/>
                </a:tc>
                <a:tc>
                  <a:txBody>
                    <a:bodyPr/>
                    <a:lstStyle/>
                    <a:p>
                      <a:r>
                        <a:rPr lang="en-US">
                          <a:latin typeface="Times New Roman" pitchFamily="18" charset="0"/>
                          <a:cs typeface="Times New Roman" pitchFamily="18" charset="0"/>
                        </a:rPr>
                        <a:t>Less costly </a:t>
                      </a:r>
                    </a:p>
                  </a:txBody>
                  <a:tcPr anchor="ctr"/>
                </a:tc>
                <a:tc>
                  <a:txBody>
                    <a:bodyPr/>
                    <a:lstStyle/>
                    <a:p>
                      <a:r>
                        <a:rPr lang="en-US">
                          <a:latin typeface="Times New Roman" pitchFamily="18" charset="0"/>
                          <a:cs typeface="Times New Roman" pitchFamily="18" charset="0"/>
                        </a:rPr>
                        <a:t>More costly</a:t>
                      </a:r>
                    </a:p>
                  </a:txBody>
                  <a:tcPr anchor="ctr"/>
                </a:tc>
              </a:tr>
              <a:tr h="365370">
                <a:tc>
                  <a:txBody>
                    <a:bodyPr/>
                    <a:lstStyle/>
                    <a:p>
                      <a:pPr algn="ctr"/>
                      <a:r>
                        <a:rPr lang="en-US" dirty="0" smtClean="0">
                          <a:latin typeface="Times New Roman" pitchFamily="18" charset="0"/>
                          <a:cs typeface="Times New Roman" pitchFamily="18" charset="0"/>
                        </a:rPr>
                        <a:t>15.</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Efficient </a:t>
                      </a:r>
                    </a:p>
                  </a:txBody>
                  <a:tcPr anchor="ctr"/>
                </a:tc>
                <a:tc>
                  <a:txBody>
                    <a:bodyPr/>
                    <a:lstStyle/>
                    <a:p>
                      <a:r>
                        <a:rPr lang="en-US" dirty="0">
                          <a:latin typeface="Times New Roman" pitchFamily="18" charset="0"/>
                          <a:cs typeface="Times New Roman" pitchFamily="18" charset="0"/>
                        </a:rPr>
                        <a:t>More </a:t>
                      </a:r>
                    </a:p>
                  </a:txBody>
                  <a:tcPr anchor="ctr"/>
                </a:tc>
                <a:tc>
                  <a:txBody>
                    <a:bodyPr/>
                    <a:lstStyle/>
                    <a:p>
                      <a:r>
                        <a:rPr lang="en-US">
                          <a:latin typeface="Times New Roman" pitchFamily="18" charset="0"/>
                          <a:cs typeface="Times New Roman" pitchFamily="18" charset="0"/>
                        </a:rPr>
                        <a:t>Less</a:t>
                      </a:r>
                    </a:p>
                  </a:txBody>
                  <a:tcPr anchor="ctr"/>
                </a:tc>
              </a:tr>
              <a:tr h="630639">
                <a:tc>
                  <a:txBody>
                    <a:bodyPr/>
                    <a:lstStyle/>
                    <a:p>
                      <a:pPr algn="ctr"/>
                      <a:r>
                        <a:rPr lang="en-US" dirty="0" smtClean="0">
                          <a:latin typeface="Times New Roman" pitchFamily="18" charset="0"/>
                          <a:cs typeface="Times New Roman" pitchFamily="18" charset="0"/>
                        </a:rPr>
                        <a:t>16.</a:t>
                      </a:r>
                      <a:endParaRPr lang="en-US" dirty="0">
                        <a:latin typeface="Times New Roman" pitchFamily="18" charset="0"/>
                        <a:cs typeface="Times New Roman" pitchFamily="18" charset="0"/>
                      </a:endParaRPr>
                    </a:p>
                  </a:txBody>
                  <a:tcPr/>
                </a:tc>
                <a:tc>
                  <a:txBody>
                    <a:bodyPr/>
                    <a:lstStyle/>
                    <a:p>
                      <a:r>
                        <a:rPr lang="en-US">
                          <a:latin typeface="Times New Roman" pitchFamily="18" charset="0"/>
                          <a:cs typeface="Times New Roman" pitchFamily="18" charset="0"/>
                        </a:rPr>
                        <a:t>Leakage flux and resistance </a:t>
                      </a:r>
                    </a:p>
                  </a:txBody>
                  <a:tcPr anchor="ctr"/>
                </a:tc>
                <a:tc>
                  <a:txBody>
                    <a:bodyPr/>
                    <a:lstStyle/>
                    <a:p>
                      <a:r>
                        <a:rPr lang="en-US">
                          <a:latin typeface="Times New Roman" pitchFamily="18" charset="0"/>
                          <a:cs typeface="Times New Roman" pitchFamily="18" charset="0"/>
                        </a:rPr>
                        <a:t>Low</a:t>
                      </a:r>
                    </a:p>
                  </a:txBody>
                  <a:tcPr anchor="ctr"/>
                </a:tc>
                <a:tc>
                  <a:txBody>
                    <a:bodyPr/>
                    <a:lstStyle/>
                    <a:p>
                      <a:r>
                        <a:rPr lang="en-US" dirty="0">
                          <a:latin typeface="Times New Roman" pitchFamily="18" charset="0"/>
                          <a:cs typeface="Times New Roman" pitchFamily="18" charset="0"/>
                        </a:rPr>
                        <a:t>High</a:t>
                      </a:r>
                    </a:p>
                  </a:txBody>
                  <a:tcPr anchor="ctr"/>
                </a:tc>
              </a:tr>
              <a:tr h="365370">
                <a:tc>
                  <a:txBody>
                    <a:bodyPr/>
                    <a:lstStyle/>
                    <a:p>
                      <a:pPr algn="ctr"/>
                      <a:r>
                        <a:rPr lang="en-US" dirty="0" smtClean="0">
                          <a:latin typeface="Times New Roman" pitchFamily="18" charset="0"/>
                          <a:cs typeface="Times New Roman" pitchFamily="18" charset="0"/>
                        </a:rPr>
                        <a:t>17.</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Impedance </a:t>
                      </a:r>
                    </a:p>
                  </a:txBody>
                  <a:tcPr anchor="ctr"/>
                </a:tc>
                <a:tc>
                  <a:txBody>
                    <a:bodyPr/>
                    <a:lstStyle/>
                    <a:p>
                      <a:r>
                        <a:rPr lang="en-US">
                          <a:latin typeface="Times New Roman" pitchFamily="18" charset="0"/>
                          <a:cs typeface="Times New Roman" pitchFamily="18" charset="0"/>
                        </a:rPr>
                        <a:t>Less</a:t>
                      </a:r>
                    </a:p>
                  </a:txBody>
                  <a:tcPr anchor="ctr"/>
                </a:tc>
                <a:tc>
                  <a:txBody>
                    <a:bodyPr/>
                    <a:lstStyle/>
                    <a:p>
                      <a:r>
                        <a:rPr lang="en-US" dirty="0">
                          <a:latin typeface="Times New Roman" pitchFamily="18" charset="0"/>
                          <a:cs typeface="Times New Roman" pitchFamily="18" charset="0"/>
                        </a:rPr>
                        <a:t>High</a:t>
                      </a:r>
                    </a:p>
                  </a:txBody>
                  <a:tcPr anchor="ctr"/>
                </a:tc>
              </a:tr>
              <a:tr h="365370">
                <a:tc>
                  <a:txBody>
                    <a:bodyPr/>
                    <a:lstStyle/>
                    <a:p>
                      <a:pPr algn="ctr"/>
                      <a:r>
                        <a:rPr lang="en-US" dirty="0" smtClean="0">
                          <a:latin typeface="Times New Roman" pitchFamily="18" charset="0"/>
                          <a:cs typeface="Times New Roman" pitchFamily="18" charset="0"/>
                        </a:rPr>
                        <a:t>18.</a:t>
                      </a:r>
                      <a:endParaRPr lang="en-US" dirty="0">
                        <a:latin typeface="Times New Roman" pitchFamily="18" charset="0"/>
                        <a:cs typeface="Times New Roman" pitchFamily="18" charset="0"/>
                      </a:endParaRPr>
                    </a:p>
                  </a:txBody>
                  <a:tcPr/>
                </a:tc>
                <a:tc>
                  <a:txBody>
                    <a:bodyPr/>
                    <a:lstStyle/>
                    <a:p>
                      <a:r>
                        <a:rPr lang="en-US">
                          <a:latin typeface="Times New Roman" pitchFamily="18" charset="0"/>
                          <a:cs typeface="Times New Roman" pitchFamily="18" charset="0"/>
                        </a:rPr>
                        <a:t>Cost </a:t>
                      </a:r>
                    </a:p>
                  </a:txBody>
                  <a:tcPr anchor="ctr"/>
                </a:tc>
                <a:tc>
                  <a:txBody>
                    <a:bodyPr/>
                    <a:lstStyle/>
                    <a:p>
                      <a:r>
                        <a:rPr lang="en-US">
                          <a:latin typeface="Times New Roman" pitchFamily="18" charset="0"/>
                          <a:cs typeface="Times New Roman" pitchFamily="18" charset="0"/>
                        </a:rPr>
                        <a:t>Cheap</a:t>
                      </a:r>
                    </a:p>
                  </a:txBody>
                  <a:tcPr anchor="ctr"/>
                </a:tc>
                <a:tc>
                  <a:txBody>
                    <a:bodyPr/>
                    <a:lstStyle/>
                    <a:p>
                      <a:r>
                        <a:rPr lang="en-US" dirty="0">
                          <a:latin typeface="Times New Roman" pitchFamily="18" charset="0"/>
                          <a:cs typeface="Times New Roman" pitchFamily="18" charset="0"/>
                        </a:rPr>
                        <a:t>Very costly</a:t>
                      </a:r>
                    </a:p>
                  </a:txBody>
                  <a:tcPr anchor="ctr"/>
                </a:tc>
              </a:tr>
              <a:tr h="365370">
                <a:tc>
                  <a:txBody>
                    <a:bodyPr/>
                    <a:lstStyle/>
                    <a:p>
                      <a:pPr algn="ctr"/>
                      <a:r>
                        <a:rPr lang="en-US" dirty="0" smtClean="0">
                          <a:latin typeface="Times New Roman" pitchFamily="18" charset="0"/>
                          <a:cs typeface="Times New Roman" pitchFamily="18" charset="0"/>
                        </a:rPr>
                        <a:t>19.</a:t>
                      </a:r>
                      <a:endParaRPr lang="en-US" dirty="0">
                        <a:latin typeface="Times New Roman" pitchFamily="18" charset="0"/>
                        <a:cs typeface="Times New Roman" pitchFamily="18" charset="0"/>
                      </a:endParaRPr>
                    </a:p>
                  </a:txBody>
                  <a:tcPr/>
                </a:tc>
                <a:tc>
                  <a:txBody>
                    <a:bodyPr/>
                    <a:lstStyle/>
                    <a:p>
                      <a:r>
                        <a:rPr lang="en-US">
                          <a:latin typeface="Times New Roman" pitchFamily="18" charset="0"/>
                          <a:cs typeface="Times New Roman" pitchFamily="18" charset="0"/>
                        </a:rPr>
                        <a:t>Losses </a:t>
                      </a:r>
                    </a:p>
                  </a:txBody>
                  <a:tcPr anchor="ctr"/>
                </a:tc>
                <a:tc>
                  <a:txBody>
                    <a:bodyPr/>
                    <a:lstStyle/>
                    <a:p>
                      <a:r>
                        <a:rPr lang="en-US">
                          <a:latin typeface="Times New Roman" pitchFamily="18" charset="0"/>
                          <a:cs typeface="Times New Roman" pitchFamily="18" charset="0"/>
                        </a:rPr>
                        <a:t>Low </a:t>
                      </a:r>
                    </a:p>
                  </a:txBody>
                  <a:tcPr anchor="ctr"/>
                </a:tc>
                <a:tc>
                  <a:txBody>
                    <a:bodyPr/>
                    <a:lstStyle/>
                    <a:p>
                      <a:r>
                        <a:rPr lang="en-US" dirty="0">
                          <a:latin typeface="Times New Roman" pitchFamily="18" charset="0"/>
                          <a:cs typeface="Times New Roman" pitchFamily="18" charset="0"/>
                        </a:rPr>
                        <a:t>High</a:t>
                      </a:r>
                    </a:p>
                  </a:txBody>
                  <a:tcPr anchor="ctr"/>
                </a:tc>
              </a:tr>
              <a:tr h="365370">
                <a:tc>
                  <a:txBody>
                    <a:bodyPr/>
                    <a:lstStyle/>
                    <a:p>
                      <a:pPr algn="ctr"/>
                      <a:r>
                        <a:rPr lang="en-US" dirty="0" smtClean="0">
                          <a:latin typeface="Times New Roman" pitchFamily="18" charset="0"/>
                          <a:cs typeface="Times New Roman" pitchFamily="18" charset="0"/>
                        </a:rPr>
                        <a:t>20.</a:t>
                      </a:r>
                      <a:endParaRPr lang="en-US" dirty="0">
                        <a:latin typeface="Times New Roman" pitchFamily="18" charset="0"/>
                        <a:cs typeface="Times New Roman" pitchFamily="18" charset="0"/>
                      </a:endParaRPr>
                    </a:p>
                  </a:txBody>
                  <a:tcPr/>
                </a:tc>
                <a:tc>
                  <a:txBody>
                    <a:bodyPr/>
                    <a:lstStyle/>
                    <a:p>
                      <a:r>
                        <a:rPr lang="en-US">
                          <a:latin typeface="Times New Roman" pitchFamily="18" charset="0"/>
                          <a:cs typeface="Times New Roman" pitchFamily="18" charset="0"/>
                        </a:rPr>
                        <a:t>Output voltage </a:t>
                      </a:r>
                    </a:p>
                  </a:txBody>
                  <a:tcPr anchor="ctr"/>
                </a:tc>
                <a:tc>
                  <a:txBody>
                    <a:bodyPr/>
                    <a:lstStyle/>
                    <a:p>
                      <a:r>
                        <a:rPr lang="en-US">
                          <a:latin typeface="Times New Roman" pitchFamily="18" charset="0"/>
                          <a:cs typeface="Times New Roman" pitchFamily="18" charset="0"/>
                        </a:rPr>
                        <a:t>Variable </a:t>
                      </a:r>
                    </a:p>
                  </a:txBody>
                  <a:tcPr anchor="ctr"/>
                </a:tc>
                <a:tc>
                  <a:txBody>
                    <a:bodyPr/>
                    <a:lstStyle/>
                    <a:p>
                      <a:r>
                        <a:rPr lang="en-US" dirty="0">
                          <a:latin typeface="Times New Roman" pitchFamily="18" charset="0"/>
                          <a:cs typeface="Times New Roman" pitchFamily="18" charset="0"/>
                        </a:rPr>
                        <a:t>Constant.</a:t>
                      </a:r>
                    </a:p>
                  </a:txBody>
                  <a:tcPr anchor="ctr"/>
                </a:tc>
              </a:tr>
              <a:tr h="1171187">
                <a:tc>
                  <a:txBody>
                    <a:bodyPr/>
                    <a:lstStyle/>
                    <a:p>
                      <a:pPr algn="ctr"/>
                      <a:r>
                        <a:rPr lang="en-US" dirty="0" smtClean="0">
                          <a:latin typeface="Times New Roman" pitchFamily="18" charset="0"/>
                          <a:cs typeface="Times New Roman" pitchFamily="18" charset="0"/>
                        </a:rPr>
                        <a:t>21.</a:t>
                      </a:r>
                      <a:endParaRPr lang="en-US" dirty="0">
                        <a:latin typeface="Times New Roman" pitchFamily="18" charset="0"/>
                        <a:cs typeface="Times New Roman" pitchFamily="18" charset="0"/>
                      </a:endParaRPr>
                    </a:p>
                  </a:txBody>
                  <a:tcPr/>
                </a:tc>
                <a:tc>
                  <a:txBody>
                    <a:bodyPr/>
                    <a:lstStyle/>
                    <a:p>
                      <a:r>
                        <a:rPr lang="en-US" dirty="0">
                          <a:latin typeface="Times New Roman" pitchFamily="18" charset="0"/>
                          <a:cs typeface="Times New Roman" pitchFamily="18" charset="0"/>
                        </a:rPr>
                        <a:t>Applications </a:t>
                      </a:r>
                    </a:p>
                  </a:txBody>
                  <a:tcPr anchor="ctr"/>
                </a:tc>
                <a:tc>
                  <a:txBody>
                    <a:bodyPr/>
                    <a:lstStyle/>
                    <a:p>
                      <a:r>
                        <a:rPr lang="en-US">
                          <a:latin typeface="Times New Roman" pitchFamily="18" charset="0"/>
                          <a:cs typeface="Times New Roman" pitchFamily="18" charset="0"/>
                        </a:rPr>
                        <a:t>Use as a starter in an induction motor, as a voltage regulator, in railways, in a laboratory.</a:t>
                      </a:r>
                    </a:p>
                  </a:txBody>
                  <a:tcPr anchor="ctr"/>
                </a:tc>
                <a:tc>
                  <a:txBody>
                    <a:bodyPr/>
                    <a:lstStyle/>
                    <a:p>
                      <a:r>
                        <a:rPr lang="en-US" dirty="0">
                          <a:latin typeface="Times New Roman" pitchFamily="18" charset="0"/>
                          <a:cs typeface="Times New Roman" pitchFamily="18" charset="0"/>
                        </a:rPr>
                        <a:t>Use in power system for step up and step down the voltage.</a:t>
                      </a:r>
                    </a:p>
                  </a:txBody>
                  <a:tcPr anchor="ct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Three Phase Transformer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The electric power is generally generated in the form of three phase voltage. The distribution of the electric power also is three phase.</a:t>
            </a:r>
          </a:p>
          <a:p>
            <a:r>
              <a:rPr lang="en-US" sz="2400" dirty="0" smtClean="0">
                <a:latin typeface="Times New Roman" pitchFamily="18" charset="0"/>
                <a:cs typeface="Times New Roman" pitchFamily="18" charset="0"/>
              </a:rPr>
              <a:t>The voltage generation takes place at very high level typically at 13.2kV or 22 kV or even higher. The transmission of electricity takes place at voltage level such as 110kV, 132kV.</a:t>
            </a:r>
          </a:p>
          <a:p>
            <a:r>
              <a:rPr lang="en-US" sz="2400" dirty="0" smtClean="0">
                <a:latin typeface="Times New Roman" pitchFamily="18" charset="0"/>
                <a:cs typeface="Times New Roman" pitchFamily="18" charset="0"/>
              </a:rPr>
              <a:t>So it is necessary to use the step up transformer to raise the voltage levels from 13.2kV to 132 kV etc. The three phase transformer are used for the same.</a:t>
            </a:r>
          </a:p>
          <a:p>
            <a:r>
              <a:rPr lang="en-US" sz="2400" dirty="0" smtClean="0">
                <a:latin typeface="Times New Roman" pitchFamily="18" charset="0"/>
                <a:cs typeface="Times New Roman" pitchFamily="18" charset="0"/>
              </a:rPr>
              <a:t>Such high voltages can not be used by the domestic or industrial users. So the voltage should be stepped down. Three phase step down transformer are used as distribution transformer.   </a:t>
            </a:r>
            <a:endParaRPr lang="en-US" sz="2400" dirty="0">
              <a:latin typeface="Times New Roman" pitchFamily="18" charset="0"/>
              <a:cs typeface="Times New Roman"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lnSpcReduction="10000"/>
          </a:bodyPr>
          <a:lstStyle/>
          <a:p>
            <a:r>
              <a:rPr lang="en-US" b="1" dirty="0" smtClean="0">
                <a:latin typeface="Times New Roman" pitchFamily="18" charset="0"/>
                <a:cs typeface="Times New Roman" pitchFamily="18" charset="0"/>
              </a:rPr>
              <a:t>Construction of three phase transformer:</a:t>
            </a:r>
          </a:p>
          <a:p>
            <a:pPr>
              <a:buFont typeface="Wingdings" pitchFamily="2" charset="2"/>
              <a:buChar char="Ø"/>
            </a:pPr>
            <a:r>
              <a:rPr lang="en-US" dirty="0" smtClean="0">
                <a:latin typeface="Times New Roman" pitchFamily="18" charset="0"/>
                <a:cs typeface="Times New Roman" pitchFamily="18" charset="0"/>
              </a:rPr>
              <a:t>The three phase transformer were constructed by combining three single phase transformer as shown in fig.(1).</a:t>
            </a:r>
          </a:p>
          <a:p>
            <a:pPr>
              <a:buFont typeface="Wingdings" pitchFamily="2" charset="2"/>
              <a:buChar char="Ø"/>
            </a:pPr>
            <a:r>
              <a:rPr lang="en-US" dirty="0" smtClean="0">
                <a:latin typeface="Times New Roman" pitchFamily="18" charset="0"/>
                <a:cs typeface="Times New Roman" pitchFamily="18" charset="0"/>
              </a:rPr>
              <a:t>The three single phase transformer are connected such that the three primary windings are connected in delta or star.</a:t>
            </a:r>
          </a:p>
          <a:p>
            <a:pPr>
              <a:buFont typeface="Wingdings" pitchFamily="2" charset="2"/>
              <a:buChar char="Ø"/>
            </a:pPr>
            <a:r>
              <a:rPr lang="en-US" dirty="0" smtClean="0">
                <a:latin typeface="Times New Roman" pitchFamily="18" charset="0"/>
                <a:cs typeface="Times New Roman" pitchFamily="18" charset="0"/>
              </a:rPr>
              <a:t>This type of construction is called as the bank of the transformer.</a:t>
            </a:r>
          </a:p>
          <a:p>
            <a:pPr>
              <a:buNone/>
            </a:pP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sz="2800" dirty="0" smtClean="0">
                <a:latin typeface="Times New Roman" pitchFamily="18" charset="0"/>
                <a:cs typeface="Times New Roman" pitchFamily="18" charset="0"/>
              </a:rPr>
              <a:t>Similarly, the secondary windings are connected in star or delta as shown in fig.(1). </a:t>
            </a:r>
          </a:p>
          <a:p>
            <a:pPr>
              <a:buFont typeface="Wingdings" pitchFamily="2" charset="2"/>
              <a:buChar char="Ø"/>
            </a:pPr>
            <a:r>
              <a:rPr lang="en-US" sz="2800" dirty="0" smtClean="0">
                <a:latin typeface="Times New Roman" pitchFamily="18" charset="0"/>
                <a:cs typeface="Times New Roman" pitchFamily="18" charset="0"/>
              </a:rPr>
              <a:t>But such construction proves to be costly and makes the transformer bulky. Therefore, specially made three phase transformer are being used now a days.</a:t>
            </a:r>
          </a:p>
          <a:p>
            <a:pPr>
              <a:buNone/>
            </a:pP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3 ph trans.gif"/>
          <p:cNvPicPr>
            <a:picLocks noGrp="1" noChangeAspect="1"/>
          </p:cNvPicPr>
          <p:nvPr>
            <p:ph idx="1"/>
          </p:nvPr>
        </p:nvPicPr>
        <p:blipFill>
          <a:blip r:embed="rId2" cstate="print"/>
          <a:stretch>
            <a:fillRect/>
          </a:stretch>
        </p:blipFill>
        <p:spPr>
          <a:xfrm>
            <a:off x="1371600" y="1676400"/>
            <a:ext cx="6400799" cy="4648200"/>
          </a:xfrm>
          <a:prstGeom prst="rect">
            <a:avLst/>
          </a:prstGeom>
        </p:spPr>
      </p:pic>
      <p:sp>
        <p:nvSpPr>
          <p:cNvPr id="5" name="TextBox 4"/>
          <p:cNvSpPr txBox="1"/>
          <p:nvPr/>
        </p:nvSpPr>
        <p:spPr>
          <a:xfrm>
            <a:off x="1447800" y="6324600"/>
            <a:ext cx="5562600" cy="369332"/>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Fig.(1)construction of three phase transformer</a:t>
            </a:r>
            <a:endParaRPr lang="en-US" b="1" dirty="0">
              <a:latin typeface="Times New Roman" pitchFamily="18" charset="0"/>
              <a:cs typeface="Times New Roman"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latin typeface="Times New Roman" pitchFamily="18" charset="0"/>
                <a:cs typeface="Times New Roman" pitchFamily="18" charset="0"/>
              </a:rPr>
              <a:t>Advantages:</a:t>
            </a:r>
          </a:p>
          <a:p>
            <a:pPr>
              <a:buFont typeface="Wingdings" pitchFamily="2" charset="2"/>
              <a:buChar char="Ø"/>
            </a:pPr>
            <a:r>
              <a:rPr lang="en-US" dirty="0" smtClean="0">
                <a:latin typeface="Times New Roman" pitchFamily="18" charset="0"/>
                <a:cs typeface="Times New Roman" pitchFamily="18" charset="0"/>
              </a:rPr>
              <a:t>The advantages of using bank of single phase transformer are as follows:</a:t>
            </a:r>
          </a:p>
          <a:p>
            <a:pPr marL="514350" indent="-514350">
              <a:buFont typeface="+mj-lt"/>
              <a:buAutoNum type="arabicPeriod"/>
            </a:pPr>
            <a:r>
              <a:rPr lang="en-US" dirty="0" smtClean="0">
                <a:latin typeface="Times New Roman" pitchFamily="18" charset="0"/>
                <a:cs typeface="Times New Roman" pitchFamily="18" charset="0"/>
              </a:rPr>
              <a:t>Reliability is equally good as that of a 3 phase single unit transformer.</a:t>
            </a:r>
          </a:p>
          <a:p>
            <a:pPr marL="514350" indent="-514350">
              <a:buFont typeface="+mj-lt"/>
              <a:buAutoNum type="arabicPeriod"/>
            </a:pPr>
            <a:r>
              <a:rPr lang="en-US" dirty="0" smtClean="0">
                <a:latin typeface="Times New Roman" pitchFamily="18" charset="0"/>
                <a:cs typeface="Times New Roman" pitchFamily="18" charset="0"/>
              </a:rPr>
              <a:t>It is cheaper to carry spare stock of a sign phase transformer.</a:t>
            </a:r>
          </a:p>
          <a:p>
            <a:pPr marL="514350" indent="-514350">
              <a:buFont typeface="+mj-lt"/>
              <a:buAutoNum type="arabicPeriod"/>
            </a:pPr>
            <a:r>
              <a:rPr lang="en-US" dirty="0" smtClean="0">
                <a:latin typeface="Times New Roman" pitchFamily="18" charset="0"/>
                <a:cs typeface="Times New Roman" pitchFamily="18" charset="0"/>
              </a:rPr>
              <a:t>In the underground (mine) applications, the bank is preferred due to case of transport.</a:t>
            </a:r>
          </a:p>
          <a:p>
            <a:pPr marL="514350" indent="-514350">
              <a:buFont typeface="+mj-lt"/>
              <a:buAutoNum type="arabicPeriod"/>
            </a:pPr>
            <a:r>
              <a:rPr lang="en-US" dirty="0" smtClean="0">
                <a:latin typeface="Times New Roman" pitchFamily="18" charset="0"/>
                <a:cs typeface="Times New Roman" pitchFamily="18" charset="0"/>
              </a:rPr>
              <a:t>The bank also gives an advantages of derated open delta operation if one unit out of three become inoperative.</a:t>
            </a:r>
            <a:endParaRPr lang="en-US" dirty="0">
              <a:latin typeface="Times New Roman" pitchFamily="18" charset="0"/>
              <a:cs typeface="Times New Roman"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r>
              <a:rPr lang="en-US" b="1" dirty="0" smtClean="0">
                <a:latin typeface="Times New Roman" pitchFamily="18" charset="0"/>
                <a:cs typeface="Times New Roman" pitchFamily="18" charset="0"/>
              </a:rPr>
              <a:t>Disadvantages:</a:t>
            </a:r>
          </a:p>
          <a:p>
            <a:pPr marL="514350" indent="-514350">
              <a:buFont typeface="+mj-lt"/>
              <a:buAutoNum type="arabicPeriod"/>
            </a:pPr>
            <a:r>
              <a:rPr lang="en-US" dirty="0" smtClean="0">
                <a:latin typeface="Times New Roman" pitchFamily="18" charset="0"/>
                <a:cs typeface="Times New Roman" pitchFamily="18" charset="0"/>
              </a:rPr>
              <a:t>The bank of transformers cost more.</a:t>
            </a:r>
          </a:p>
          <a:p>
            <a:pPr marL="514350" indent="-514350">
              <a:buFont typeface="+mj-lt"/>
              <a:buAutoNum type="arabicPeriod"/>
            </a:pPr>
            <a:r>
              <a:rPr lang="en-US" dirty="0" smtClean="0">
                <a:latin typeface="Times New Roman" pitchFamily="18" charset="0"/>
                <a:cs typeface="Times New Roman" pitchFamily="18" charset="0"/>
              </a:rPr>
              <a:t>It occupies more space.</a:t>
            </a:r>
          </a:p>
          <a:p>
            <a:pPr marL="514350" indent="-514350">
              <a:buFont typeface="+mj-lt"/>
              <a:buAutoNum type="arabicPeriod"/>
            </a:pPr>
            <a:r>
              <a:rPr lang="en-US" dirty="0" smtClean="0">
                <a:latin typeface="Times New Roman" pitchFamily="18" charset="0"/>
                <a:cs typeface="Times New Roman" pitchFamily="18" charset="0"/>
              </a:rPr>
              <a:t>The three phases are electrically connected but the three magnetic circuits are independent</a:t>
            </a:r>
            <a:r>
              <a:rPr lang="en-US" dirty="0" smtClean="0"/>
              <a:t>.</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r>
              <a:rPr lang="en-US" b="1" dirty="0" smtClean="0">
                <a:latin typeface="Times New Roman" pitchFamily="18" charset="0"/>
                <a:cs typeface="Times New Roman" pitchFamily="18" charset="0"/>
              </a:rPr>
              <a:t>Types of three phase transformer:</a:t>
            </a:r>
          </a:p>
          <a:p>
            <a:pPr>
              <a:buFont typeface="Wingdings" pitchFamily="2" charset="2"/>
              <a:buChar char="Ø"/>
            </a:pPr>
            <a:r>
              <a:rPr lang="en-US" dirty="0" smtClean="0">
                <a:latin typeface="Times New Roman" pitchFamily="18" charset="0"/>
                <a:cs typeface="Times New Roman" pitchFamily="18" charset="0"/>
              </a:rPr>
              <a:t>The three phase transformers are of two types:</a:t>
            </a:r>
          </a:p>
          <a:p>
            <a:pPr marL="514350" indent="-514350">
              <a:buFont typeface="+mj-lt"/>
              <a:buAutoNum type="arabicPeriod"/>
            </a:pPr>
            <a:r>
              <a:rPr lang="en-US" dirty="0" smtClean="0">
                <a:latin typeface="Times New Roman" pitchFamily="18" charset="0"/>
                <a:cs typeface="Times New Roman" pitchFamily="18" charset="0"/>
              </a:rPr>
              <a:t>Core type </a:t>
            </a:r>
          </a:p>
          <a:p>
            <a:pPr marL="514350" indent="-514350">
              <a:buFont typeface="+mj-lt"/>
              <a:buAutoNum type="arabicPeriod"/>
            </a:pPr>
            <a:r>
              <a:rPr lang="en-US" dirty="0" smtClean="0">
                <a:latin typeface="Times New Roman" pitchFamily="18" charset="0"/>
                <a:cs typeface="Times New Roman" pitchFamily="18" charset="0"/>
              </a:rPr>
              <a:t>Shell type</a:t>
            </a:r>
            <a:endParaRPr lang="en-US" dirty="0">
              <a:latin typeface="Times New Roman" pitchFamily="18" charset="0"/>
              <a:cs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pPr marL="514350" indent="-514350">
              <a:buAutoNum type="arabicPeriod"/>
            </a:pPr>
            <a:r>
              <a:rPr lang="en-US" b="1" dirty="0" smtClean="0">
                <a:latin typeface="Times New Roman" pitchFamily="18" charset="0"/>
                <a:cs typeface="Times New Roman" pitchFamily="18" charset="0"/>
              </a:rPr>
              <a:t>Core type transformer:</a:t>
            </a:r>
          </a:p>
          <a:p>
            <a:pPr marL="514350" indent="-514350"/>
            <a:r>
              <a:rPr lang="en-US" dirty="0" smtClean="0">
                <a:latin typeface="Times New Roman" pitchFamily="18" charset="0"/>
                <a:cs typeface="Times New Roman" pitchFamily="18" charset="0"/>
              </a:rPr>
              <a:t>Fig. (2) shows the construction of core type transformer.</a:t>
            </a:r>
          </a:p>
          <a:p>
            <a:pPr marL="514350" indent="-514350"/>
            <a:r>
              <a:rPr lang="en-US" dirty="0" smtClean="0">
                <a:latin typeface="Times New Roman" pitchFamily="18" charset="0"/>
                <a:cs typeface="Times New Roman" pitchFamily="18" charset="0"/>
              </a:rPr>
              <a:t>The core of this transformer consists of three limbs. The primary and secondary windings of the three phases are wound on these limbs.</a:t>
            </a:r>
            <a:endParaRPr lang="en-US" dirty="0">
              <a:latin typeface="Times New Roman" pitchFamily="18" charset="0"/>
              <a:cs typeface="Times New Roman"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5" name="TextBox 4"/>
          <p:cNvSpPr txBox="1"/>
          <p:nvPr/>
        </p:nvSpPr>
        <p:spPr>
          <a:xfrm>
            <a:off x="838200" y="5562600"/>
            <a:ext cx="6248400" cy="381000"/>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Fig.(2): construction of core type three phase transformer</a:t>
            </a:r>
            <a:endParaRPr lang="en-US" b="1" dirty="0">
              <a:latin typeface="Times New Roman" pitchFamily="18" charset="0"/>
              <a:cs typeface="Times New Roman" pitchFamily="18" charset="0"/>
            </a:endParaRPr>
          </a:p>
        </p:txBody>
      </p:sp>
      <p:pic>
        <p:nvPicPr>
          <p:cNvPr id="7" name="Content Placeholder 6" descr="3ph core trans.png"/>
          <p:cNvPicPr>
            <a:picLocks noGrp="1" noChangeAspect="1"/>
          </p:cNvPicPr>
          <p:nvPr>
            <p:ph idx="1"/>
          </p:nvPr>
        </p:nvPicPr>
        <p:blipFill>
          <a:blip r:embed="rId2" cstate="print"/>
          <a:stretch>
            <a:fillRect/>
          </a:stretch>
        </p:blipFill>
        <p:spPr>
          <a:xfrm>
            <a:off x="533400" y="1981200"/>
            <a:ext cx="7315200" cy="3657600"/>
          </a:xfr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pPr>
              <a:buNone/>
            </a:pPr>
            <a:r>
              <a:rPr lang="en-US" b="1" dirty="0" smtClean="0">
                <a:latin typeface="Times New Roman" pitchFamily="18" charset="0"/>
                <a:cs typeface="Times New Roman" pitchFamily="18" charset="0"/>
              </a:rPr>
              <a:t>2. Shell type transformer:</a:t>
            </a:r>
          </a:p>
          <a:p>
            <a:r>
              <a:rPr lang="en-US" dirty="0" smtClean="0">
                <a:latin typeface="Times New Roman" pitchFamily="18" charset="0"/>
                <a:cs typeface="Times New Roman" pitchFamily="18" charset="0"/>
              </a:rPr>
              <a:t>The construction of shell type transformer is as shown in fig.(3).</a:t>
            </a:r>
          </a:p>
          <a:p>
            <a:r>
              <a:rPr lang="en-US" dirty="0" smtClean="0">
                <a:latin typeface="Times New Roman" pitchFamily="18" charset="0"/>
                <a:cs typeface="Times New Roman" pitchFamily="18" charset="0"/>
              </a:rPr>
              <a:t>The construction of three phase shell type transformer is similar to that of a single phase shell type transformer.</a:t>
            </a:r>
            <a:endParaRPr lang="en-US" dirty="0">
              <a:latin typeface="Times New Roman" pitchFamily="18" charset="0"/>
              <a:cs typeface="Times New Roman"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pic>
        <p:nvPicPr>
          <p:cNvPr id="4" name="Content Placeholder 3" descr="3ph shell trans.png"/>
          <p:cNvPicPr>
            <a:picLocks noGrp="1" noChangeAspect="1"/>
          </p:cNvPicPr>
          <p:nvPr>
            <p:ph idx="1"/>
          </p:nvPr>
        </p:nvPicPr>
        <p:blipFill>
          <a:blip r:embed="rId2" cstate="print"/>
          <a:stretch>
            <a:fillRect/>
          </a:stretch>
        </p:blipFill>
        <p:spPr>
          <a:xfrm>
            <a:off x="1143000" y="1828800"/>
            <a:ext cx="6934200" cy="2971800"/>
          </a:xfrm>
        </p:spPr>
      </p:pic>
      <p:sp>
        <p:nvSpPr>
          <p:cNvPr id="5" name="TextBox 4"/>
          <p:cNvSpPr txBox="1"/>
          <p:nvPr/>
        </p:nvSpPr>
        <p:spPr>
          <a:xfrm>
            <a:off x="1371600" y="4876800"/>
            <a:ext cx="6248400" cy="369332"/>
          </a:xfrm>
          <a:prstGeom prst="rect">
            <a:avLst/>
          </a:prstGeom>
          <a:noFill/>
        </p:spPr>
        <p:txBody>
          <a:bodyPr wrap="square" rtlCol="0">
            <a:spAutoFit/>
          </a:bodyPr>
          <a:lstStyle/>
          <a:p>
            <a:pPr algn="ctr"/>
            <a:r>
              <a:rPr lang="en-US" b="1" dirty="0" smtClean="0">
                <a:latin typeface="Times New Roman" pitchFamily="18" charset="0"/>
                <a:cs typeface="Times New Roman" pitchFamily="18" charset="0"/>
              </a:rPr>
              <a:t>Fig.(2): construction of shell type three phase transformer</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latin typeface="Times New Roman" pitchFamily="18" charset="0"/>
                <a:cs typeface="Times New Roman" pitchFamily="18" charset="0"/>
              </a:rPr>
              <a:t>Three phase transformer connection:</a:t>
            </a:r>
          </a:p>
          <a:p>
            <a:pPr>
              <a:buFont typeface="Wingdings" pitchFamily="2" charset="2"/>
              <a:buChar char="Ø"/>
            </a:pPr>
            <a:r>
              <a:rPr lang="en-US" dirty="0" smtClean="0">
                <a:latin typeface="Times New Roman" pitchFamily="18" charset="0"/>
                <a:cs typeface="Times New Roman" pitchFamily="18" charset="0"/>
              </a:rPr>
              <a:t>There are several methods of connecting primaries and secondaries of three phase transformer. They are:</a:t>
            </a:r>
          </a:p>
          <a:p>
            <a:pPr marL="514350" indent="-514350">
              <a:buFont typeface="+mj-lt"/>
              <a:buAutoNum type="arabicPeriod"/>
            </a:pPr>
            <a:r>
              <a:rPr lang="en-US" dirty="0" smtClean="0">
                <a:latin typeface="Times New Roman" pitchFamily="18" charset="0"/>
                <a:cs typeface="Times New Roman" pitchFamily="18" charset="0"/>
              </a:rPr>
              <a:t>Star-star connection</a:t>
            </a:r>
          </a:p>
          <a:p>
            <a:pPr marL="514350" indent="-514350">
              <a:buFont typeface="+mj-lt"/>
              <a:buAutoNum type="arabicPeriod"/>
            </a:pPr>
            <a:r>
              <a:rPr lang="en-US" dirty="0" smtClean="0">
                <a:latin typeface="Times New Roman" pitchFamily="18" charset="0"/>
                <a:cs typeface="Times New Roman" pitchFamily="18" charset="0"/>
              </a:rPr>
              <a:t>Delta-delta connection</a:t>
            </a:r>
          </a:p>
          <a:p>
            <a:pPr marL="514350" indent="-514350">
              <a:buFont typeface="+mj-lt"/>
              <a:buAutoNum type="arabicPeriod"/>
            </a:pPr>
            <a:r>
              <a:rPr lang="en-US" dirty="0" smtClean="0">
                <a:latin typeface="Times New Roman" pitchFamily="18" charset="0"/>
                <a:cs typeface="Times New Roman" pitchFamily="18" charset="0"/>
              </a:rPr>
              <a:t>Star-delta connection</a:t>
            </a:r>
          </a:p>
          <a:p>
            <a:pPr marL="514350" indent="-514350">
              <a:buFont typeface="+mj-lt"/>
              <a:buAutoNum type="arabicPeriod"/>
            </a:pPr>
            <a:r>
              <a:rPr lang="en-US" dirty="0" smtClean="0">
                <a:latin typeface="Times New Roman" pitchFamily="18" charset="0"/>
                <a:cs typeface="Times New Roman" pitchFamily="18" charset="0"/>
              </a:rPr>
              <a:t>Delta-star connection</a:t>
            </a:r>
          </a:p>
          <a:p>
            <a:pPr marL="514350" indent="-514350">
              <a:buFont typeface="+mj-lt"/>
              <a:buAutoNum type="arabicPeriod"/>
            </a:pPr>
            <a:r>
              <a:rPr lang="en-US" dirty="0" smtClean="0">
                <a:latin typeface="Times New Roman" pitchFamily="18" charset="0"/>
                <a:cs typeface="Times New Roman" pitchFamily="18" charset="0"/>
              </a:rPr>
              <a:t>Vee-Vee or open delta</a:t>
            </a:r>
          </a:p>
          <a:p>
            <a:pPr marL="514350" indent="-514350">
              <a:buFont typeface="+mj-lt"/>
              <a:buAutoNum type="arabicPeriod"/>
            </a:pPr>
            <a:r>
              <a:rPr lang="en-US" dirty="0" smtClean="0">
                <a:latin typeface="Times New Roman" pitchFamily="18" charset="0"/>
                <a:cs typeface="Times New Roman" pitchFamily="18" charset="0"/>
              </a:rPr>
              <a:t>Tee-Tee or Scott</a:t>
            </a:r>
            <a:endParaRPr lang="en-US" dirty="0">
              <a:latin typeface="Times New Roman" pitchFamily="18" charset="0"/>
              <a:cs typeface="Times New Roman"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smtClean="0">
                <a:latin typeface="Times New Roman" pitchFamily="18" charset="0"/>
                <a:cs typeface="Times New Roman" pitchFamily="18" charset="0"/>
              </a:rPr>
              <a:t>These connections may be step-up or step-down.</a:t>
            </a:r>
          </a:p>
          <a:p>
            <a:pPr>
              <a:buFont typeface="Wingdings" pitchFamily="2" charset="2"/>
              <a:buChar char="Ø"/>
            </a:pPr>
            <a:r>
              <a:rPr lang="en-US" dirty="0" smtClean="0">
                <a:latin typeface="Times New Roman" pitchFamily="18" charset="0"/>
                <a:cs typeface="Times New Roman" pitchFamily="18" charset="0"/>
              </a:rPr>
              <a:t>Out of these transformer the delta-star type transformer is most commonly used for the distribution applications.</a:t>
            </a:r>
            <a:endParaRPr lang="en-US" dirty="0">
              <a:latin typeface="Times New Roman" pitchFamily="18" charset="0"/>
              <a:cs typeface="Times New Roman"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Continued…</a:t>
            </a:r>
            <a:endParaRPr lang="en-US" dirty="0"/>
          </a:p>
        </p:txBody>
      </p:sp>
      <p:sp>
        <p:nvSpPr>
          <p:cNvPr id="3" name="Content Placeholder 2"/>
          <p:cNvSpPr>
            <a:spLocks noGrp="1"/>
          </p:cNvSpPr>
          <p:nvPr>
            <p:ph idx="1"/>
          </p:nvPr>
        </p:nvSpPr>
        <p:spPr/>
        <p:txBody>
          <a:bodyPr/>
          <a:lstStyle/>
          <a:p>
            <a:r>
              <a:rPr lang="en-US" dirty="0" smtClean="0"/>
              <a:t>Specifications/ratings of 3 phase transformer:</a:t>
            </a:r>
          </a:p>
          <a:p>
            <a:pPr>
              <a:buNone/>
            </a:pPr>
            <a:endParaRPr lang="en-US" dirty="0" smtClean="0"/>
          </a:p>
          <a:p>
            <a:pPr>
              <a:buNone/>
            </a:pPr>
            <a:endParaRPr lang="en-US" dirty="0"/>
          </a:p>
        </p:txBody>
      </p:sp>
      <p:graphicFrame>
        <p:nvGraphicFramePr>
          <p:cNvPr id="4" name="Table 3"/>
          <p:cNvGraphicFramePr>
            <a:graphicFrameLocks noGrp="1"/>
          </p:cNvGraphicFramePr>
          <p:nvPr/>
        </p:nvGraphicFramePr>
        <p:xfrm>
          <a:off x="1295400" y="2362200"/>
          <a:ext cx="6096000" cy="3977640"/>
        </p:xfrm>
        <a:graphic>
          <a:graphicData uri="http://schemas.openxmlformats.org/drawingml/2006/table">
            <a:tbl>
              <a:tblPr firstRow="1" bandRow="1">
                <a:tableStyleId>{5C22544A-7EE6-4342-B048-85BDC9FD1C3A}</a:tableStyleId>
              </a:tblPr>
              <a:tblGrid>
                <a:gridCol w="838200"/>
                <a:gridCol w="2971800"/>
                <a:gridCol w="2286000"/>
              </a:tblGrid>
              <a:tr h="0">
                <a:tc>
                  <a:txBody>
                    <a:bodyPr/>
                    <a:lstStyle/>
                    <a:p>
                      <a:r>
                        <a:rPr lang="en-US" b="1" dirty="0" smtClean="0">
                          <a:latin typeface="Times New Roman" pitchFamily="18" charset="0"/>
                          <a:cs typeface="Times New Roman" pitchFamily="18" charset="0"/>
                        </a:rPr>
                        <a:t>Sr. No.</a:t>
                      </a:r>
                      <a:endParaRPr lang="en-US" b="1" dirty="0">
                        <a:latin typeface="Times New Roman" pitchFamily="18" charset="0"/>
                        <a:cs typeface="Times New Roman" pitchFamily="18" charset="0"/>
                      </a:endParaRPr>
                    </a:p>
                  </a:txBody>
                  <a:tcPr/>
                </a:tc>
                <a:tc>
                  <a:txBody>
                    <a:bodyPr/>
                    <a:lstStyle/>
                    <a:p>
                      <a:r>
                        <a:rPr lang="en-US" b="1" dirty="0" smtClean="0">
                          <a:latin typeface="Times New Roman" pitchFamily="18" charset="0"/>
                          <a:cs typeface="Times New Roman" pitchFamily="18" charset="0"/>
                        </a:rPr>
                        <a:t>Specifications/Ratings</a:t>
                      </a:r>
                      <a:endParaRPr lang="en-US" b="1" dirty="0">
                        <a:latin typeface="Times New Roman" pitchFamily="18" charset="0"/>
                        <a:cs typeface="Times New Roman" pitchFamily="18" charset="0"/>
                      </a:endParaRPr>
                    </a:p>
                  </a:txBody>
                  <a:tcPr/>
                </a:tc>
                <a:tc>
                  <a:txBody>
                    <a:bodyPr/>
                    <a:lstStyle/>
                    <a:p>
                      <a:r>
                        <a:rPr lang="en-US" b="1" dirty="0" smtClean="0">
                          <a:latin typeface="Times New Roman" pitchFamily="18" charset="0"/>
                          <a:cs typeface="Times New Roman" pitchFamily="18" charset="0"/>
                        </a:rPr>
                        <a:t>Value</a:t>
                      </a:r>
                      <a:endParaRPr lang="en-US" b="1"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1.</a:t>
                      </a:r>
                      <a:endParaRPr lang="en-US" dirty="0">
                        <a:latin typeface="Times New Roman" pitchFamily="18" charset="0"/>
                        <a:cs typeface="Times New Roman" pitchFamily="18" charset="0"/>
                      </a:endParaRPr>
                    </a:p>
                  </a:txBody>
                  <a:tcPr/>
                </a:tc>
                <a:tc>
                  <a:txBody>
                    <a:bodyPr/>
                    <a:lstStyle/>
                    <a:p>
                      <a:r>
                        <a:rPr lang="en-US" dirty="0" err="1" smtClean="0">
                          <a:latin typeface="Times New Roman" pitchFamily="18" charset="0"/>
                          <a:cs typeface="Times New Roman" pitchFamily="18" charset="0"/>
                        </a:rPr>
                        <a:t>kVA</a:t>
                      </a:r>
                      <a:r>
                        <a:rPr lang="en-US" dirty="0" smtClean="0">
                          <a:latin typeface="Times New Roman" pitchFamily="18" charset="0"/>
                          <a:cs typeface="Times New Roman" pitchFamily="18" charset="0"/>
                        </a:rPr>
                        <a:t> rating</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50kVA</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Number of phases</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3</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3.</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Connection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Delta/star</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4.</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Primary voltage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415 V</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5.</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Secondary voltage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230 V</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6.</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Primary current </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70 A</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7.</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secondary current</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126 A</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8.</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Cooling</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Open</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9.</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Frequency</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50 Hz</a:t>
                      </a:r>
                      <a:endParaRPr lang="en-US" dirty="0">
                        <a:latin typeface="Times New Roman" pitchFamily="18" charset="0"/>
                        <a:cs typeface="Times New Roman" pitchFamily="18" charset="0"/>
                      </a:endParaRP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634</TotalTime>
  <Words>4248</Words>
  <Application>Microsoft Office PowerPoint</Application>
  <PresentationFormat>On-screen Show (4:3)</PresentationFormat>
  <Paragraphs>591</Paragraphs>
  <Slides>82</Slides>
  <Notes>0</Notes>
  <HiddenSlides>0</HiddenSlides>
  <MMClips>0</MMClips>
  <ScaleCrop>false</ScaleCrop>
  <HeadingPairs>
    <vt:vector size="4" baseType="variant">
      <vt:variant>
        <vt:lpstr>Theme</vt:lpstr>
      </vt:variant>
      <vt:variant>
        <vt:i4>1</vt:i4>
      </vt:variant>
      <vt:variant>
        <vt:lpstr>Slide Titles</vt:lpstr>
      </vt:variant>
      <vt:variant>
        <vt:i4>82</vt:i4>
      </vt:variant>
    </vt:vector>
  </HeadingPairs>
  <TitlesOfParts>
    <vt:vector size="83" baseType="lpstr">
      <vt:lpstr>Office Theme</vt:lpstr>
      <vt:lpstr>Slide 1</vt:lpstr>
      <vt:lpstr>Introduction</vt:lpstr>
      <vt:lpstr>Course outcome</vt:lpstr>
      <vt:lpstr>Continued….</vt:lpstr>
      <vt:lpstr>Types of Transformer</vt:lpstr>
      <vt:lpstr>Principle of Operation</vt:lpstr>
      <vt:lpstr>Continued….</vt:lpstr>
      <vt:lpstr>Continued….</vt:lpstr>
      <vt:lpstr>Construction of Transformer</vt:lpstr>
      <vt:lpstr>Continued….</vt:lpstr>
      <vt:lpstr>Continued….</vt:lpstr>
      <vt:lpstr>Continued….</vt:lpstr>
      <vt:lpstr>Continued….</vt:lpstr>
      <vt:lpstr>Types of transformer</vt:lpstr>
      <vt:lpstr>Continued….</vt:lpstr>
      <vt:lpstr>Continued….</vt:lpstr>
      <vt:lpstr>Continued….</vt:lpstr>
      <vt:lpstr>Continued….</vt:lpstr>
      <vt:lpstr>Continued….</vt:lpstr>
      <vt:lpstr>EMF equation of a transformer</vt:lpstr>
      <vt:lpstr>Continued…</vt:lpstr>
      <vt:lpstr>Continued…</vt:lpstr>
      <vt:lpstr>Continued…</vt:lpstr>
      <vt:lpstr>Continued…</vt:lpstr>
      <vt:lpstr>Continued…</vt:lpstr>
      <vt:lpstr>Voltage &amp; Current ratios of a transformer</vt:lpstr>
      <vt:lpstr>Continued…</vt:lpstr>
      <vt:lpstr>Continued…</vt:lpstr>
      <vt:lpstr>Continued…</vt:lpstr>
      <vt:lpstr>Continued…</vt:lpstr>
      <vt:lpstr>Continued…</vt:lpstr>
      <vt:lpstr>Continued…</vt:lpstr>
      <vt:lpstr>Rating of Transformer</vt:lpstr>
      <vt:lpstr>Continued…</vt:lpstr>
      <vt:lpstr>Continued…</vt:lpstr>
      <vt:lpstr>Continued…</vt:lpstr>
      <vt:lpstr>Continued…</vt:lpstr>
      <vt:lpstr>Losses in a Transformer</vt:lpstr>
      <vt:lpstr>Continued…</vt:lpstr>
      <vt:lpstr>Continued…</vt:lpstr>
      <vt:lpstr>Continued…</vt:lpstr>
      <vt:lpstr>Continued…</vt:lpstr>
      <vt:lpstr>An Ideal Transformer</vt:lpstr>
      <vt:lpstr>Continued…</vt:lpstr>
      <vt:lpstr>Efficiency &amp; Regulation</vt:lpstr>
      <vt:lpstr>Continued…</vt:lpstr>
      <vt:lpstr>Continued…</vt:lpstr>
      <vt:lpstr>Continued…</vt:lpstr>
      <vt:lpstr>Continued…</vt:lpstr>
      <vt:lpstr>Continued…</vt:lpstr>
      <vt:lpstr>Continued…</vt:lpstr>
      <vt:lpstr>Continued…</vt:lpstr>
      <vt:lpstr>Load Test</vt:lpstr>
      <vt:lpstr>Continued…</vt:lpstr>
      <vt:lpstr>Continued…</vt:lpstr>
      <vt:lpstr>Continued…</vt:lpstr>
      <vt:lpstr>Autotransformer</vt:lpstr>
      <vt:lpstr>Continued…</vt:lpstr>
      <vt:lpstr>Continued…</vt:lpstr>
      <vt:lpstr>Continued…</vt:lpstr>
      <vt:lpstr>Continued…</vt:lpstr>
      <vt:lpstr>Continued…</vt:lpstr>
      <vt:lpstr>Continued…</vt:lpstr>
      <vt:lpstr>Continued…</vt:lpstr>
      <vt:lpstr>Continued…</vt:lpstr>
      <vt:lpstr>Continued…</vt:lpstr>
      <vt:lpstr>Continued…</vt:lpstr>
      <vt:lpstr>Continued…</vt:lpstr>
      <vt:lpstr>Three Phase Transformer</vt:lpstr>
      <vt:lpstr>Continued…</vt:lpstr>
      <vt:lpstr>Continued…</vt:lpstr>
      <vt:lpstr>Slide 72</vt:lpstr>
      <vt:lpstr>Continued…</vt:lpstr>
      <vt:lpstr>Continued…</vt:lpstr>
      <vt:lpstr>Continued…</vt:lpstr>
      <vt:lpstr>Continued…</vt:lpstr>
      <vt:lpstr>Continued…</vt:lpstr>
      <vt:lpstr>Continued…</vt:lpstr>
      <vt:lpstr>Continued…</vt:lpstr>
      <vt:lpstr>Continued…</vt:lpstr>
      <vt:lpstr>Continued…</vt:lpstr>
      <vt:lpstr>Continued…</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PCP</dc:creator>
  <cp:lastModifiedBy>PCP</cp:lastModifiedBy>
  <cp:revision>87</cp:revision>
  <dcterms:created xsi:type="dcterms:W3CDTF">2006-08-16T00:00:00Z</dcterms:created>
  <dcterms:modified xsi:type="dcterms:W3CDTF">2017-02-15T09:44:26Z</dcterms:modified>
</cp:coreProperties>
</file>